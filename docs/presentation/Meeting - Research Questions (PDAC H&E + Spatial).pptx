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Lst>
  <p:sldSz cx="1625602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have organised this as a chain of questions rather than a list of results, because that is genuinely how it went. Every question here exists because of the answer to the one before it, so the order is not a filing system, it is the reasoning. I will put the question up first, then the evidence that settles it, and I will tell you plainly whenever the answer turned out to be no.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put the data in front of you before any result, because the honest answer to 'how much can you conclude' comes mostly from this slide. Twenty one sections, twelve patients. You can see the tissue variety yourself. I should also say plainly that nine further sections belong to this study but their slides were never delivered to us, and later on I will show you one specific analysis that this makes impossible rather than merely harder.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READ THIS CHART.  Two bar charts, one per cohort, and the bars are simply how many tissue sections of each type that cohort contains. Colour marks the tissue: purple primary pancreas, orange liver, blue lymph node, magenta lung, amber peritoneum, green normal pancreas. Underneath is a plain table of the differences that matter.</a:t>
            </a:r>
          </a:p>
          <a:p/>
          <a:p>
            <a:r>
              <a:t>WHAT IT MEANS.  This is the slide to come back to if you want to know what any number rests on. Left is our cohort, right is the published one, and the bars are what tissue each actually contains. I want to flag one thing against myself. Earlier in this project I described the second cohort as treatment naive, and that was wrong: five of its thirteen patients are untreated and the other eight had chemotherapy, so it is a mixed cohort much like ours. I had carried that from an early note without checking the sample sheet. It removes one advantage I had claimed for it, but not the others. It still has three metastatic destinations rather than two, eleven patients with more than one metastatic site rather than four, and it needs no image registration at all because its coordinates already sit in the delivered image's pixel space.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technical approach and I will not go deeper than this unless you want me to. Top row is training, which happens once, in research, where we have both the slide and the sequencing. Bottom row is what a hospital would actually run: a slide goes in, a map comes out, no sequencing anywhere. The box on the right is the part I would push back on if someone showed me this work. Every score is on a held-out patient, and spots inside one section are treated as one tumour rather than thousands of independent samples. Getting that second point wrong is the easiest way to produce a beautiful and completely false result here.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start with the easiest possible question, because if the answer to this one were no, nothing after it would be worth discussing.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my floor test. We have three sections of normal pancreas alongside six primary tumours, so we can hold the organ constant and vary only the presence of cancer. Note this is the fair version: same organ, same tissue type.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0.96 for the image against 0.90 for expression. So the slide is not blind, and it is actually better than the transcriptome at this particular job. Keep that number in mind, because it makes the later negative result much more interesting: the image can see cancer, it simply cannot see what we want it to see about spread.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show this so the 0.96 is not an act of faith. The architecture is simply different.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Having established the floor, we move to the real question.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design point that matters: we test liver deposits and lymph node deposits SEPARATELY. Anyone can get a good number by pooling them. The split is what makes the result interpretable.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READ THIS CHART.  Three panels. Left and middle are line charts. The horizontal axis is how much tumour I insist a measuring point contains before I use it, from every point on the left to only the purest on the right. The vertical axis is accuracy, where 0.5 is a coin flip. Solid line is the H and E image, dashed line is gene expression, and the grey band at the bottom is what the identical procedure gives on meaningless groups. Left panel is liver deposits against primary, middle is lymph node against primary. The right panel subtracts one from the other, so it is how much better the image is at liver than at lymph node.</a:t>
            </a:r>
          </a:p>
          <a:p/>
          <a:p>
            <a:r>
              <a:t>WHAT IT MEANS.  I would read the left panel and the middle panel together. Liver holds up as we strip away non-tumour tissue; lymph node collapses. The right panel is the summary: the image's advantage at liver over lymph node grows from 0.10 to 0.28 as tissue is removed, while gene expression stays flat near zero, working equally at both. A signal that only works where the surrounding organ is distinctive is a signal about the organ.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sharpest test available and it needs no extra data. It is the same logic as asking whether a bird detector trained only on sparrows recognises an eagle.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READ THIS CHART.  Four bars in two pairs. The solid bar in each pair is the model tested on the same metastatic site it was trained on. The pale bar next to it is the SAME model tested on the other site. The dashed line across the middle is chance. So the whole question the picture asks is whether the pale bar stays up near the solid one or drops to the line.</a:t>
            </a:r>
          </a:p>
          <a:p/>
          <a:p>
            <a:r>
              <a:t>WHAT IT MEANS.  This is the most important negative in the whole project and I want to be blunt about it. The 0.80 we just celebrated contains nothing that generalises. The image is combining two things it genuinely can see, this is cancer and this is liver, into something that looks like a metastasis detector and is not one. Expression transfers slightly better but also poorly, which turns out to be a finding in its own right, and it is the next question.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Q3 result in pictures. The middle row shows hepatocyte plates you could not mistake for anything else. The top and bottom rows are both just tumour.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this point I stopped trying to fix the model and started asking whether the thing I was trying to detect existed at all.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patients gave us tumour from both a liver and a lymph node deposit, so this comparison happens inside one person and patient differences cancel out entirely.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READ THIS CHART.  The left half is a diagram rather than data: one primary tumour with two arrows to the two places it spread. The right half is a single bar split in two. The whole bar is everything that changes when a tumour becomes a metastasis, across 42 measured features. The grey part is the share that is the same at both destinations, the orange part is the share that depends on where it landed. If metastasis were one fixed process the bar would be entirely grey.</a:t>
            </a:r>
          </a:p>
          <a:p/>
          <a:p>
            <a:r>
              <a:t>WHAT IT MEANS.  This reframes everything before it. I was not failing to detect metastasis; I was trying to detect something that is only half a thing. About half of becoming a metastasis is shared, and the other half depends on the destination.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tested 42 features one at a time and corrected for testing 42.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READ THIS CHART.  Left panel: each line is ONE patient measured twice, once in their liver deposit and once in their lymph node deposit. The left end of a line is the liver value, the right end the node value, so a line sloping upwards means that patient had more B cells in the node. Right panel: every section we hold, one dot each, grouped by tissue type, with the black bar marking the middle value.</a:t>
            </a:r>
          </a:p>
          <a:p/>
          <a:p>
            <a:r>
              <a:t>WHAT IT MEANS.  The left panel is the one I would look at. Four patients, each measured at both of their own sites, and every single one rises. The obvious objection is that a lymph node is a lymphoid organ, which the next slide addresses directly.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measurement, both sections, ranked by B cell content. The difference is visible.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READ THIS CHART.  Two line charts sharing a horizontal axis: how pure I insist the tumour is. The left one tracks contamination, the ordinary liver tissue still present in the liver deposits, which should fall as I get stricter. The right one tracks the finding itself, how many times more immune cells the nodal deposits hold than the liver ones, where the dashed line at one would mean no difference at all. The point is that the left line falls steeply while the right line stays flat.</a:t>
            </a:r>
          </a:p>
          <a:p/>
          <a:p>
            <a:r>
              <a:t>WHAT IT MEANS.  This is the control that decides whether the previous slide means anything.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used somebody else's published cohort from another centre. None of those patients had chemotherapy before sampling, and it covers three metastatic sites rather than two.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READ THIS CHART.  Grouped bars. Each cluster along the bottom is one immune cell type. Within a cluster there are three bars, one per destination: orange liver, magenta lung, purple peritoneum. The horizontal line through the middle represents the primary tumour, so a bar above the line means more of that cell type than the primary has and below means less. Read the pattern rather than any single bar: orange sits below the line everywhere and magenta above it everywhere.</a:t>
            </a:r>
          </a:p>
          <a:p/>
          <a:p>
            <a:r>
              <a:t>WHAT IT MEANS.  This is the picture I find most striking in the whole talk. The direction matches what is described clinically about liver metastases responding poorly to immunotherapy, and I would value your view on whether that is already established.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stronger form of argument than the previous ones, because it was derived from them and then tested, rather than observed and explained afterwards.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READ THIS CHART.  Three bars, left to right, each a harder version of the same task. First: train and test in the same organ and the same laboratory. Second: same organ, different laboratory. Third: a different organ entirely. Taller is better. The two arrows above give the percentage lost at each step. The middle bar is the control, because it changes the laboratory while holding the organ fixed.</a:t>
            </a:r>
          </a:p>
          <a:p/>
          <a:p>
            <a:r>
              <a:t>WHAT IT MEANS.  One thing I should tell you: this analysis first gave me the opposite answer, because three sections labelled whole-transcriptome were actually a targeted panel of about a thousand genes. Filtering them reversed the conclusion. The control decided the result.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Having been thorough about what fails, let me turn to what works.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earlier six-sample work concluded the slide reads tumour abundance and little else. With 21 sections we can test that properly.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READ THIS CHART.  A horizontal bar chart with two bars per row. Each row is one thing the image was asked to predict. The blue bar is how well it did. The green bar is what survives after removing everything explainable by simply knowing how much tumour is present. Longer is better, and the green bar is the one that matters, because a target that only tracks tumour amount is not a new capability.</a:t>
            </a:r>
          </a:p>
          <a:p/>
          <a:p>
            <a:r>
              <a:t>WHAT IT MEANS.  myCAF at 0.774 with 0.736 surviving the tumour-content control is the strongest positive result in the project. Clinically this matters because desmoplasia and fibroblast content relate to treatment resistance in pancreatic cancer.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numbered rings on the section are the same six spots shown below it. This is the model's reasoning made checkable.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shape the project was always meant to have, and it is now testable.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READ THIS CHART.  Left is the section with the model's prediction painted onto every measuring point, darker meaning more. The red rings mark six locations, numbered one to six from lowest prediction to highest. The middle panel plots the same section's spots as predicted against measured, with those six ringed again so they can be found. The row underneath is the real stained tissue at those six locations, in the same order. So the eye can walk from the map, to the number, to the tissue.</a:t>
            </a:r>
          </a:p>
          <a:p/>
          <a:p>
            <a:r>
              <a:t>WHAT IT MEANS.  This is the slide I would most like your opinion on, Dr Masood. The model was never shown this patient. It is given only the stained image and it places the B cells at the rim of the lymph node, which is anatomically where they belong. That is the kind of output a pathologist can check, argue with, and use, rather than a number.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one I would most like a pathologist to argue with. Tile 6 is what the model thought was most B-cell-rich, and it is a sheet of lymphocytes.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would rather show you the spread than the average.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READ THIS CHART.  A dot plot. Each dot is one whole tissue section, scored by a model that never saw that patient. Vertical position is how well the prediction matched reality in that section, with zero meaning no relationship at all. The black bar is the middle value. The SPREAD of the dots is the point of this chart, not the bar.</a:t>
            </a:r>
          </a:p>
          <a:p/>
          <a:p>
            <a:r>
              <a:t>WHAT IT MEANS.  This is the honest limit, and I would rather show it than a median. The biology is real and replicated, and the fibroblast read-out is genuinely strong on average, but per section the spread is wide. That is what 12 patients buys you. More patients is the single thing that would change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rebuilt the entire site-specificity analysis using PREDICTED values in place of measured ones, with two controls against the obvious circularity.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here. The effect shrinks and stops being significant. Panel b says why: inside tumour-rich tissue the B cell signal is weak, and most of what the slide reads is between whole sections. Panel c is the control that saves it from being circular: a model trained without a single lymph node still predicts B cell content in nodal sections at 0.59, so it is reading tissue and not just naming the organ. There is also a hard structural limit here worth stating plainly: all four patients who had BOTH a liver and a nodal deposit lost their liver slide among the nine that were never delivered, so the paired test that carried the original result cannot be run on images at all.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test I would want run on my own result before believing it. HEST-1k gives us 158 whole-transcriptome sections from many centres, including four of pancreas for the like-for-like comparison and, usefully, brain as a natural negative control.</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things make this convincing rather than merely positive. First, nothing was refitted and the target there is a marker-gene score rather than a deconvolution, so agreement across two different definitions is a harder test than agreement across one. Second, brain comes out at 0.05. A model that scored well everywhere would worry me; a model that finds no fibroblasts in the one tissue that has almost none is behaving.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practical questions rather than scientific ones, but they decide whether any of this could leave a research setting.</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Panel b is the one I would put in front of a pathologist. From slides alone, the model ranks primary tumour above both metastatic sites and puts normal pancreas at zero. That matches what is known: pancreatic primaries are densely desmoplastic and deposits shed much of that stroma, which is also what our own sequencing showed. Panel c says it keys on tissue that is pale, smooth and short of nuclei. One caution: brightness carries some of the signal, and brightness can drift with staining batch, so any prospective use needs stain normalisation.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check I would want run on my own work before believing it, and it is cheap once the patches exist. It also caught me overstating one thing, which I will show you.</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READ THIS CHART.  Five small panels, and in every one the three coloured bars are the three AI encoders: blue UNI2-h, green H-optimus-1, magenta Virchow2. So within any cluster, three bars of similar height mean the three models agree and the result does not depend on which we picked. Panels a to d are results. Panel e is a difference rather than a result: how much better the image is at liver than at lymph node, so there a smaller bar is better and the disagreement between the encoders is itself the story.</a:t>
            </a:r>
          </a:p>
          <a:p/>
          <a:p>
            <a:r>
              <a:t>WHAT IT MEANS.  I want to be straight about panel e. The newer encoders read lymph node deposits better than UNI2-h does, 0.60 up to 0.70, so the gap between the two sites halves. My Q2 slide showed the widest version of that gap. The conclusion does not change, because panel b is the test that decides it and all three fail it equally. But had I only run the first encoder I would have told you a stronger story than the data supports, and that is worth saying out loud. The fibroblast result, by contrast, is the same to within one hundredth under three different architectures, which is about as reassuring as this kind of check gets.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test that decides whether I have been describing tissue or describing our own cohort. It is also a harder test than it looks, because that cohort has no deconvolution, so the target had to be built differently. Agreement across two different definitions means more than agreement across one shared one.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READ THIS CHART.  Panel a: paired bars, blue our cohort and orange the second, for three things the image was asked to read. Panel b: the same numbers as a ratio, each target divided by tumour content, so the dashed line at one means no better than simply reading tumour amount. Panel c: one bar per cohort for the section-level score. Panel d: horizontal bars, one per direction of transfer between two metastatic sites, with the dashed line at chance. Panel e is written text, not a chart.</a:t>
            </a:r>
          </a:p>
          <a:p/>
          <a:p>
            <a:r>
              <a:t>WHAT IT MEANS.  Let me deal with the obvious objection first, which is that everything went down. It did, and panel a shows it honestly. But look at tumour content: it falls by the same factor, 0.71 to 0.35. If the fibroblast signal had genuinely failed, it would have dropped while tumour content held. Both falling together means something is capping every target equally, and that something is the target definition. Our cohort has RCTD deconvolution, which borrows information across all genes from a reference atlas and denoises heavily; this cohort has no deconvolution, so I built the target from about seven marker genes, and at a single spot dropout hits that hard. Panel b removes the ceiling by taking a ratio, and there the two cohorts agree closely. I should also say what it is NOT: it is not alignment. This cohort needs no registration at all, its coordinates arrive in the image's own pixel space, while ours carry 13 to 27 microns of residual error. The cohort with worse alignment scores higher, so alignment cannot be the explanation. Panel d is the new finding. With three destinations we can ask which pairs transfer, and it is not uniform: liver to lung reaches 0.69 while peritoneum to liver sits exactly at chance. Liver and lung are both dense parenchymal organs and peritoneum is a thin serosal surface, so the image transfers between destinations that look alike. That sharpens Q3 rather than contradicting it. What moves between sites is organ appearance, not metastatic biology.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READ THIS CHART.  A table, not a chart. One row per result, our cohort in the blue column and the second cohort in the orange one. Grey italic entries are not failures, they mark questions that cannot be asked in that cohort at all, and the right-hand column says why in each case.</a:t>
            </a:r>
          </a:p>
          <a:p/>
          <a:p>
            <a:r>
              <a:t>WHAT IT MEANS.  This is the summary slide. Two things I would draw your attention to. The fibroblast numbers are lower in the second cohort but tumour content falls by the same factor, so what changed is the target and not the biology; the row 'read better than tumour' is the one that shows the finding replicating. And the blank cells are not failures: that cohort has no lymph nodes and ours has only two destinations, so some questions simply cannot be asked in one or the other. I checked by accession that HEST-1k contains neither cohort, so the external check at the bottom is genuinely external.</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would rather walk you through the weak points myself than have them found later.</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be the one who says these rather than have them asked. The first is the one that actually annoys me, because it is not a limitation of the method, it is four missing slides that happen to be exactly the four we needed. If those turn up, the paired test becomes possible again. The third is the one that limits what anyone can do with this clinically: with no outcome data I can tell you what the tissue is doing but not whether it matters to the patient.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I could only have one of these it would be the first. Everything else on this list is work I can do myself given time or data. That one needs somebody who can look at a stain and tell me whether what I am claiming is already obvious to a pathologist, already known in the literature, or genuinely new.</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I am happy to take questions and I have every number behind these slides. The one ask that would move us fastest is a stain on a few matched deposits to confirm or kill the B cell result, because it needs a pathologist's eye rather than more computation.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0835640" y="0"/>
            <a:ext cx="5420380" cy="9144000"/>
          </a:xfrm>
          <a:prstGeom prst="rect">
            <a:avLst/>
          </a:prstGeom>
          <a:solidFill>
            <a:srgbClr val="1E4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U_PDA_HM11_he.png"/>
          <p:cNvPicPr>
            <a:picLocks noChangeAspect="1"/>
          </p:cNvPicPr>
          <p:nvPr/>
        </p:nvPicPr>
        <p:blipFill>
          <a:blip r:embed="rId2"/>
          <a:stretch>
            <a:fillRect/>
          </a:stretch>
        </p:blipFill>
        <p:spPr>
          <a:xfrm>
            <a:off x="11379582" y="2468880"/>
            <a:ext cx="4307074" cy="4206239"/>
          </a:xfrm>
          <a:prstGeom prst="rect">
            <a:avLst/>
          </a:prstGeom>
        </p:spPr>
      </p:pic>
      <p:sp>
        <p:nvSpPr>
          <p:cNvPr id="4" name="TextBox 3"/>
          <p:cNvSpPr txBox="1"/>
          <p:nvPr/>
        </p:nvSpPr>
        <p:spPr>
          <a:xfrm>
            <a:off x="1014984" y="1325880"/>
            <a:ext cx="8869680" cy="365760"/>
          </a:xfrm>
          <a:prstGeom prst="rect">
            <a:avLst/>
          </a:prstGeom>
          <a:noFill/>
        </p:spPr>
        <p:txBody>
          <a:bodyPr wrap="square" anchor="t">
            <a:spAutoFit/>
          </a:bodyPr>
          <a:lstStyle/>
          <a:p>
            <a:pPr algn="l"/>
            <a:r>
              <a:rPr sz="1500" b="1" i="0">
                <a:solidFill>
                  <a:srgbClr val="8D8D8D"/>
                </a:solidFill>
                <a:latin typeface="Liter"/>
              </a:rPr>
              <a:t>SPATIAL TRANSCRIPTOMICS RESEARCH</a:t>
            </a:r>
          </a:p>
        </p:txBody>
      </p:sp>
      <p:sp>
        <p:nvSpPr>
          <p:cNvPr id="5" name="TextBox 4"/>
          <p:cNvSpPr txBox="1"/>
          <p:nvPr/>
        </p:nvSpPr>
        <p:spPr>
          <a:xfrm>
            <a:off x="1014984" y="1828800"/>
            <a:ext cx="9509760" cy="2743200"/>
          </a:xfrm>
          <a:prstGeom prst="rect">
            <a:avLst/>
          </a:prstGeom>
          <a:noFill/>
        </p:spPr>
        <p:txBody>
          <a:bodyPr wrap="square" anchor="t">
            <a:spAutoFit/>
          </a:bodyPr>
          <a:lstStyle/>
          <a:p>
            <a:pPr algn="l">
              <a:lnSpc>
                <a:spcPct val="108000"/>
              </a:lnSpc>
            </a:pPr>
            <a:r>
              <a:rPr sz="3800" b="1" i="0">
                <a:solidFill>
                  <a:srgbClr val="2C5F8A"/>
                </a:solidFill>
                <a:latin typeface="Liter"/>
              </a:rPr>
              <a:t>What can a routine slide</a:t>
            </a:r>
          </a:p>
          <a:p>
            <a:pPr algn="l">
              <a:lnSpc>
                <a:spcPct val="108000"/>
              </a:lnSpc>
            </a:pPr>
            <a:r>
              <a:rPr sz="3800" b="1" i="0">
                <a:solidFill>
                  <a:srgbClr val="2C5F8A"/>
                </a:solidFill>
                <a:latin typeface="Liter"/>
              </a:rPr>
              <a:t>really tell us about</a:t>
            </a:r>
          </a:p>
          <a:p>
            <a:pPr algn="l">
              <a:lnSpc>
                <a:spcPct val="108000"/>
              </a:lnSpc>
            </a:pPr>
            <a:r>
              <a:rPr sz="3800" b="1" i="0">
                <a:solidFill>
                  <a:srgbClr val="2C5F8A"/>
                </a:solidFill>
                <a:latin typeface="Liter"/>
              </a:rPr>
              <a:t>pancreatic cancer spread?</a:t>
            </a:r>
          </a:p>
        </p:txBody>
      </p:sp>
      <p:sp>
        <p:nvSpPr>
          <p:cNvPr id="6" name="TextBox 5"/>
          <p:cNvSpPr txBox="1"/>
          <p:nvPr/>
        </p:nvSpPr>
        <p:spPr>
          <a:xfrm>
            <a:off x="1014984" y="5029200"/>
            <a:ext cx="9326880" cy="914400"/>
          </a:xfrm>
          <a:prstGeom prst="rect">
            <a:avLst/>
          </a:prstGeom>
          <a:noFill/>
        </p:spPr>
        <p:txBody>
          <a:bodyPr wrap="square" anchor="t">
            <a:spAutoFit/>
          </a:bodyPr>
          <a:lstStyle/>
          <a:p>
            <a:pPr algn="l">
              <a:lnSpc>
                <a:spcPct val="125000"/>
              </a:lnSpc>
            </a:pPr>
            <a:r>
              <a:rPr sz="1900" b="1" i="0">
                <a:solidFill>
                  <a:srgbClr val="E07B54"/>
                </a:solidFill>
                <a:latin typeface="Liter"/>
              </a:rPr>
              <a:t>Fifteen questions, asked in order, each one because of the answer before it</a:t>
            </a:r>
          </a:p>
        </p:txBody>
      </p:sp>
      <p:sp>
        <p:nvSpPr>
          <p:cNvPr id="7" name="Rectangle 6"/>
          <p:cNvSpPr/>
          <p:nvPr/>
        </p:nvSpPr>
        <p:spPr>
          <a:xfrm>
            <a:off x="1033271" y="6035040"/>
            <a:ext cx="2194560" cy="36576"/>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6355080"/>
            <a:ext cx="8869680" cy="1280160"/>
          </a:xfrm>
          <a:prstGeom prst="rect">
            <a:avLst/>
          </a:prstGeom>
          <a:noFill/>
        </p:spPr>
        <p:txBody>
          <a:bodyPr wrap="square" anchor="t">
            <a:spAutoFit/>
          </a:bodyPr>
          <a:lstStyle/>
          <a:p>
            <a:pPr algn="l">
              <a:lnSpc>
                <a:spcPct val="130000"/>
              </a:lnSpc>
            </a:pPr>
            <a:r>
              <a:rPr sz="1600" b="0" i="0">
                <a:solidFill>
                  <a:srgbClr val="8D8D8D"/>
                </a:solidFill>
                <a:latin typeface="Liter"/>
              </a:rPr>
              <a:t>Two cohorts   ·   73 sections   ·   25 patients   ·   201,000 measured spots</a:t>
            </a:r>
          </a:p>
          <a:p>
            <a:pPr algn="l">
              <a:lnSpc>
                <a:spcPct val="130000"/>
              </a:lnSpc>
            </a:pPr>
            <a:r>
              <a:rPr sz="1600" b="0" i="0">
                <a:solidFill>
                  <a:srgbClr val="8D8D8D"/>
                </a:solidFill>
                <a:latin typeface="Liter"/>
              </a:rPr>
              <a:t>Research Advisors:  Dr. Ashiq Masood and Dr. Mohsin Bilal</a:t>
            </a:r>
          </a:p>
        </p:txBody>
      </p:sp>
      <p:sp>
        <p:nvSpPr>
          <p:cNvPr id="9" name="Rectangle 8"/>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105156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0"/>
            <a:ext cx="14081760" cy="1051560"/>
          </a:xfrm>
          <a:prstGeom prst="rect">
            <a:avLst/>
          </a:prstGeom>
          <a:noFill/>
        </p:spPr>
        <p:txBody>
          <a:bodyPr wrap="square" anchor="ctr">
            <a:spAutoFit/>
          </a:bodyPr>
          <a:lstStyle/>
          <a:p>
            <a:pPr algn="l"/>
            <a:r>
              <a:rPr sz="2400" b="1" i="0">
                <a:solidFill>
                  <a:srgbClr val="FFFFFF"/>
                </a:solidFill>
                <a:latin typeface="Liter"/>
              </a:rPr>
              <a:t>The tissue I am working with</a:t>
            </a:r>
          </a:p>
        </p:txBody>
      </p:sp>
      <p:sp>
        <p:nvSpPr>
          <p:cNvPr id="4" name="Rectangle 3"/>
          <p:cNvSpPr/>
          <p:nvPr/>
        </p:nvSpPr>
        <p:spPr>
          <a:xfrm>
            <a:off x="301752" y="301752"/>
            <a:ext cx="457200" cy="45720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188720"/>
            <a:ext cx="14904720" cy="640080"/>
          </a:xfrm>
          <a:prstGeom prst="rect">
            <a:avLst/>
          </a:prstGeom>
          <a:noFill/>
        </p:spPr>
        <p:txBody>
          <a:bodyPr wrap="square" anchor="t">
            <a:spAutoFit/>
          </a:bodyPr>
          <a:lstStyle/>
          <a:p>
            <a:pPr algn="l"/>
            <a:r>
              <a:rPr sz="1800" b="1" i="0">
                <a:solidFill>
                  <a:srgbClr val="2C5F8A"/>
                </a:solidFill>
                <a:latin typeface="Liter"/>
              </a:rPr>
              <a:t>21 sections from 12 patients, every one shown here.</a:t>
            </a:r>
          </a:p>
        </p:txBody>
      </p:sp>
      <p:pic>
        <p:nvPicPr>
          <p:cNvPr id="6" name="Picture 5" descr="cohort.png"/>
          <p:cNvPicPr>
            <a:picLocks noChangeAspect="1"/>
          </p:cNvPicPr>
          <p:nvPr/>
        </p:nvPicPr>
        <p:blipFill>
          <a:blip r:embed="rId2"/>
          <a:stretch>
            <a:fillRect/>
          </a:stretch>
        </p:blipFill>
        <p:spPr>
          <a:xfrm>
            <a:off x="3643981" y="1874519"/>
            <a:ext cx="8988357" cy="6035040"/>
          </a:xfrm>
          <a:prstGeom prst="rect">
            <a:avLst/>
          </a:prstGeom>
        </p:spPr>
      </p:pic>
      <p:sp>
        <p:nvSpPr>
          <p:cNvPr id="7" name="Rectangle 6"/>
          <p:cNvSpPr/>
          <p:nvPr/>
        </p:nvSpPr>
        <p:spPr>
          <a:xfrm>
            <a:off x="0" y="8138160"/>
            <a:ext cx="16256020" cy="822960"/>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8138160"/>
            <a:ext cx="14904720" cy="822960"/>
          </a:xfrm>
          <a:prstGeom prst="rect">
            <a:avLst/>
          </a:prstGeom>
          <a:noFill/>
        </p:spPr>
        <p:txBody>
          <a:bodyPr wrap="square" anchor="ctr">
            <a:spAutoFit/>
          </a:bodyPr>
          <a:lstStyle/>
          <a:p>
            <a:pPr algn="l"/>
            <a:r>
              <a:rPr sz="1500" b="1" i="0">
                <a:solidFill>
                  <a:srgbClr val="333333"/>
                </a:solidFill>
                <a:latin typeface="Liter"/>
              </a:rPr>
              <a:t>Six primary tumours, seven liver deposits, five lymph node deposits, three normal pancreas. 63,919 measured spots in total.</a:t>
            </a:r>
          </a:p>
        </p:txBody>
      </p:sp>
      <p:sp>
        <p:nvSpPr>
          <p:cNvPr id="9" name="Rectangle 8"/>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105156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0"/>
            <a:ext cx="14081760" cy="1051560"/>
          </a:xfrm>
          <a:prstGeom prst="rect">
            <a:avLst/>
          </a:prstGeom>
          <a:noFill/>
        </p:spPr>
        <p:txBody>
          <a:bodyPr wrap="square" anchor="ctr">
            <a:spAutoFit/>
          </a:bodyPr>
          <a:lstStyle/>
          <a:p>
            <a:pPr algn="l"/>
            <a:r>
              <a:rPr sz="2400" b="1" i="0">
                <a:solidFill>
                  <a:srgbClr val="FFFFFF"/>
                </a:solidFill>
                <a:latin typeface="Liter"/>
              </a:rPr>
              <a:t>Both datasets, side by side</a:t>
            </a:r>
          </a:p>
        </p:txBody>
      </p:sp>
      <p:sp>
        <p:nvSpPr>
          <p:cNvPr id="4" name="Rectangle 3"/>
          <p:cNvSpPr/>
          <p:nvPr/>
        </p:nvSpPr>
        <p:spPr>
          <a:xfrm>
            <a:off x="301752" y="301752"/>
            <a:ext cx="457200" cy="45720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188720"/>
            <a:ext cx="14904720" cy="640080"/>
          </a:xfrm>
          <a:prstGeom prst="rect">
            <a:avLst/>
          </a:prstGeom>
          <a:noFill/>
        </p:spPr>
        <p:txBody>
          <a:bodyPr wrap="square" anchor="t">
            <a:spAutoFit/>
          </a:bodyPr>
          <a:lstStyle/>
          <a:p>
            <a:pPr algn="l"/>
            <a:r>
              <a:rPr sz="1800" b="1" i="0">
                <a:solidFill>
                  <a:srgbClr val="2C5F8A"/>
                </a:solidFill>
                <a:latin typeface="Liter"/>
              </a:rPr>
              <a:t>Everything in this talk comes from these two.</a:t>
            </a:r>
          </a:p>
        </p:txBody>
      </p:sp>
      <p:pic>
        <p:nvPicPr>
          <p:cNvPr id="6" name="Picture 5" descr="datasets.png"/>
          <p:cNvPicPr>
            <a:picLocks noChangeAspect="1"/>
          </p:cNvPicPr>
          <p:nvPr/>
        </p:nvPicPr>
        <p:blipFill>
          <a:blip r:embed="rId2"/>
          <a:stretch>
            <a:fillRect/>
          </a:stretch>
        </p:blipFill>
        <p:spPr>
          <a:xfrm>
            <a:off x="2390502" y="1874519"/>
            <a:ext cx="11495314" cy="6035040"/>
          </a:xfrm>
          <a:prstGeom prst="rect">
            <a:avLst/>
          </a:prstGeom>
        </p:spPr>
      </p:pic>
      <p:sp>
        <p:nvSpPr>
          <p:cNvPr id="7" name="Rectangle 6"/>
          <p:cNvSpPr/>
          <p:nvPr/>
        </p:nvSpPr>
        <p:spPr>
          <a:xfrm>
            <a:off x="0" y="8138160"/>
            <a:ext cx="16256020" cy="822960"/>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8138160"/>
            <a:ext cx="14904720" cy="822960"/>
          </a:xfrm>
          <a:prstGeom prst="rect">
            <a:avLst/>
          </a:prstGeom>
          <a:noFill/>
        </p:spPr>
        <p:txBody>
          <a:bodyPr wrap="square" anchor="ctr">
            <a:spAutoFit/>
          </a:bodyPr>
          <a:lstStyle/>
          <a:p>
            <a:pPr algn="l"/>
            <a:r>
              <a:rPr sz="1500" b="1" i="0">
                <a:solidFill>
                  <a:srgbClr val="333333"/>
                </a:solidFill>
                <a:latin typeface="Liter"/>
              </a:rPr>
              <a:t>Kept separate throughout. Where they agree, the result is about the tissue rather than about one cohort.</a:t>
            </a:r>
          </a:p>
        </p:txBody>
      </p:sp>
      <p:sp>
        <p:nvSpPr>
          <p:cNvPr id="9" name="Rectangle 8"/>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105156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0"/>
            <a:ext cx="14081760" cy="1051560"/>
          </a:xfrm>
          <a:prstGeom prst="rect">
            <a:avLst/>
          </a:prstGeom>
          <a:noFill/>
        </p:spPr>
        <p:txBody>
          <a:bodyPr wrap="square" anchor="ctr">
            <a:spAutoFit/>
          </a:bodyPr>
          <a:lstStyle/>
          <a:p>
            <a:pPr algn="l"/>
            <a:r>
              <a:rPr sz="2400" b="1" i="0">
                <a:solidFill>
                  <a:srgbClr val="FFFFFF"/>
                </a:solidFill>
                <a:latin typeface="Liter"/>
              </a:rPr>
              <a:t>How the method works</a:t>
            </a:r>
          </a:p>
        </p:txBody>
      </p:sp>
      <p:sp>
        <p:nvSpPr>
          <p:cNvPr id="4" name="Rectangle 3"/>
          <p:cNvSpPr/>
          <p:nvPr/>
        </p:nvSpPr>
        <p:spPr>
          <a:xfrm>
            <a:off x="301752" y="301752"/>
            <a:ext cx="457200" cy="45720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188720"/>
            <a:ext cx="14904720" cy="640080"/>
          </a:xfrm>
          <a:prstGeom prst="rect">
            <a:avLst/>
          </a:prstGeom>
          <a:noFill/>
        </p:spPr>
        <p:txBody>
          <a:bodyPr wrap="square" anchor="t">
            <a:spAutoFit/>
          </a:bodyPr>
          <a:lstStyle/>
          <a:p>
            <a:pPr algn="l"/>
            <a:r>
              <a:rPr sz="1800" b="1" i="0">
                <a:solidFill>
                  <a:srgbClr val="2C5F8A"/>
                </a:solidFill>
                <a:latin typeface="Liter"/>
              </a:rPr>
              <a:t>Expression teaches the model. At prediction time there is only the slide.</a:t>
            </a:r>
          </a:p>
        </p:txBody>
      </p:sp>
      <p:pic>
        <p:nvPicPr>
          <p:cNvPr id="6" name="Picture 5" descr="method.png"/>
          <p:cNvPicPr>
            <a:picLocks noChangeAspect="1"/>
          </p:cNvPicPr>
          <p:nvPr/>
        </p:nvPicPr>
        <p:blipFill>
          <a:blip r:embed="rId2"/>
          <a:stretch>
            <a:fillRect/>
          </a:stretch>
        </p:blipFill>
        <p:spPr>
          <a:xfrm>
            <a:off x="740369" y="1874519"/>
            <a:ext cx="14795581" cy="6035040"/>
          </a:xfrm>
          <a:prstGeom prst="rect">
            <a:avLst/>
          </a:prstGeom>
        </p:spPr>
      </p:pic>
      <p:sp>
        <p:nvSpPr>
          <p:cNvPr id="7" name="Rectangle 6"/>
          <p:cNvSpPr/>
          <p:nvPr/>
        </p:nvSpPr>
        <p:spPr>
          <a:xfrm>
            <a:off x="0" y="8138160"/>
            <a:ext cx="16256020" cy="822960"/>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8138160"/>
            <a:ext cx="14904720" cy="822960"/>
          </a:xfrm>
          <a:prstGeom prst="rect">
            <a:avLst/>
          </a:prstGeom>
          <a:noFill/>
        </p:spPr>
        <p:txBody>
          <a:bodyPr wrap="square" anchor="ctr">
            <a:spAutoFit/>
          </a:bodyPr>
          <a:lstStyle/>
          <a:p>
            <a:pPr algn="l"/>
            <a:r>
              <a:rPr sz="1500" b="1" i="0">
                <a:solidFill>
                  <a:srgbClr val="333333"/>
                </a:solidFill>
                <a:latin typeface="Liter"/>
              </a:rPr>
              <a:t>Every number I show you comes from a patient the model has never seen.</a:t>
            </a:r>
          </a:p>
        </p:txBody>
      </p:sp>
      <p:sp>
        <p:nvSpPr>
          <p:cNvPr id="9" name="Rectangle 8"/>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9144000"/>
          </a:xfrm>
          <a:prstGeom prst="rect">
            <a:avLst/>
          </a:prstGeom>
          <a:solidFill>
            <a:srgbClr val="1E4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0" y="3657600"/>
            <a:ext cx="54864" cy="173736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00200" y="3566160"/>
            <a:ext cx="13258800" cy="1920240"/>
          </a:xfrm>
          <a:prstGeom prst="rect">
            <a:avLst/>
          </a:prstGeom>
          <a:noFill/>
        </p:spPr>
        <p:txBody>
          <a:bodyPr wrap="square" anchor="t">
            <a:spAutoFit/>
          </a:bodyPr>
          <a:lstStyle/>
          <a:p>
            <a:pPr algn="l">
              <a:lnSpc>
                <a:spcPct val="115000"/>
              </a:lnSpc>
            </a:pPr>
            <a:r>
              <a:rPr sz="3400" b="1" i="0">
                <a:solidFill>
                  <a:srgbClr val="FFFFFF"/>
                </a:solidFill>
                <a:latin typeface="Liter"/>
              </a:rPr>
              <a:t>Part one: can a slide see cancer at all?</a:t>
            </a:r>
          </a:p>
        </p:txBody>
      </p:sp>
      <p:sp>
        <p:nvSpPr>
          <p:cNvPr id="5" name="TextBox 4"/>
          <p:cNvSpPr txBox="1"/>
          <p:nvPr/>
        </p:nvSpPr>
        <p:spPr>
          <a:xfrm>
            <a:off x="1600200" y="5669280"/>
            <a:ext cx="12984480" cy="1097280"/>
          </a:xfrm>
          <a:prstGeom prst="rect">
            <a:avLst/>
          </a:prstGeom>
          <a:noFill/>
        </p:spPr>
        <p:txBody>
          <a:bodyPr wrap="square" anchor="t">
            <a:spAutoFit/>
          </a:bodyPr>
          <a:lstStyle/>
          <a:p>
            <a:pPr algn="l">
              <a:lnSpc>
                <a:spcPct val="130000"/>
              </a:lnSpc>
            </a:pPr>
            <a:r>
              <a:rPr sz="1900" b="0" i="0">
                <a:solidFill>
                  <a:srgbClr val="D9E8F5"/>
                </a:solidFill>
                <a:latin typeface="Liter"/>
              </a:rPr>
              <a:t>Before asking anything about spread, establish the floor.</a:t>
            </a:r>
          </a:p>
        </p:txBody>
      </p:sp>
      <p:sp>
        <p:nvSpPr>
          <p:cNvPr id="6" name="Rectangle 5"/>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51560" cy="9144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 y="548640"/>
            <a:ext cx="914400" cy="822960"/>
          </a:xfrm>
          <a:prstGeom prst="rect">
            <a:avLst/>
          </a:prstGeom>
          <a:noFill/>
        </p:spPr>
        <p:txBody>
          <a:bodyPr wrap="square" anchor="t">
            <a:spAutoFit/>
          </a:bodyPr>
          <a:lstStyle/>
          <a:p>
            <a:pPr algn="ctr"/>
            <a:r>
              <a:rPr sz="3400" b="1" i="0">
                <a:solidFill>
                  <a:srgbClr val="FFFFFF"/>
                </a:solidFill>
                <a:latin typeface="Liter"/>
              </a:rPr>
              <a:t>Q1</a:t>
            </a:r>
          </a:p>
        </p:txBody>
      </p:sp>
      <p:sp>
        <p:nvSpPr>
          <p:cNvPr id="4" name="TextBox 3"/>
          <p:cNvSpPr txBox="1"/>
          <p:nvPr/>
        </p:nvSpPr>
        <p:spPr>
          <a:xfrm>
            <a:off x="1508760" y="868680"/>
            <a:ext cx="5486400" cy="365760"/>
          </a:xfrm>
          <a:prstGeom prst="rect">
            <a:avLst/>
          </a:prstGeom>
          <a:noFill/>
        </p:spPr>
        <p:txBody>
          <a:bodyPr wrap="square" anchor="t">
            <a:spAutoFit/>
          </a:bodyPr>
          <a:lstStyle/>
          <a:p>
            <a:pPr algn="l"/>
            <a:r>
              <a:rPr sz="1400" b="1" i="0">
                <a:solidFill>
                  <a:srgbClr val="8D8D8D"/>
                </a:solidFill>
                <a:latin typeface="Liter"/>
              </a:rPr>
              <a:t>QUESTION</a:t>
            </a:r>
          </a:p>
        </p:txBody>
      </p:sp>
      <p:sp>
        <p:nvSpPr>
          <p:cNvPr id="5" name="TextBox 4"/>
          <p:cNvSpPr txBox="1"/>
          <p:nvPr/>
        </p:nvSpPr>
        <p:spPr>
          <a:xfrm>
            <a:off x="1508760" y="1371600"/>
            <a:ext cx="13350240" cy="2286000"/>
          </a:xfrm>
          <a:prstGeom prst="rect">
            <a:avLst/>
          </a:prstGeom>
          <a:noFill/>
        </p:spPr>
        <p:txBody>
          <a:bodyPr wrap="square" anchor="t">
            <a:spAutoFit/>
          </a:bodyPr>
          <a:lstStyle/>
          <a:p>
            <a:pPr algn="l">
              <a:lnSpc>
                <a:spcPct val="112000"/>
              </a:lnSpc>
            </a:pPr>
            <a:r>
              <a:rPr sz="3600" b="1" i="0">
                <a:solidFill>
                  <a:srgbClr val="1BAF7A"/>
                </a:solidFill>
                <a:latin typeface="Liter"/>
              </a:rPr>
              <a:t>Can a stained slide tell cancer from normal tissue?</a:t>
            </a:r>
          </a:p>
        </p:txBody>
      </p:sp>
      <p:sp>
        <p:nvSpPr>
          <p:cNvPr id="6" name="Rectangle 5"/>
          <p:cNvSpPr/>
          <p:nvPr/>
        </p:nvSpPr>
        <p:spPr>
          <a:xfrm>
            <a:off x="1536192" y="3977639"/>
            <a:ext cx="2194560" cy="4572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08760" y="4343400"/>
            <a:ext cx="6400800" cy="365760"/>
          </a:xfrm>
          <a:prstGeom prst="rect">
            <a:avLst/>
          </a:prstGeom>
          <a:noFill/>
        </p:spPr>
        <p:txBody>
          <a:bodyPr wrap="square" anchor="t">
            <a:spAutoFit/>
          </a:bodyPr>
          <a:lstStyle/>
          <a:p>
            <a:pPr algn="l"/>
            <a:r>
              <a:rPr sz="1500" b="1" i="0">
                <a:solidFill>
                  <a:srgbClr val="8D8D8D"/>
                </a:solidFill>
                <a:latin typeface="Liter"/>
              </a:rPr>
              <a:t>Why we are asking</a:t>
            </a:r>
          </a:p>
        </p:txBody>
      </p:sp>
      <p:sp>
        <p:nvSpPr>
          <p:cNvPr id="8" name="TextBox 7"/>
          <p:cNvSpPr txBox="1"/>
          <p:nvPr/>
        </p:nvSpPr>
        <p:spPr>
          <a:xfrm>
            <a:off x="1508760" y="4800600"/>
            <a:ext cx="6400800" cy="2743200"/>
          </a:xfrm>
          <a:prstGeom prst="rect">
            <a:avLst/>
          </a:prstGeom>
          <a:noFill/>
        </p:spPr>
        <p:txBody>
          <a:bodyPr wrap="square" anchor="t">
            <a:spAutoFit/>
          </a:bodyPr>
          <a:lstStyle/>
          <a:p>
            <a:pPr algn="l">
              <a:lnSpc>
                <a:spcPct val="130000"/>
              </a:lnSpc>
            </a:pPr>
            <a:r>
              <a:rPr sz="1800" b="0" i="0">
                <a:solidFill>
                  <a:srgbClr val="333333"/>
                </a:solidFill>
                <a:latin typeface="Liter"/>
              </a:rPr>
              <a:t>Everything later depends on this. If the image cannot separate tumour from healthy pancreas, then any later success must be coming from somewhere other than the cancer.</a:t>
            </a:r>
          </a:p>
        </p:txBody>
      </p:sp>
      <p:sp>
        <p:nvSpPr>
          <p:cNvPr id="9" name="TextBox 8"/>
          <p:cNvSpPr txBox="1"/>
          <p:nvPr/>
        </p:nvSpPr>
        <p:spPr>
          <a:xfrm>
            <a:off x="8595360" y="4343400"/>
            <a:ext cx="6400800" cy="365760"/>
          </a:xfrm>
          <a:prstGeom prst="rect">
            <a:avLst/>
          </a:prstGeom>
          <a:noFill/>
        </p:spPr>
        <p:txBody>
          <a:bodyPr wrap="square" anchor="t">
            <a:spAutoFit/>
          </a:bodyPr>
          <a:lstStyle/>
          <a:p>
            <a:pPr algn="l"/>
            <a:r>
              <a:rPr sz="1500" b="1" i="0">
                <a:solidFill>
                  <a:srgbClr val="8D8D8D"/>
                </a:solidFill>
                <a:latin typeface="Liter"/>
              </a:rPr>
              <a:t>What each answer would mean</a:t>
            </a:r>
          </a:p>
        </p:txBody>
      </p:sp>
      <p:sp>
        <p:nvSpPr>
          <p:cNvPr id="10" name="TextBox 9"/>
          <p:cNvSpPr txBox="1"/>
          <p:nvPr/>
        </p:nvSpPr>
        <p:spPr>
          <a:xfrm>
            <a:off x="8595360" y="4800600"/>
            <a:ext cx="6309360" cy="2743200"/>
          </a:xfrm>
          <a:prstGeom prst="rect">
            <a:avLst/>
          </a:prstGeom>
          <a:noFill/>
        </p:spPr>
        <p:txBody>
          <a:bodyPr wrap="square" anchor="t">
            <a:spAutoFit/>
          </a:bodyPr>
          <a:lstStyle/>
          <a:p>
            <a:pPr algn="l">
              <a:lnSpc>
                <a:spcPct val="130000"/>
              </a:lnSpc>
            </a:pPr>
            <a:r>
              <a:rPr sz="1800" b="0" i="0">
                <a:solidFill>
                  <a:srgbClr val="333333"/>
                </a:solidFill>
                <a:latin typeface="Liter"/>
              </a:rPr>
              <a:t>A high score means the image genuinely carries cancer information.</a:t>
            </a:r>
          </a:p>
          <a:p>
            <a:pPr algn="l">
              <a:lnSpc>
                <a:spcPct val="130000"/>
              </a:lnSpc>
            </a:pPr>
            <a:r>
              <a:rPr sz="1800" b="0" i="0">
                <a:solidFill>
                  <a:srgbClr val="333333"/>
                </a:solidFill>
                <a:latin typeface="Liter"/>
              </a:rPr>
              <a:t/>
            </a:r>
          </a:p>
          <a:p>
            <a:pPr algn="l">
              <a:lnSpc>
                <a:spcPct val="130000"/>
              </a:lnSpc>
            </a:pPr>
            <a:r>
              <a:rPr sz="1800" b="0" i="0">
                <a:solidFill>
                  <a:srgbClr val="333333"/>
                </a:solidFill>
                <a:latin typeface="Liter"/>
              </a:rPr>
              <a:t>A low score would mean the whole approach is dead and we should stop.</a:t>
            </a:r>
          </a:p>
        </p:txBody>
      </p:sp>
      <p:sp>
        <p:nvSpPr>
          <p:cNvPr id="11" name="Rectangle 10"/>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123444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1752" y="384048"/>
            <a:ext cx="457200" cy="45720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0"/>
            <a:ext cx="14081760" cy="1234440"/>
          </a:xfrm>
          <a:prstGeom prst="rect">
            <a:avLst/>
          </a:prstGeom>
          <a:noFill/>
        </p:spPr>
        <p:txBody>
          <a:bodyPr wrap="square" anchor="ctr">
            <a:spAutoFit/>
          </a:bodyPr>
          <a:lstStyle/>
          <a:p>
            <a:pPr algn="l"/>
            <a:r>
              <a:rPr sz="2500" b="1" i="0">
                <a:solidFill>
                  <a:srgbClr val="FFFFFF"/>
                </a:solidFill>
                <a:latin typeface="Liter"/>
              </a:rPr>
              <a:t>Q1   YES, and clearly</a:t>
            </a:r>
          </a:p>
        </p:txBody>
      </p:sp>
      <p:sp>
        <p:nvSpPr>
          <p:cNvPr id="5" name="TextBox 4"/>
          <p:cNvSpPr txBox="1"/>
          <p:nvPr/>
        </p:nvSpPr>
        <p:spPr>
          <a:xfrm>
            <a:off x="685800" y="1371600"/>
            <a:ext cx="14904720" cy="822960"/>
          </a:xfrm>
          <a:prstGeom prst="rect">
            <a:avLst/>
          </a:prstGeom>
          <a:noFill/>
        </p:spPr>
        <p:txBody>
          <a:bodyPr wrap="square" anchor="t">
            <a:spAutoFit/>
          </a:bodyPr>
          <a:lstStyle/>
          <a:p>
            <a:pPr algn="l">
              <a:lnSpc>
                <a:spcPct val="115000"/>
              </a:lnSpc>
            </a:pPr>
            <a:r>
              <a:rPr sz="2100" b="1" i="0">
                <a:solidFill>
                  <a:srgbClr val="1BAF7A"/>
                </a:solidFill>
                <a:latin typeface="Liter"/>
              </a:rPr>
              <a:t>The image separates tumour from normal pancreas at 0.96, slightly ahead of gene expression at 0.90.</a:t>
            </a:r>
          </a:p>
        </p:txBody>
      </p:sp>
      <p:pic>
        <p:nvPicPr>
          <p:cNvPr id="6" name="Picture 5" descr="q1_cancer_vs_normal.png"/>
          <p:cNvPicPr>
            <a:picLocks noChangeAspect="1"/>
          </p:cNvPicPr>
          <p:nvPr/>
        </p:nvPicPr>
        <p:blipFill>
          <a:blip r:embed="rId2"/>
          <a:stretch>
            <a:fillRect/>
          </a:stretch>
        </p:blipFill>
        <p:spPr>
          <a:xfrm>
            <a:off x="3008191" y="2240280"/>
            <a:ext cx="10259936" cy="5394959"/>
          </a:xfrm>
          <a:prstGeom prst="rect">
            <a:avLst/>
          </a:prstGeom>
        </p:spPr>
      </p:pic>
      <p:sp>
        <p:nvSpPr>
          <p:cNvPr id="7" name="Rectangle 6"/>
          <p:cNvSpPr/>
          <p:nvPr/>
        </p:nvSpPr>
        <p:spPr>
          <a:xfrm>
            <a:off x="0" y="8138160"/>
            <a:ext cx="16256020" cy="822960"/>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8138160"/>
            <a:ext cx="14904720" cy="822960"/>
          </a:xfrm>
          <a:prstGeom prst="rect">
            <a:avLst/>
          </a:prstGeom>
          <a:noFill/>
        </p:spPr>
        <p:txBody>
          <a:bodyPr wrap="square" anchor="ctr">
            <a:spAutoFit/>
          </a:bodyPr>
          <a:lstStyle/>
          <a:p>
            <a:pPr algn="l"/>
            <a:r>
              <a:rPr sz="1500" b="1" i="0">
                <a:solidFill>
                  <a:srgbClr val="333333"/>
                </a:solidFill>
                <a:latin typeface="Liter"/>
              </a:rPr>
              <a:t>Same organ, same tissue type, only cancer differs. Leave-one-patient-out. The image can see cancer.</a:t>
            </a:r>
          </a:p>
        </p:txBody>
      </p:sp>
      <p:sp>
        <p:nvSpPr>
          <p:cNvPr id="9" name="Rectangle 8"/>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105156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0"/>
            <a:ext cx="14081760" cy="1051560"/>
          </a:xfrm>
          <a:prstGeom prst="rect">
            <a:avLst/>
          </a:prstGeom>
          <a:noFill/>
        </p:spPr>
        <p:txBody>
          <a:bodyPr wrap="square" anchor="ctr">
            <a:spAutoFit/>
          </a:bodyPr>
          <a:lstStyle/>
          <a:p>
            <a:pPr algn="l"/>
            <a:r>
              <a:rPr sz="2100" b="1" i="0">
                <a:solidFill>
                  <a:srgbClr val="FFFFFF"/>
                </a:solidFill>
                <a:latin typeface="Liter"/>
              </a:rPr>
              <a:t>Q1   SHOWN ON THE TISSUE</a:t>
            </a:r>
          </a:p>
        </p:txBody>
      </p:sp>
      <p:sp>
        <p:nvSpPr>
          <p:cNvPr id="4" name="Rectangle 3"/>
          <p:cNvSpPr/>
          <p:nvPr/>
        </p:nvSpPr>
        <p:spPr>
          <a:xfrm>
            <a:off x="301752" y="301752"/>
            <a:ext cx="457200" cy="45720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170432"/>
            <a:ext cx="14904720" cy="640080"/>
          </a:xfrm>
          <a:prstGeom prst="rect">
            <a:avLst/>
          </a:prstGeom>
          <a:noFill/>
        </p:spPr>
        <p:txBody>
          <a:bodyPr wrap="square" anchor="t">
            <a:spAutoFit/>
          </a:bodyPr>
          <a:lstStyle/>
          <a:p>
            <a:pPr algn="l"/>
            <a:r>
              <a:rPr sz="1900" b="1" i="0">
                <a:solidFill>
                  <a:srgbClr val="2C5F8A"/>
                </a:solidFill>
                <a:latin typeface="Liter"/>
              </a:rPr>
              <a:t>Both rows are pancreas. Top is cancer, bottom is normal.</a:t>
            </a:r>
          </a:p>
        </p:txBody>
      </p:sp>
      <p:pic>
        <p:nvPicPr>
          <p:cNvPr id="6" name="Picture 5" descr="q1_grounding.png"/>
          <p:cNvPicPr>
            <a:picLocks noChangeAspect="1"/>
          </p:cNvPicPr>
          <p:nvPr/>
        </p:nvPicPr>
        <p:blipFill>
          <a:blip r:embed="rId2"/>
          <a:stretch>
            <a:fillRect/>
          </a:stretch>
        </p:blipFill>
        <p:spPr>
          <a:xfrm>
            <a:off x="816333" y="1874519"/>
            <a:ext cx="14643652" cy="5943600"/>
          </a:xfrm>
          <a:prstGeom prst="rect">
            <a:avLst/>
          </a:prstGeom>
        </p:spPr>
      </p:pic>
      <p:sp>
        <p:nvSpPr>
          <p:cNvPr id="7" name="Rectangle 6"/>
          <p:cNvSpPr/>
          <p:nvPr/>
        </p:nvSpPr>
        <p:spPr>
          <a:xfrm>
            <a:off x="0" y="8138160"/>
            <a:ext cx="16256020" cy="822960"/>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8138160"/>
            <a:ext cx="14904720" cy="822960"/>
          </a:xfrm>
          <a:prstGeom prst="rect">
            <a:avLst/>
          </a:prstGeom>
          <a:noFill/>
        </p:spPr>
        <p:txBody>
          <a:bodyPr wrap="square" anchor="ctr">
            <a:spAutoFit/>
          </a:bodyPr>
          <a:lstStyle/>
          <a:p>
            <a:pPr algn="l"/>
            <a:r>
              <a:rPr sz="1500" b="1" i="0">
                <a:solidFill>
                  <a:srgbClr val="333333"/>
                </a:solidFill>
                <a:latin typeface="Liter"/>
              </a:rPr>
              <a:t>No model is needed to see this difference, which is why the score is 0.96.</a:t>
            </a:r>
          </a:p>
        </p:txBody>
      </p:sp>
      <p:sp>
        <p:nvSpPr>
          <p:cNvPr id="9" name="Rectangle 8"/>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9144000"/>
          </a:xfrm>
          <a:prstGeom prst="rect">
            <a:avLst/>
          </a:prstGeom>
          <a:solidFill>
            <a:srgbClr val="1E4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0" y="3657600"/>
            <a:ext cx="54864" cy="173736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00200" y="3566160"/>
            <a:ext cx="13258800" cy="1920240"/>
          </a:xfrm>
          <a:prstGeom prst="rect">
            <a:avLst/>
          </a:prstGeom>
          <a:noFill/>
        </p:spPr>
        <p:txBody>
          <a:bodyPr wrap="square" anchor="t">
            <a:spAutoFit/>
          </a:bodyPr>
          <a:lstStyle/>
          <a:p>
            <a:pPr algn="l">
              <a:lnSpc>
                <a:spcPct val="115000"/>
              </a:lnSpc>
            </a:pPr>
            <a:r>
              <a:rPr sz="3400" b="1" i="0">
                <a:solidFill>
                  <a:srgbClr val="FFFFFF"/>
                </a:solidFill>
                <a:latin typeface="Liter"/>
              </a:rPr>
              <a:t>Part two: can it see spread?</a:t>
            </a:r>
          </a:p>
        </p:txBody>
      </p:sp>
      <p:sp>
        <p:nvSpPr>
          <p:cNvPr id="5" name="TextBox 4"/>
          <p:cNvSpPr txBox="1"/>
          <p:nvPr/>
        </p:nvSpPr>
        <p:spPr>
          <a:xfrm>
            <a:off x="1600200" y="5669280"/>
            <a:ext cx="12984480" cy="1097280"/>
          </a:xfrm>
          <a:prstGeom prst="rect">
            <a:avLst/>
          </a:prstGeom>
          <a:noFill/>
        </p:spPr>
        <p:txBody>
          <a:bodyPr wrap="square" anchor="t">
            <a:spAutoFit/>
          </a:bodyPr>
          <a:lstStyle/>
          <a:p>
            <a:pPr algn="l">
              <a:lnSpc>
                <a:spcPct val="130000"/>
              </a:lnSpc>
            </a:pPr>
            <a:r>
              <a:rPr sz="1900" b="0" i="0">
                <a:solidFill>
                  <a:srgbClr val="D9E8F5"/>
                </a:solidFill>
                <a:latin typeface="Liter"/>
              </a:rPr>
              <a:t>The image can see cancer. Now the question the project was built on.</a:t>
            </a:r>
          </a:p>
        </p:txBody>
      </p:sp>
      <p:sp>
        <p:nvSpPr>
          <p:cNvPr id="6" name="Rectangle 5"/>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51560" cy="914400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 y="548640"/>
            <a:ext cx="914400" cy="822960"/>
          </a:xfrm>
          <a:prstGeom prst="rect">
            <a:avLst/>
          </a:prstGeom>
          <a:noFill/>
        </p:spPr>
        <p:txBody>
          <a:bodyPr wrap="square" anchor="t">
            <a:spAutoFit/>
          </a:bodyPr>
          <a:lstStyle/>
          <a:p>
            <a:pPr algn="ctr"/>
            <a:r>
              <a:rPr sz="3400" b="1" i="0">
                <a:solidFill>
                  <a:srgbClr val="FFFFFF"/>
                </a:solidFill>
                <a:latin typeface="Liter"/>
              </a:rPr>
              <a:t>Q2</a:t>
            </a:r>
          </a:p>
        </p:txBody>
      </p:sp>
      <p:sp>
        <p:nvSpPr>
          <p:cNvPr id="4" name="TextBox 3"/>
          <p:cNvSpPr txBox="1"/>
          <p:nvPr/>
        </p:nvSpPr>
        <p:spPr>
          <a:xfrm>
            <a:off x="1508760" y="868680"/>
            <a:ext cx="5486400" cy="365760"/>
          </a:xfrm>
          <a:prstGeom prst="rect">
            <a:avLst/>
          </a:prstGeom>
          <a:noFill/>
        </p:spPr>
        <p:txBody>
          <a:bodyPr wrap="square" anchor="t">
            <a:spAutoFit/>
          </a:bodyPr>
          <a:lstStyle/>
          <a:p>
            <a:pPr algn="l"/>
            <a:r>
              <a:rPr sz="1400" b="1" i="0">
                <a:solidFill>
                  <a:srgbClr val="8D8D8D"/>
                </a:solidFill>
                <a:latin typeface="Liter"/>
              </a:rPr>
              <a:t>QUESTION</a:t>
            </a:r>
          </a:p>
        </p:txBody>
      </p:sp>
      <p:sp>
        <p:nvSpPr>
          <p:cNvPr id="5" name="TextBox 4"/>
          <p:cNvSpPr txBox="1"/>
          <p:nvPr/>
        </p:nvSpPr>
        <p:spPr>
          <a:xfrm>
            <a:off x="1508760" y="1371600"/>
            <a:ext cx="13350240" cy="2286000"/>
          </a:xfrm>
          <a:prstGeom prst="rect">
            <a:avLst/>
          </a:prstGeom>
          <a:noFill/>
        </p:spPr>
        <p:txBody>
          <a:bodyPr wrap="square" anchor="t">
            <a:spAutoFit/>
          </a:bodyPr>
          <a:lstStyle/>
          <a:p>
            <a:pPr algn="l">
              <a:lnSpc>
                <a:spcPct val="112000"/>
              </a:lnSpc>
            </a:pPr>
            <a:r>
              <a:rPr sz="3600" b="1" i="0">
                <a:solidFill>
                  <a:srgbClr val="2C5F8A"/>
                </a:solidFill>
                <a:latin typeface="Liter"/>
              </a:rPr>
              <a:t>Can a slide tell a metastasis from a primary tumour?</a:t>
            </a:r>
          </a:p>
        </p:txBody>
      </p:sp>
      <p:sp>
        <p:nvSpPr>
          <p:cNvPr id="6" name="Rectangle 5"/>
          <p:cNvSpPr/>
          <p:nvPr/>
        </p:nvSpPr>
        <p:spPr>
          <a:xfrm>
            <a:off x="1536192" y="3977639"/>
            <a:ext cx="2194560" cy="4572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08760" y="4343400"/>
            <a:ext cx="6400800" cy="365760"/>
          </a:xfrm>
          <a:prstGeom prst="rect">
            <a:avLst/>
          </a:prstGeom>
          <a:noFill/>
        </p:spPr>
        <p:txBody>
          <a:bodyPr wrap="square" anchor="t">
            <a:spAutoFit/>
          </a:bodyPr>
          <a:lstStyle/>
          <a:p>
            <a:pPr algn="l"/>
            <a:r>
              <a:rPr sz="1500" b="1" i="0">
                <a:solidFill>
                  <a:srgbClr val="8D8D8D"/>
                </a:solidFill>
                <a:latin typeface="Liter"/>
              </a:rPr>
              <a:t>Why we are asking</a:t>
            </a:r>
          </a:p>
        </p:txBody>
      </p:sp>
      <p:sp>
        <p:nvSpPr>
          <p:cNvPr id="8" name="TextBox 7"/>
          <p:cNvSpPr txBox="1"/>
          <p:nvPr/>
        </p:nvSpPr>
        <p:spPr>
          <a:xfrm>
            <a:off x="1508760" y="4800600"/>
            <a:ext cx="6400800" cy="2743200"/>
          </a:xfrm>
          <a:prstGeom prst="rect">
            <a:avLst/>
          </a:prstGeom>
          <a:noFill/>
        </p:spPr>
        <p:txBody>
          <a:bodyPr wrap="square" anchor="t">
            <a:spAutoFit/>
          </a:bodyPr>
          <a:lstStyle/>
          <a:p>
            <a:pPr algn="l">
              <a:lnSpc>
                <a:spcPct val="130000"/>
              </a:lnSpc>
            </a:pPr>
            <a:r>
              <a:rPr sz="1800" b="0" i="0">
                <a:solidFill>
                  <a:srgbClr val="333333"/>
                </a:solidFill>
                <a:latin typeface="Liter"/>
              </a:rPr>
              <a:t>This is the question the whole project was built to answer. If a routine slide could flag metastatic disease, it would be useful in any hospital that has a microscope.</a:t>
            </a:r>
          </a:p>
        </p:txBody>
      </p:sp>
      <p:sp>
        <p:nvSpPr>
          <p:cNvPr id="9" name="TextBox 8"/>
          <p:cNvSpPr txBox="1"/>
          <p:nvPr/>
        </p:nvSpPr>
        <p:spPr>
          <a:xfrm>
            <a:off x="8595360" y="4343400"/>
            <a:ext cx="6400800" cy="365760"/>
          </a:xfrm>
          <a:prstGeom prst="rect">
            <a:avLst/>
          </a:prstGeom>
          <a:noFill/>
        </p:spPr>
        <p:txBody>
          <a:bodyPr wrap="square" anchor="t">
            <a:spAutoFit/>
          </a:bodyPr>
          <a:lstStyle/>
          <a:p>
            <a:pPr algn="l"/>
            <a:r>
              <a:rPr sz="1500" b="1" i="0">
                <a:solidFill>
                  <a:srgbClr val="8D8D8D"/>
                </a:solidFill>
                <a:latin typeface="Liter"/>
              </a:rPr>
              <a:t>What each answer would mean</a:t>
            </a:r>
          </a:p>
        </p:txBody>
      </p:sp>
      <p:sp>
        <p:nvSpPr>
          <p:cNvPr id="10" name="TextBox 9"/>
          <p:cNvSpPr txBox="1"/>
          <p:nvPr/>
        </p:nvSpPr>
        <p:spPr>
          <a:xfrm>
            <a:off x="8595360" y="4800600"/>
            <a:ext cx="6309360" cy="2743200"/>
          </a:xfrm>
          <a:prstGeom prst="rect">
            <a:avLst/>
          </a:prstGeom>
          <a:noFill/>
        </p:spPr>
        <p:txBody>
          <a:bodyPr wrap="square" anchor="t">
            <a:spAutoFit/>
          </a:bodyPr>
          <a:lstStyle/>
          <a:p>
            <a:pPr algn="l">
              <a:lnSpc>
                <a:spcPct val="130000"/>
              </a:lnSpc>
            </a:pPr>
            <a:r>
              <a:rPr sz="1800" b="0" i="0">
                <a:solidFill>
                  <a:srgbClr val="333333"/>
                </a:solidFill>
                <a:latin typeface="Liter"/>
              </a:rPr>
              <a:t>A high score at BOTH metastatic sites means the image reads metastasis.</a:t>
            </a:r>
          </a:p>
          <a:p>
            <a:pPr algn="l">
              <a:lnSpc>
                <a:spcPct val="130000"/>
              </a:lnSpc>
            </a:pPr>
            <a:r>
              <a:rPr sz="1800" b="0" i="0">
                <a:solidFill>
                  <a:srgbClr val="333333"/>
                </a:solidFill>
                <a:latin typeface="Liter"/>
              </a:rPr>
              <a:t/>
            </a:r>
          </a:p>
          <a:p>
            <a:pPr algn="l">
              <a:lnSpc>
                <a:spcPct val="130000"/>
              </a:lnSpc>
            </a:pPr>
            <a:r>
              <a:rPr sz="1800" b="0" i="0">
                <a:solidFill>
                  <a:srgbClr val="333333"/>
                </a:solidFill>
                <a:latin typeface="Liter"/>
              </a:rPr>
              <a:t>A high score at only one site means something else is going on.</a:t>
            </a:r>
          </a:p>
        </p:txBody>
      </p:sp>
      <p:sp>
        <p:nvSpPr>
          <p:cNvPr id="11" name="Rectangle 10"/>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123444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1752" y="384048"/>
            <a:ext cx="457200" cy="45720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0"/>
            <a:ext cx="14081760" cy="1234440"/>
          </a:xfrm>
          <a:prstGeom prst="rect">
            <a:avLst/>
          </a:prstGeom>
          <a:noFill/>
        </p:spPr>
        <p:txBody>
          <a:bodyPr wrap="square" anchor="ctr">
            <a:spAutoFit/>
          </a:bodyPr>
          <a:lstStyle/>
          <a:p>
            <a:pPr algn="l"/>
            <a:r>
              <a:rPr sz="2500" b="1" i="0">
                <a:solidFill>
                  <a:srgbClr val="FFFFFF"/>
                </a:solidFill>
                <a:latin typeface="Liter"/>
              </a:rPr>
              <a:t>Q2   ONLY IN THE LIVER</a:t>
            </a:r>
          </a:p>
        </p:txBody>
      </p:sp>
      <p:sp>
        <p:nvSpPr>
          <p:cNvPr id="5" name="TextBox 4"/>
          <p:cNvSpPr txBox="1"/>
          <p:nvPr/>
        </p:nvSpPr>
        <p:spPr>
          <a:xfrm>
            <a:off x="685800" y="1371600"/>
            <a:ext cx="14904720" cy="822960"/>
          </a:xfrm>
          <a:prstGeom prst="rect">
            <a:avLst/>
          </a:prstGeom>
          <a:noFill/>
        </p:spPr>
        <p:txBody>
          <a:bodyPr wrap="square" anchor="t">
            <a:spAutoFit/>
          </a:bodyPr>
          <a:lstStyle/>
          <a:p>
            <a:pPr algn="l">
              <a:lnSpc>
                <a:spcPct val="115000"/>
              </a:lnSpc>
            </a:pPr>
            <a:r>
              <a:rPr sz="2100" b="1" i="0">
                <a:solidFill>
                  <a:srgbClr val="2C5F8A"/>
                </a:solidFill>
                <a:latin typeface="Liter"/>
              </a:rPr>
              <a:t>Liver deposits separate from primary at 0.80. Lymph node deposits reach only 0.60, and fall to 0.44 once only tumour-rich areas are used.</a:t>
            </a:r>
          </a:p>
        </p:txBody>
      </p:sp>
      <p:pic>
        <p:nvPicPr>
          <p:cNvPr id="6" name="Picture 5" descr="fig9_HE_primary_vs_met.png"/>
          <p:cNvPicPr>
            <a:picLocks noChangeAspect="1"/>
          </p:cNvPicPr>
          <p:nvPr/>
        </p:nvPicPr>
        <p:blipFill>
          <a:blip r:embed="rId2"/>
          <a:stretch>
            <a:fillRect/>
          </a:stretch>
        </p:blipFill>
        <p:spPr>
          <a:xfrm>
            <a:off x="2276940" y="2240280"/>
            <a:ext cx="11722438" cy="5394960"/>
          </a:xfrm>
          <a:prstGeom prst="rect">
            <a:avLst/>
          </a:prstGeom>
        </p:spPr>
      </p:pic>
      <p:sp>
        <p:nvSpPr>
          <p:cNvPr id="7" name="Rectangle 6"/>
          <p:cNvSpPr/>
          <p:nvPr/>
        </p:nvSpPr>
        <p:spPr>
          <a:xfrm>
            <a:off x="0" y="8138160"/>
            <a:ext cx="16256020" cy="822960"/>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8138160"/>
            <a:ext cx="14904720" cy="822960"/>
          </a:xfrm>
          <a:prstGeom prst="rect">
            <a:avLst/>
          </a:prstGeom>
          <a:noFill/>
        </p:spPr>
        <p:txBody>
          <a:bodyPr wrap="square" anchor="ctr">
            <a:spAutoFit/>
          </a:bodyPr>
          <a:lstStyle/>
          <a:p>
            <a:pPr algn="l"/>
            <a:r>
              <a:rPr sz="1500" b="1" i="0">
                <a:solidFill>
                  <a:srgbClr val="333333"/>
                </a:solidFill>
                <a:latin typeface="Liter"/>
              </a:rPr>
              <a:t>The same model, the same procedure, two destinations, two very different answers. These numbers are UNI2-h; two other encoders narrow the gap, and Q14 shows by how much.</a:t>
            </a:r>
          </a:p>
        </p:txBody>
      </p:sp>
      <p:sp>
        <p:nvSpPr>
          <p:cNvPr id="9" name="Rectangle 8"/>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51560" cy="9144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 y="548640"/>
            <a:ext cx="914400" cy="822960"/>
          </a:xfrm>
          <a:prstGeom prst="rect">
            <a:avLst/>
          </a:prstGeom>
          <a:noFill/>
        </p:spPr>
        <p:txBody>
          <a:bodyPr wrap="square" anchor="t">
            <a:spAutoFit/>
          </a:bodyPr>
          <a:lstStyle/>
          <a:p>
            <a:pPr algn="ctr"/>
            <a:r>
              <a:rPr sz="3400" b="1" i="0">
                <a:solidFill>
                  <a:srgbClr val="FFFFFF"/>
                </a:solidFill>
                <a:latin typeface="Liter"/>
              </a:rPr>
              <a:t>Q3</a:t>
            </a:r>
          </a:p>
        </p:txBody>
      </p:sp>
      <p:sp>
        <p:nvSpPr>
          <p:cNvPr id="4" name="TextBox 3"/>
          <p:cNvSpPr txBox="1"/>
          <p:nvPr/>
        </p:nvSpPr>
        <p:spPr>
          <a:xfrm>
            <a:off x="1508760" y="868680"/>
            <a:ext cx="5486400" cy="365760"/>
          </a:xfrm>
          <a:prstGeom prst="rect">
            <a:avLst/>
          </a:prstGeom>
          <a:noFill/>
        </p:spPr>
        <p:txBody>
          <a:bodyPr wrap="square" anchor="t">
            <a:spAutoFit/>
          </a:bodyPr>
          <a:lstStyle/>
          <a:p>
            <a:pPr algn="l"/>
            <a:r>
              <a:rPr sz="1400" b="1" i="0">
                <a:solidFill>
                  <a:srgbClr val="8D8D8D"/>
                </a:solidFill>
                <a:latin typeface="Liter"/>
              </a:rPr>
              <a:t>QUESTION</a:t>
            </a:r>
          </a:p>
        </p:txBody>
      </p:sp>
      <p:sp>
        <p:nvSpPr>
          <p:cNvPr id="5" name="TextBox 4"/>
          <p:cNvSpPr txBox="1"/>
          <p:nvPr/>
        </p:nvSpPr>
        <p:spPr>
          <a:xfrm>
            <a:off x="1508760" y="1371600"/>
            <a:ext cx="13350240" cy="2286000"/>
          </a:xfrm>
          <a:prstGeom prst="rect">
            <a:avLst/>
          </a:prstGeom>
          <a:noFill/>
        </p:spPr>
        <p:txBody>
          <a:bodyPr wrap="square" anchor="t">
            <a:spAutoFit/>
          </a:bodyPr>
          <a:lstStyle/>
          <a:p>
            <a:pPr algn="l">
              <a:lnSpc>
                <a:spcPct val="112000"/>
              </a:lnSpc>
            </a:pPr>
            <a:r>
              <a:rPr sz="3600" b="1" i="0">
                <a:solidFill>
                  <a:srgbClr val="C0392B"/>
                </a:solidFill>
                <a:latin typeface="Liter"/>
              </a:rPr>
              <a:t>Is it seeing metastasis, or just seeing liver?</a:t>
            </a:r>
          </a:p>
        </p:txBody>
      </p:sp>
      <p:sp>
        <p:nvSpPr>
          <p:cNvPr id="6" name="Rectangle 5"/>
          <p:cNvSpPr/>
          <p:nvPr/>
        </p:nvSpPr>
        <p:spPr>
          <a:xfrm>
            <a:off x="1536192" y="3977639"/>
            <a:ext cx="2194560" cy="4572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08760" y="4343400"/>
            <a:ext cx="6400800" cy="365760"/>
          </a:xfrm>
          <a:prstGeom prst="rect">
            <a:avLst/>
          </a:prstGeom>
          <a:noFill/>
        </p:spPr>
        <p:txBody>
          <a:bodyPr wrap="square" anchor="t">
            <a:spAutoFit/>
          </a:bodyPr>
          <a:lstStyle/>
          <a:p>
            <a:pPr algn="l"/>
            <a:r>
              <a:rPr sz="1500" b="1" i="0">
                <a:solidFill>
                  <a:srgbClr val="8D8D8D"/>
                </a:solidFill>
                <a:latin typeface="Liter"/>
              </a:rPr>
              <a:t>Why we are asking</a:t>
            </a:r>
          </a:p>
        </p:txBody>
      </p:sp>
      <p:sp>
        <p:nvSpPr>
          <p:cNvPr id="8" name="TextBox 7"/>
          <p:cNvSpPr txBox="1"/>
          <p:nvPr/>
        </p:nvSpPr>
        <p:spPr>
          <a:xfrm>
            <a:off x="1508760" y="4800600"/>
            <a:ext cx="6400800" cy="2743200"/>
          </a:xfrm>
          <a:prstGeom prst="rect">
            <a:avLst/>
          </a:prstGeom>
          <a:noFill/>
        </p:spPr>
        <p:txBody>
          <a:bodyPr wrap="square" anchor="t">
            <a:spAutoFit/>
          </a:bodyPr>
          <a:lstStyle/>
          <a:p>
            <a:pPr algn="l">
              <a:lnSpc>
                <a:spcPct val="130000"/>
              </a:lnSpc>
            </a:pPr>
            <a:r>
              <a:rPr sz="1800" b="0" i="0">
                <a:solidFill>
                  <a:srgbClr val="333333"/>
                </a:solidFill>
                <a:latin typeface="Liter"/>
              </a:rPr>
              <a:t>This objection was raised in review and it is the right one. Liver is easy to recognise even with no tumour in it at all, so a good score on liver deposits may mean nothing about cancer.</a:t>
            </a:r>
          </a:p>
        </p:txBody>
      </p:sp>
      <p:sp>
        <p:nvSpPr>
          <p:cNvPr id="9" name="TextBox 8"/>
          <p:cNvSpPr txBox="1"/>
          <p:nvPr/>
        </p:nvSpPr>
        <p:spPr>
          <a:xfrm>
            <a:off x="8595360" y="4343400"/>
            <a:ext cx="6400800" cy="365760"/>
          </a:xfrm>
          <a:prstGeom prst="rect">
            <a:avLst/>
          </a:prstGeom>
          <a:noFill/>
        </p:spPr>
        <p:txBody>
          <a:bodyPr wrap="square" anchor="t">
            <a:spAutoFit/>
          </a:bodyPr>
          <a:lstStyle/>
          <a:p>
            <a:pPr algn="l"/>
            <a:r>
              <a:rPr sz="1500" b="1" i="0">
                <a:solidFill>
                  <a:srgbClr val="8D8D8D"/>
                </a:solidFill>
                <a:latin typeface="Liter"/>
              </a:rPr>
              <a:t>What each answer would mean</a:t>
            </a:r>
          </a:p>
        </p:txBody>
      </p:sp>
      <p:sp>
        <p:nvSpPr>
          <p:cNvPr id="10" name="TextBox 9"/>
          <p:cNvSpPr txBox="1"/>
          <p:nvPr/>
        </p:nvSpPr>
        <p:spPr>
          <a:xfrm>
            <a:off x="8595360" y="4800600"/>
            <a:ext cx="6309360" cy="2743200"/>
          </a:xfrm>
          <a:prstGeom prst="rect">
            <a:avLst/>
          </a:prstGeom>
          <a:noFill/>
        </p:spPr>
        <p:txBody>
          <a:bodyPr wrap="square" anchor="t">
            <a:spAutoFit/>
          </a:bodyPr>
          <a:lstStyle/>
          <a:p>
            <a:pPr algn="l">
              <a:lnSpc>
                <a:spcPct val="130000"/>
              </a:lnSpc>
            </a:pPr>
            <a:r>
              <a:rPr sz="1800" b="0" i="0">
                <a:solidFill>
                  <a:srgbClr val="333333"/>
                </a:solidFill>
                <a:latin typeface="Liter"/>
              </a:rPr>
              <a:t>Train a detector on ONE site, test it on the OTHER.</a:t>
            </a:r>
          </a:p>
          <a:p>
            <a:pPr algn="l">
              <a:lnSpc>
                <a:spcPct val="130000"/>
              </a:lnSpc>
            </a:pPr>
            <a:r>
              <a:rPr sz="1800" b="0" i="0">
                <a:solidFill>
                  <a:srgbClr val="333333"/>
                </a:solidFill>
                <a:latin typeface="Liter"/>
              </a:rPr>
              <a:t/>
            </a:r>
          </a:p>
          <a:p>
            <a:pPr algn="l">
              <a:lnSpc>
                <a:spcPct val="130000"/>
              </a:lnSpc>
            </a:pPr>
            <a:r>
              <a:rPr sz="1800" b="0" i="0">
                <a:solidFill>
                  <a:srgbClr val="333333"/>
                </a:solidFill>
                <a:latin typeface="Liter"/>
              </a:rPr>
              <a:t>If it learned metastasis, it transfers. If it learned liver, it cannot, because a lymph node is not a liver.</a:t>
            </a:r>
          </a:p>
        </p:txBody>
      </p:sp>
      <p:sp>
        <p:nvSpPr>
          <p:cNvPr id="11" name="Rectangle 10"/>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1234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1752" y="384048"/>
            <a:ext cx="457200" cy="45720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0"/>
            <a:ext cx="14081760" cy="1234440"/>
          </a:xfrm>
          <a:prstGeom prst="rect">
            <a:avLst/>
          </a:prstGeom>
          <a:noFill/>
        </p:spPr>
        <p:txBody>
          <a:bodyPr wrap="square" anchor="ctr">
            <a:spAutoFit/>
          </a:bodyPr>
          <a:lstStyle/>
          <a:p>
            <a:pPr algn="l"/>
            <a:r>
              <a:rPr sz="2500" b="1" i="0">
                <a:solidFill>
                  <a:srgbClr val="FFFFFF"/>
                </a:solidFill>
                <a:latin typeface="Liter"/>
              </a:rPr>
              <a:t>Q3   IT IS SEEING THE LIVER</a:t>
            </a:r>
          </a:p>
        </p:txBody>
      </p:sp>
      <p:sp>
        <p:nvSpPr>
          <p:cNvPr id="5" name="TextBox 4"/>
          <p:cNvSpPr txBox="1"/>
          <p:nvPr/>
        </p:nvSpPr>
        <p:spPr>
          <a:xfrm>
            <a:off x="685800" y="1371600"/>
            <a:ext cx="14904720" cy="822960"/>
          </a:xfrm>
          <a:prstGeom prst="rect">
            <a:avLst/>
          </a:prstGeom>
          <a:noFill/>
        </p:spPr>
        <p:txBody>
          <a:bodyPr wrap="square" anchor="t">
            <a:spAutoFit/>
          </a:bodyPr>
          <a:lstStyle/>
          <a:p>
            <a:pPr algn="l">
              <a:lnSpc>
                <a:spcPct val="115000"/>
              </a:lnSpc>
            </a:pPr>
            <a:r>
              <a:rPr sz="2100" b="1" i="0">
                <a:solidFill>
                  <a:srgbClr val="C0392B"/>
                </a:solidFill>
                <a:latin typeface="Liter"/>
              </a:rPr>
              <a:t>Trained on liver, tested on lymph node: 0.53. The other direction: 0.53. Chance is 0.50.</a:t>
            </a:r>
          </a:p>
        </p:txBody>
      </p:sp>
      <p:pic>
        <p:nvPicPr>
          <p:cNvPr id="6" name="Picture 5" descr="q3_transfer.png"/>
          <p:cNvPicPr>
            <a:picLocks noChangeAspect="1"/>
          </p:cNvPicPr>
          <p:nvPr/>
        </p:nvPicPr>
        <p:blipFill>
          <a:blip r:embed="rId2"/>
          <a:stretch>
            <a:fillRect/>
          </a:stretch>
        </p:blipFill>
        <p:spPr>
          <a:xfrm>
            <a:off x="3160304" y="2240280"/>
            <a:ext cx="9955710" cy="5394959"/>
          </a:xfrm>
          <a:prstGeom prst="rect">
            <a:avLst/>
          </a:prstGeom>
        </p:spPr>
      </p:pic>
      <p:sp>
        <p:nvSpPr>
          <p:cNvPr id="7" name="Rectangle 6"/>
          <p:cNvSpPr/>
          <p:nvPr/>
        </p:nvSpPr>
        <p:spPr>
          <a:xfrm>
            <a:off x="0" y="8138160"/>
            <a:ext cx="16256020" cy="822960"/>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8138160"/>
            <a:ext cx="14904720" cy="822960"/>
          </a:xfrm>
          <a:prstGeom prst="rect">
            <a:avLst/>
          </a:prstGeom>
          <a:noFill/>
        </p:spPr>
        <p:txBody>
          <a:bodyPr wrap="square" anchor="ctr">
            <a:spAutoFit/>
          </a:bodyPr>
          <a:lstStyle/>
          <a:p>
            <a:pPr algn="l"/>
            <a:r>
              <a:rPr sz="1500" b="1" i="0">
                <a:solidFill>
                  <a:srgbClr val="333333"/>
                </a:solidFill>
                <a:latin typeface="Liter"/>
              </a:rPr>
              <a:t>Nothing learned about liver deposits transfers to nodal deposits, and Q14 shows this is true of all three encoders I tried.</a:t>
            </a:r>
          </a:p>
        </p:txBody>
      </p:sp>
      <p:sp>
        <p:nvSpPr>
          <p:cNvPr id="9" name="Rectangle 8"/>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105156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0"/>
            <a:ext cx="14081760" cy="1051560"/>
          </a:xfrm>
          <a:prstGeom prst="rect">
            <a:avLst/>
          </a:prstGeom>
          <a:noFill/>
        </p:spPr>
        <p:txBody>
          <a:bodyPr wrap="square" anchor="ctr">
            <a:spAutoFit/>
          </a:bodyPr>
          <a:lstStyle/>
          <a:p>
            <a:pPr algn="l"/>
            <a:r>
              <a:rPr sz="2100" b="1" i="0">
                <a:solidFill>
                  <a:srgbClr val="FFFFFF"/>
                </a:solidFill>
                <a:latin typeface="Liter"/>
              </a:rPr>
              <a:t>Q3   SHOWN ON THE TISSUE</a:t>
            </a:r>
          </a:p>
        </p:txBody>
      </p:sp>
      <p:sp>
        <p:nvSpPr>
          <p:cNvPr id="4" name="Rectangle 3"/>
          <p:cNvSpPr/>
          <p:nvPr/>
        </p:nvSpPr>
        <p:spPr>
          <a:xfrm>
            <a:off x="301752" y="301752"/>
            <a:ext cx="457200" cy="45720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170432"/>
            <a:ext cx="14904720" cy="640080"/>
          </a:xfrm>
          <a:prstGeom prst="rect">
            <a:avLst/>
          </a:prstGeom>
          <a:noFill/>
        </p:spPr>
        <p:txBody>
          <a:bodyPr wrap="square" anchor="t">
            <a:spAutoFit/>
          </a:bodyPr>
          <a:lstStyle/>
          <a:p>
            <a:pPr algn="l"/>
            <a:r>
              <a:rPr sz="1900" b="1" i="0">
                <a:solidFill>
                  <a:srgbClr val="2C5F8A"/>
                </a:solidFill>
                <a:latin typeface="Liter"/>
              </a:rPr>
              <a:t>Why liver is easy and lymph node is not, in real tissue.</a:t>
            </a:r>
          </a:p>
        </p:txBody>
      </p:sp>
      <p:pic>
        <p:nvPicPr>
          <p:cNvPr id="6" name="Picture 5" descr="q3_grounding.png"/>
          <p:cNvPicPr>
            <a:picLocks noChangeAspect="1"/>
          </p:cNvPicPr>
          <p:nvPr/>
        </p:nvPicPr>
        <p:blipFill>
          <a:blip r:embed="rId2"/>
          <a:stretch>
            <a:fillRect/>
          </a:stretch>
        </p:blipFill>
        <p:spPr>
          <a:xfrm>
            <a:off x="3259085" y="1874519"/>
            <a:ext cx="9758149" cy="5943600"/>
          </a:xfrm>
          <a:prstGeom prst="rect">
            <a:avLst/>
          </a:prstGeom>
        </p:spPr>
      </p:pic>
      <p:sp>
        <p:nvSpPr>
          <p:cNvPr id="7" name="Rectangle 6"/>
          <p:cNvSpPr/>
          <p:nvPr/>
        </p:nvSpPr>
        <p:spPr>
          <a:xfrm>
            <a:off x="0" y="8138160"/>
            <a:ext cx="16256020" cy="822960"/>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8138160"/>
            <a:ext cx="14904720" cy="822960"/>
          </a:xfrm>
          <a:prstGeom prst="rect">
            <a:avLst/>
          </a:prstGeom>
          <a:noFill/>
        </p:spPr>
        <p:txBody>
          <a:bodyPr wrap="square" anchor="ctr">
            <a:spAutoFit/>
          </a:bodyPr>
          <a:lstStyle/>
          <a:p>
            <a:pPr algn="l"/>
            <a:r>
              <a:rPr sz="1500" b="1" i="0">
                <a:solidFill>
                  <a:srgbClr val="333333"/>
                </a:solidFill>
                <a:latin typeface="Liter"/>
              </a:rPr>
              <a:t>The liver row is unmistakable. Primary and nodal tumour look like each other. That is the asymmetry.</a:t>
            </a:r>
          </a:p>
        </p:txBody>
      </p:sp>
      <p:sp>
        <p:nvSpPr>
          <p:cNvPr id="9" name="Rectangle 8"/>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9144000"/>
          </a:xfrm>
          <a:prstGeom prst="rect">
            <a:avLst/>
          </a:prstGeom>
          <a:solidFill>
            <a:srgbClr val="1E4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0" y="3657600"/>
            <a:ext cx="54864" cy="173736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00200" y="3566160"/>
            <a:ext cx="13258800" cy="1920240"/>
          </a:xfrm>
          <a:prstGeom prst="rect">
            <a:avLst/>
          </a:prstGeom>
          <a:noFill/>
        </p:spPr>
        <p:txBody>
          <a:bodyPr wrap="square" anchor="t">
            <a:spAutoFit/>
          </a:bodyPr>
          <a:lstStyle/>
          <a:p>
            <a:pPr algn="l">
              <a:lnSpc>
                <a:spcPct val="115000"/>
              </a:lnSpc>
            </a:pPr>
            <a:r>
              <a:rPr sz="3400" b="1" i="0">
                <a:solidFill>
                  <a:srgbClr val="FFFFFF"/>
                </a:solidFill>
                <a:latin typeface="Liter"/>
              </a:rPr>
              <a:t>Part three: so why can nothing detect metastasis?</a:t>
            </a:r>
          </a:p>
        </p:txBody>
      </p:sp>
      <p:sp>
        <p:nvSpPr>
          <p:cNvPr id="5" name="TextBox 4"/>
          <p:cNvSpPr txBox="1"/>
          <p:nvPr/>
        </p:nvSpPr>
        <p:spPr>
          <a:xfrm>
            <a:off x="1600200" y="5669280"/>
            <a:ext cx="12984480" cy="1097280"/>
          </a:xfrm>
          <a:prstGeom prst="rect">
            <a:avLst/>
          </a:prstGeom>
          <a:noFill/>
        </p:spPr>
        <p:txBody>
          <a:bodyPr wrap="square" anchor="t">
            <a:spAutoFit/>
          </a:bodyPr>
          <a:lstStyle/>
          <a:p>
            <a:pPr algn="l">
              <a:lnSpc>
                <a:spcPct val="130000"/>
              </a:lnSpc>
            </a:pPr>
            <a:r>
              <a:rPr sz="1900" b="0" i="0">
                <a:solidFill>
                  <a:srgbClr val="D9E8F5"/>
                </a:solidFill>
                <a:latin typeface="Liter"/>
              </a:rPr>
              <a:t>The failure is not about images. It is about what a metastasis is.</a:t>
            </a:r>
          </a:p>
        </p:txBody>
      </p:sp>
      <p:sp>
        <p:nvSpPr>
          <p:cNvPr id="6" name="Rectangle 5"/>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51560" cy="914400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 y="548640"/>
            <a:ext cx="914400" cy="822960"/>
          </a:xfrm>
          <a:prstGeom prst="rect">
            <a:avLst/>
          </a:prstGeom>
          <a:noFill/>
        </p:spPr>
        <p:txBody>
          <a:bodyPr wrap="square" anchor="t">
            <a:spAutoFit/>
          </a:bodyPr>
          <a:lstStyle/>
          <a:p>
            <a:pPr algn="ctr"/>
            <a:r>
              <a:rPr sz="3400" b="1" i="0">
                <a:solidFill>
                  <a:srgbClr val="FFFFFF"/>
                </a:solidFill>
                <a:latin typeface="Liter"/>
              </a:rPr>
              <a:t>Q4</a:t>
            </a:r>
          </a:p>
        </p:txBody>
      </p:sp>
      <p:sp>
        <p:nvSpPr>
          <p:cNvPr id="4" name="TextBox 3"/>
          <p:cNvSpPr txBox="1"/>
          <p:nvPr/>
        </p:nvSpPr>
        <p:spPr>
          <a:xfrm>
            <a:off x="1508760" y="868680"/>
            <a:ext cx="5486400" cy="365760"/>
          </a:xfrm>
          <a:prstGeom prst="rect">
            <a:avLst/>
          </a:prstGeom>
          <a:noFill/>
        </p:spPr>
        <p:txBody>
          <a:bodyPr wrap="square" anchor="t">
            <a:spAutoFit/>
          </a:bodyPr>
          <a:lstStyle/>
          <a:p>
            <a:pPr algn="l"/>
            <a:r>
              <a:rPr sz="1400" b="1" i="0">
                <a:solidFill>
                  <a:srgbClr val="8D8D8D"/>
                </a:solidFill>
                <a:latin typeface="Liter"/>
              </a:rPr>
              <a:t>QUESTION</a:t>
            </a:r>
          </a:p>
        </p:txBody>
      </p:sp>
      <p:sp>
        <p:nvSpPr>
          <p:cNvPr id="5" name="TextBox 4"/>
          <p:cNvSpPr txBox="1"/>
          <p:nvPr/>
        </p:nvSpPr>
        <p:spPr>
          <a:xfrm>
            <a:off x="1508760" y="1371600"/>
            <a:ext cx="13350240" cy="2286000"/>
          </a:xfrm>
          <a:prstGeom prst="rect">
            <a:avLst/>
          </a:prstGeom>
          <a:noFill/>
        </p:spPr>
        <p:txBody>
          <a:bodyPr wrap="square" anchor="t">
            <a:spAutoFit/>
          </a:bodyPr>
          <a:lstStyle/>
          <a:p>
            <a:pPr algn="l">
              <a:lnSpc>
                <a:spcPct val="112000"/>
              </a:lnSpc>
            </a:pPr>
            <a:r>
              <a:rPr sz="3600" b="1" i="0">
                <a:solidFill>
                  <a:srgbClr val="2C5F8A"/>
                </a:solidFill>
                <a:latin typeface="Liter"/>
              </a:rPr>
              <a:t>Do metastases in different organs share one programme?</a:t>
            </a:r>
          </a:p>
        </p:txBody>
      </p:sp>
      <p:sp>
        <p:nvSpPr>
          <p:cNvPr id="6" name="Rectangle 5"/>
          <p:cNvSpPr/>
          <p:nvPr/>
        </p:nvSpPr>
        <p:spPr>
          <a:xfrm>
            <a:off x="1536192" y="3977639"/>
            <a:ext cx="2194560" cy="4572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08760" y="4343400"/>
            <a:ext cx="6400800" cy="365760"/>
          </a:xfrm>
          <a:prstGeom prst="rect">
            <a:avLst/>
          </a:prstGeom>
          <a:noFill/>
        </p:spPr>
        <p:txBody>
          <a:bodyPr wrap="square" anchor="t">
            <a:spAutoFit/>
          </a:bodyPr>
          <a:lstStyle/>
          <a:p>
            <a:pPr algn="l"/>
            <a:r>
              <a:rPr sz="1500" b="1" i="0">
                <a:solidFill>
                  <a:srgbClr val="8D8D8D"/>
                </a:solidFill>
                <a:latin typeface="Liter"/>
              </a:rPr>
              <a:t>Why we are asking</a:t>
            </a:r>
          </a:p>
        </p:txBody>
      </p:sp>
      <p:sp>
        <p:nvSpPr>
          <p:cNvPr id="8" name="TextBox 7"/>
          <p:cNvSpPr txBox="1"/>
          <p:nvPr/>
        </p:nvSpPr>
        <p:spPr>
          <a:xfrm>
            <a:off x="1508760" y="4800600"/>
            <a:ext cx="6400800" cy="2743200"/>
          </a:xfrm>
          <a:prstGeom prst="rect">
            <a:avLst/>
          </a:prstGeom>
          <a:noFill/>
        </p:spPr>
        <p:txBody>
          <a:bodyPr wrap="square" anchor="t">
            <a:spAutoFit/>
          </a:bodyPr>
          <a:lstStyle/>
          <a:p>
            <a:pPr algn="l">
              <a:lnSpc>
                <a:spcPct val="130000"/>
              </a:lnSpc>
            </a:pPr>
            <a:r>
              <a:rPr sz="1800" b="0" i="0">
                <a:solidFill>
                  <a:srgbClr val="333333"/>
                </a:solidFill>
                <a:latin typeface="Liter"/>
              </a:rPr>
              <a:t>If a liver deposit and a nodal deposit from the SAME patient are doing different things, then there is no single thing to detect, and every model above was chasing something that does not exist.</a:t>
            </a:r>
          </a:p>
        </p:txBody>
      </p:sp>
      <p:sp>
        <p:nvSpPr>
          <p:cNvPr id="9" name="TextBox 8"/>
          <p:cNvSpPr txBox="1"/>
          <p:nvPr/>
        </p:nvSpPr>
        <p:spPr>
          <a:xfrm>
            <a:off x="8595360" y="4343400"/>
            <a:ext cx="6400800" cy="365760"/>
          </a:xfrm>
          <a:prstGeom prst="rect">
            <a:avLst/>
          </a:prstGeom>
          <a:noFill/>
        </p:spPr>
        <p:txBody>
          <a:bodyPr wrap="square" anchor="t">
            <a:spAutoFit/>
          </a:bodyPr>
          <a:lstStyle/>
          <a:p>
            <a:pPr algn="l"/>
            <a:r>
              <a:rPr sz="1500" b="1" i="0">
                <a:solidFill>
                  <a:srgbClr val="8D8D8D"/>
                </a:solidFill>
                <a:latin typeface="Liter"/>
              </a:rPr>
              <a:t>What each answer would mean</a:t>
            </a:r>
          </a:p>
        </p:txBody>
      </p:sp>
      <p:sp>
        <p:nvSpPr>
          <p:cNvPr id="10" name="TextBox 9"/>
          <p:cNvSpPr txBox="1"/>
          <p:nvPr/>
        </p:nvSpPr>
        <p:spPr>
          <a:xfrm>
            <a:off x="8595360" y="4800600"/>
            <a:ext cx="6309360" cy="2743200"/>
          </a:xfrm>
          <a:prstGeom prst="rect">
            <a:avLst/>
          </a:prstGeom>
          <a:noFill/>
        </p:spPr>
        <p:txBody>
          <a:bodyPr wrap="square" anchor="t">
            <a:spAutoFit/>
          </a:bodyPr>
          <a:lstStyle/>
          <a:p>
            <a:pPr algn="l">
              <a:lnSpc>
                <a:spcPct val="130000"/>
              </a:lnSpc>
            </a:pPr>
            <a:r>
              <a:rPr sz="1800" b="0" i="0">
                <a:solidFill>
                  <a:srgbClr val="333333"/>
                </a:solidFill>
                <a:latin typeface="Liter"/>
              </a:rPr>
              <a:t>Fully shared would mean one metastatic programme and our models were simply weak.</a:t>
            </a:r>
          </a:p>
          <a:p>
            <a:pPr algn="l">
              <a:lnSpc>
                <a:spcPct val="130000"/>
              </a:lnSpc>
            </a:pPr>
            <a:r>
              <a:rPr sz="1800" b="0" i="0">
                <a:solidFill>
                  <a:srgbClr val="333333"/>
                </a:solidFill>
                <a:latin typeface="Liter"/>
              </a:rPr>
              <a:t/>
            </a:r>
          </a:p>
          <a:p>
            <a:pPr algn="l">
              <a:lnSpc>
                <a:spcPct val="130000"/>
              </a:lnSpc>
            </a:pPr>
            <a:r>
              <a:rPr sz="1800" b="0" i="0">
                <a:solidFill>
                  <a:srgbClr val="333333"/>
                </a:solidFill>
                <a:latin typeface="Liter"/>
              </a:rPr>
              <a:t>Partly shared would mean the target itself is site-dependent.</a:t>
            </a:r>
          </a:p>
        </p:txBody>
      </p:sp>
      <p:sp>
        <p:nvSpPr>
          <p:cNvPr id="11" name="Rectangle 10"/>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123444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1752" y="384048"/>
            <a:ext cx="457200" cy="45720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0"/>
            <a:ext cx="14081760" cy="1234440"/>
          </a:xfrm>
          <a:prstGeom prst="rect">
            <a:avLst/>
          </a:prstGeom>
          <a:noFill/>
        </p:spPr>
        <p:txBody>
          <a:bodyPr wrap="square" anchor="ctr">
            <a:spAutoFit/>
          </a:bodyPr>
          <a:lstStyle/>
          <a:p>
            <a:pPr algn="l"/>
            <a:r>
              <a:rPr sz="2500" b="1" i="0">
                <a:solidFill>
                  <a:srgbClr val="FFFFFF"/>
                </a:solidFill>
                <a:latin typeface="Liter"/>
              </a:rPr>
              <a:t>Q4   ONLY ABOUT HALF</a:t>
            </a:r>
          </a:p>
        </p:txBody>
      </p:sp>
      <p:sp>
        <p:nvSpPr>
          <p:cNvPr id="5" name="TextBox 4"/>
          <p:cNvSpPr txBox="1"/>
          <p:nvPr/>
        </p:nvSpPr>
        <p:spPr>
          <a:xfrm>
            <a:off x="685800" y="1371600"/>
            <a:ext cx="14904720" cy="822960"/>
          </a:xfrm>
          <a:prstGeom prst="rect">
            <a:avLst/>
          </a:prstGeom>
          <a:noFill/>
        </p:spPr>
        <p:txBody>
          <a:bodyPr wrap="square" anchor="t">
            <a:spAutoFit/>
          </a:bodyPr>
          <a:lstStyle/>
          <a:p>
            <a:pPr algn="l">
              <a:lnSpc>
                <a:spcPct val="115000"/>
              </a:lnSpc>
            </a:pPr>
            <a:r>
              <a:rPr sz="2100" b="1" i="0">
                <a:solidFill>
                  <a:srgbClr val="2C5F8A"/>
                </a:solidFill>
                <a:latin typeface="Liter"/>
              </a:rPr>
              <a:t>Roughly 55 percent of what changes is shared between the two destinations. The rest is decided by where the tumour landed.</a:t>
            </a:r>
          </a:p>
        </p:txBody>
      </p:sp>
      <p:pic>
        <p:nvPicPr>
          <p:cNvPr id="6" name="Picture 5" descr="s2_half_shared.png"/>
          <p:cNvPicPr>
            <a:picLocks noChangeAspect="1"/>
          </p:cNvPicPr>
          <p:nvPr/>
        </p:nvPicPr>
        <p:blipFill>
          <a:blip r:embed="rId2"/>
          <a:stretch>
            <a:fillRect/>
          </a:stretch>
        </p:blipFill>
        <p:spPr>
          <a:xfrm>
            <a:off x="1619250" y="2240280"/>
            <a:ext cx="13037820" cy="5394960"/>
          </a:xfrm>
          <a:prstGeom prst="rect">
            <a:avLst/>
          </a:prstGeom>
        </p:spPr>
      </p:pic>
      <p:sp>
        <p:nvSpPr>
          <p:cNvPr id="7" name="Rectangle 6"/>
          <p:cNvSpPr/>
          <p:nvPr/>
        </p:nvSpPr>
        <p:spPr>
          <a:xfrm>
            <a:off x="0" y="8138160"/>
            <a:ext cx="16256020" cy="822960"/>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8138160"/>
            <a:ext cx="14904720" cy="822960"/>
          </a:xfrm>
          <a:prstGeom prst="rect">
            <a:avLst/>
          </a:prstGeom>
          <a:noFill/>
        </p:spPr>
        <p:txBody>
          <a:bodyPr wrap="square" anchor="ctr">
            <a:spAutoFit/>
          </a:bodyPr>
          <a:lstStyle/>
          <a:p>
            <a:pPr algn="l"/>
            <a:r>
              <a:rPr sz="1500" b="1" i="0">
                <a:solidFill>
                  <a:srgbClr val="333333"/>
                </a:solidFill>
                <a:latin typeface="Liter"/>
              </a:rPr>
              <a:t>Same patient, same cancer, two destinations, and only half the change is common to both.</a:t>
            </a:r>
          </a:p>
        </p:txBody>
      </p:sp>
      <p:sp>
        <p:nvSpPr>
          <p:cNvPr id="9" name="Rectangle 8"/>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51560" cy="914400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 y="548640"/>
            <a:ext cx="914400" cy="822960"/>
          </a:xfrm>
          <a:prstGeom prst="rect">
            <a:avLst/>
          </a:prstGeom>
          <a:noFill/>
        </p:spPr>
        <p:txBody>
          <a:bodyPr wrap="square" anchor="t">
            <a:spAutoFit/>
          </a:bodyPr>
          <a:lstStyle/>
          <a:p>
            <a:pPr algn="ctr"/>
            <a:r>
              <a:rPr sz="3400" b="1" i="0">
                <a:solidFill>
                  <a:srgbClr val="FFFFFF"/>
                </a:solidFill>
                <a:latin typeface="Liter"/>
              </a:rPr>
              <a:t>Q5</a:t>
            </a:r>
          </a:p>
        </p:txBody>
      </p:sp>
      <p:sp>
        <p:nvSpPr>
          <p:cNvPr id="4" name="TextBox 3"/>
          <p:cNvSpPr txBox="1"/>
          <p:nvPr/>
        </p:nvSpPr>
        <p:spPr>
          <a:xfrm>
            <a:off x="1508760" y="868680"/>
            <a:ext cx="5486400" cy="365760"/>
          </a:xfrm>
          <a:prstGeom prst="rect">
            <a:avLst/>
          </a:prstGeom>
          <a:noFill/>
        </p:spPr>
        <p:txBody>
          <a:bodyPr wrap="square" anchor="t">
            <a:spAutoFit/>
          </a:bodyPr>
          <a:lstStyle/>
          <a:p>
            <a:pPr algn="l"/>
            <a:r>
              <a:rPr sz="1400" b="1" i="0">
                <a:solidFill>
                  <a:srgbClr val="8D8D8D"/>
                </a:solidFill>
                <a:latin typeface="Liter"/>
              </a:rPr>
              <a:t>QUESTION</a:t>
            </a:r>
          </a:p>
        </p:txBody>
      </p:sp>
      <p:sp>
        <p:nvSpPr>
          <p:cNvPr id="5" name="TextBox 4"/>
          <p:cNvSpPr txBox="1"/>
          <p:nvPr/>
        </p:nvSpPr>
        <p:spPr>
          <a:xfrm>
            <a:off x="1508760" y="1371600"/>
            <a:ext cx="13350240" cy="2286000"/>
          </a:xfrm>
          <a:prstGeom prst="rect">
            <a:avLst/>
          </a:prstGeom>
          <a:noFill/>
        </p:spPr>
        <p:txBody>
          <a:bodyPr wrap="square" anchor="t">
            <a:spAutoFit/>
          </a:bodyPr>
          <a:lstStyle/>
          <a:p>
            <a:pPr algn="l">
              <a:lnSpc>
                <a:spcPct val="112000"/>
              </a:lnSpc>
            </a:pPr>
            <a:r>
              <a:rPr sz="3600" b="1" i="0">
                <a:solidFill>
                  <a:srgbClr val="2C5F8A"/>
                </a:solidFill>
                <a:latin typeface="Liter"/>
              </a:rPr>
              <a:t>What is the part that differs?</a:t>
            </a:r>
          </a:p>
        </p:txBody>
      </p:sp>
      <p:sp>
        <p:nvSpPr>
          <p:cNvPr id="6" name="Rectangle 5"/>
          <p:cNvSpPr/>
          <p:nvPr/>
        </p:nvSpPr>
        <p:spPr>
          <a:xfrm>
            <a:off x="1536192" y="3977639"/>
            <a:ext cx="2194560" cy="4572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08760" y="4343400"/>
            <a:ext cx="6400800" cy="365760"/>
          </a:xfrm>
          <a:prstGeom prst="rect">
            <a:avLst/>
          </a:prstGeom>
          <a:noFill/>
        </p:spPr>
        <p:txBody>
          <a:bodyPr wrap="square" anchor="t">
            <a:spAutoFit/>
          </a:bodyPr>
          <a:lstStyle/>
          <a:p>
            <a:pPr algn="l"/>
            <a:r>
              <a:rPr sz="1500" b="1" i="0">
                <a:solidFill>
                  <a:srgbClr val="8D8D8D"/>
                </a:solidFill>
                <a:latin typeface="Liter"/>
              </a:rPr>
              <a:t>Why we are asking</a:t>
            </a:r>
          </a:p>
        </p:txBody>
      </p:sp>
      <p:sp>
        <p:nvSpPr>
          <p:cNvPr id="8" name="TextBox 7"/>
          <p:cNvSpPr txBox="1"/>
          <p:nvPr/>
        </p:nvSpPr>
        <p:spPr>
          <a:xfrm>
            <a:off x="1508760" y="4800600"/>
            <a:ext cx="6400800" cy="2743200"/>
          </a:xfrm>
          <a:prstGeom prst="rect">
            <a:avLst/>
          </a:prstGeom>
          <a:noFill/>
        </p:spPr>
        <p:txBody>
          <a:bodyPr wrap="square" anchor="t">
            <a:spAutoFit/>
          </a:bodyPr>
          <a:lstStyle/>
          <a:p>
            <a:pPr algn="l">
              <a:lnSpc>
                <a:spcPct val="130000"/>
              </a:lnSpc>
            </a:pPr>
            <a:r>
              <a:rPr sz="1800" b="0" i="0">
                <a:solidFill>
                  <a:srgbClr val="333333"/>
                </a:solidFill>
                <a:latin typeface="Liter"/>
              </a:rPr>
              <a:t>If half the programme is site-specific, knowing WHICH half is the clinically useful part. It tells us what the destination is doing to the tumour.</a:t>
            </a:r>
          </a:p>
        </p:txBody>
      </p:sp>
      <p:sp>
        <p:nvSpPr>
          <p:cNvPr id="9" name="TextBox 8"/>
          <p:cNvSpPr txBox="1"/>
          <p:nvPr/>
        </p:nvSpPr>
        <p:spPr>
          <a:xfrm>
            <a:off x="8595360" y="4343400"/>
            <a:ext cx="6400800" cy="365760"/>
          </a:xfrm>
          <a:prstGeom prst="rect">
            <a:avLst/>
          </a:prstGeom>
          <a:noFill/>
        </p:spPr>
        <p:txBody>
          <a:bodyPr wrap="square" anchor="t">
            <a:spAutoFit/>
          </a:bodyPr>
          <a:lstStyle/>
          <a:p>
            <a:pPr algn="l"/>
            <a:r>
              <a:rPr sz="1500" b="1" i="0">
                <a:solidFill>
                  <a:srgbClr val="8D8D8D"/>
                </a:solidFill>
                <a:latin typeface="Liter"/>
              </a:rPr>
              <a:t>What each answer would mean</a:t>
            </a:r>
          </a:p>
        </p:txBody>
      </p:sp>
      <p:sp>
        <p:nvSpPr>
          <p:cNvPr id="10" name="TextBox 9"/>
          <p:cNvSpPr txBox="1"/>
          <p:nvPr/>
        </p:nvSpPr>
        <p:spPr>
          <a:xfrm>
            <a:off x="8595360" y="4800600"/>
            <a:ext cx="6309360" cy="2743200"/>
          </a:xfrm>
          <a:prstGeom prst="rect">
            <a:avLst/>
          </a:prstGeom>
          <a:noFill/>
        </p:spPr>
        <p:txBody>
          <a:bodyPr wrap="square" anchor="t">
            <a:spAutoFit/>
          </a:bodyPr>
          <a:lstStyle/>
          <a:p>
            <a:pPr algn="l">
              <a:lnSpc>
                <a:spcPct val="130000"/>
              </a:lnSpc>
            </a:pPr>
            <a:r>
              <a:rPr sz="1800" b="0" i="0">
                <a:solidFill>
                  <a:srgbClr val="333333"/>
                </a:solidFill>
                <a:latin typeface="Liter"/>
              </a:rPr>
              <a:t>If it is immune, the destination is shaping the immune environment.</a:t>
            </a:r>
          </a:p>
          <a:p>
            <a:pPr algn="l">
              <a:lnSpc>
                <a:spcPct val="130000"/>
              </a:lnSpc>
            </a:pPr>
            <a:r>
              <a:rPr sz="1800" b="0" i="0">
                <a:solidFill>
                  <a:srgbClr val="333333"/>
                </a:solidFill>
                <a:latin typeface="Liter"/>
              </a:rPr>
              <a:t/>
            </a:r>
          </a:p>
          <a:p>
            <a:pPr algn="l">
              <a:lnSpc>
                <a:spcPct val="130000"/>
              </a:lnSpc>
            </a:pPr>
            <a:r>
              <a:rPr sz="1800" b="0" i="0">
                <a:solidFill>
                  <a:srgbClr val="333333"/>
                </a:solidFill>
                <a:latin typeface="Liter"/>
              </a:rPr>
              <a:t>If it is tumour-intrinsic, the tumour is adapting itself.</a:t>
            </a:r>
          </a:p>
        </p:txBody>
      </p:sp>
      <p:sp>
        <p:nvSpPr>
          <p:cNvPr id="11" name="Rectangle 10"/>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123444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1752" y="384048"/>
            <a:ext cx="457200" cy="45720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0"/>
            <a:ext cx="14081760" cy="1234440"/>
          </a:xfrm>
          <a:prstGeom prst="rect">
            <a:avLst/>
          </a:prstGeom>
          <a:noFill/>
        </p:spPr>
        <p:txBody>
          <a:bodyPr wrap="square" anchor="ctr">
            <a:spAutoFit/>
          </a:bodyPr>
          <a:lstStyle/>
          <a:p>
            <a:pPr algn="l"/>
            <a:r>
              <a:rPr sz="2500" b="1" i="0">
                <a:solidFill>
                  <a:srgbClr val="FFFFFF"/>
                </a:solidFill>
                <a:latin typeface="Liter"/>
              </a:rPr>
              <a:t>Q5   IT IS IMMUNE</a:t>
            </a:r>
          </a:p>
        </p:txBody>
      </p:sp>
      <p:sp>
        <p:nvSpPr>
          <p:cNvPr id="5" name="TextBox 4"/>
          <p:cNvSpPr txBox="1"/>
          <p:nvPr/>
        </p:nvSpPr>
        <p:spPr>
          <a:xfrm>
            <a:off x="685800" y="1371600"/>
            <a:ext cx="14904720" cy="822960"/>
          </a:xfrm>
          <a:prstGeom prst="rect">
            <a:avLst/>
          </a:prstGeom>
          <a:noFill/>
        </p:spPr>
        <p:txBody>
          <a:bodyPr wrap="square" anchor="t">
            <a:spAutoFit/>
          </a:bodyPr>
          <a:lstStyle/>
          <a:p>
            <a:pPr algn="l">
              <a:lnSpc>
                <a:spcPct val="115000"/>
              </a:lnSpc>
            </a:pPr>
            <a:r>
              <a:rPr sz="2100" b="1" i="0">
                <a:solidFill>
                  <a:srgbClr val="2C5F8A"/>
                </a:solidFill>
                <a:latin typeface="Liter"/>
              </a:rPr>
              <a:t>B cell content is the one feature that separates the two sites and survives correction. It rose in all four patients measured at both sites.</a:t>
            </a:r>
          </a:p>
        </p:txBody>
      </p:sp>
      <p:pic>
        <p:nvPicPr>
          <p:cNvPr id="6" name="Picture 5" descr="s2b_bcells.png"/>
          <p:cNvPicPr>
            <a:picLocks noChangeAspect="1"/>
          </p:cNvPicPr>
          <p:nvPr/>
        </p:nvPicPr>
        <p:blipFill>
          <a:blip r:embed="rId2"/>
          <a:stretch>
            <a:fillRect/>
          </a:stretch>
        </p:blipFill>
        <p:spPr>
          <a:xfrm>
            <a:off x="1786029" y="2240280"/>
            <a:ext cx="12704260" cy="5394960"/>
          </a:xfrm>
          <a:prstGeom prst="rect">
            <a:avLst/>
          </a:prstGeom>
        </p:spPr>
      </p:pic>
      <p:sp>
        <p:nvSpPr>
          <p:cNvPr id="7" name="Rectangle 6"/>
          <p:cNvSpPr/>
          <p:nvPr/>
        </p:nvSpPr>
        <p:spPr>
          <a:xfrm>
            <a:off x="0" y="8138160"/>
            <a:ext cx="16256020" cy="822960"/>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8138160"/>
            <a:ext cx="14904720" cy="822960"/>
          </a:xfrm>
          <a:prstGeom prst="rect">
            <a:avLst/>
          </a:prstGeom>
          <a:noFill/>
        </p:spPr>
        <p:txBody>
          <a:bodyPr wrap="square" anchor="ctr">
            <a:spAutoFit/>
          </a:bodyPr>
          <a:lstStyle/>
          <a:p>
            <a:pPr algn="l"/>
            <a:r>
              <a:rPr sz="1500" b="1" i="0">
                <a:solidFill>
                  <a:srgbClr val="333333"/>
                </a:solidFill>
                <a:latin typeface="Liter"/>
              </a:rPr>
              <a:t>Effect size 2.0, and with four paired patients what carries the weight is that the direction never reverses.</a:t>
            </a:r>
          </a:p>
        </p:txBody>
      </p:sp>
      <p:sp>
        <p:nvSpPr>
          <p:cNvPr id="9" name="Rectangle 8"/>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105156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0"/>
            <a:ext cx="14081760" cy="1051560"/>
          </a:xfrm>
          <a:prstGeom prst="rect">
            <a:avLst/>
          </a:prstGeom>
          <a:noFill/>
        </p:spPr>
        <p:txBody>
          <a:bodyPr wrap="square" anchor="ctr">
            <a:spAutoFit/>
          </a:bodyPr>
          <a:lstStyle/>
          <a:p>
            <a:pPr algn="l"/>
            <a:r>
              <a:rPr sz="2100" b="1" i="0">
                <a:solidFill>
                  <a:srgbClr val="FFFFFF"/>
                </a:solidFill>
                <a:latin typeface="Liter"/>
              </a:rPr>
              <a:t>Q5   SHOWN ON THE TISSUE</a:t>
            </a:r>
          </a:p>
        </p:txBody>
      </p:sp>
      <p:sp>
        <p:nvSpPr>
          <p:cNvPr id="4" name="Rectangle 3"/>
          <p:cNvSpPr/>
          <p:nvPr/>
        </p:nvSpPr>
        <p:spPr>
          <a:xfrm>
            <a:off x="301752" y="301752"/>
            <a:ext cx="457200" cy="45720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170432"/>
            <a:ext cx="14904720" cy="640080"/>
          </a:xfrm>
          <a:prstGeom prst="rect">
            <a:avLst/>
          </a:prstGeom>
          <a:noFill/>
        </p:spPr>
        <p:txBody>
          <a:bodyPr wrap="square" anchor="t">
            <a:spAutoFit/>
          </a:bodyPr>
          <a:lstStyle/>
          <a:p>
            <a:pPr algn="l"/>
            <a:r>
              <a:rPr sz="1900" b="1" i="0">
                <a:solidFill>
                  <a:srgbClr val="2C5F8A"/>
                </a:solidFill>
                <a:latin typeface="Liter"/>
              </a:rPr>
              <a:t>The most B-cell-rich tissue in a nodal deposit against a liver deposit.</a:t>
            </a:r>
          </a:p>
        </p:txBody>
      </p:sp>
      <p:pic>
        <p:nvPicPr>
          <p:cNvPr id="6" name="Picture 5" descr="q5_grounding.png"/>
          <p:cNvPicPr>
            <a:picLocks noChangeAspect="1"/>
          </p:cNvPicPr>
          <p:nvPr/>
        </p:nvPicPr>
        <p:blipFill>
          <a:blip r:embed="rId2"/>
          <a:stretch>
            <a:fillRect/>
          </a:stretch>
        </p:blipFill>
        <p:spPr>
          <a:xfrm>
            <a:off x="816333" y="1874519"/>
            <a:ext cx="14643652" cy="5943600"/>
          </a:xfrm>
          <a:prstGeom prst="rect">
            <a:avLst/>
          </a:prstGeom>
        </p:spPr>
      </p:pic>
      <p:sp>
        <p:nvSpPr>
          <p:cNvPr id="7" name="Rectangle 6"/>
          <p:cNvSpPr/>
          <p:nvPr/>
        </p:nvSpPr>
        <p:spPr>
          <a:xfrm>
            <a:off x="0" y="8138160"/>
            <a:ext cx="16256020" cy="822960"/>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8138160"/>
            <a:ext cx="14904720" cy="822960"/>
          </a:xfrm>
          <a:prstGeom prst="rect">
            <a:avLst/>
          </a:prstGeom>
          <a:noFill/>
        </p:spPr>
        <p:txBody>
          <a:bodyPr wrap="square" anchor="ctr">
            <a:spAutoFit/>
          </a:bodyPr>
          <a:lstStyle/>
          <a:p>
            <a:pPr algn="l"/>
            <a:r>
              <a:rPr sz="1500" b="1" i="0">
                <a:solidFill>
                  <a:srgbClr val="333333"/>
                </a:solidFill>
                <a:latin typeface="Liter"/>
              </a:rPr>
              <a:t>Small dark lymphocytes crowd the nodal tissue. The liver deposit's best examples are far sparser.</a:t>
            </a:r>
          </a:p>
        </p:txBody>
      </p:sp>
      <p:sp>
        <p:nvSpPr>
          <p:cNvPr id="9" name="Rectangle 8"/>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123444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1752" y="384048"/>
            <a:ext cx="457200" cy="45720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0"/>
            <a:ext cx="14081760" cy="1234440"/>
          </a:xfrm>
          <a:prstGeom prst="rect">
            <a:avLst/>
          </a:prstGeom>
          <a:noFill/>
        </p:spPr>
        <p:txBody>
          <a:bodyPr wrap="square" anchor="ctr">
            <a:spAutoFit/>
          </a:bodyPr>
          <a:lstStyle/>
          <a:p>
            <a:pPr algn="l"/>
            <a:r>
              <a:rPr sz="2500" b="1" i="0">
                <a:solidFill>
                  <a:srgbClr val="FFFFFF"/>
                </a:solidFill>
                <a:latin typeface="Liter"/>
              </a:rPr>
              <a:t>Q5   AND IT IS NOT CONTAMINATION</a:t>
            </a:r>
          </a:p>
        </p:txBody>
      </p:sp>
      <p:sp>
        <p:nvSpPr>
          <p:cNvPr id="5" name="TextBox 4"/>
          <p:cNvSpPr txBox="1"/>
          <p:nvPr/>
        </p:nvSpPr>
        <p:spPr>
          <a:xfrm>
            <a:off x="685800" y="1371600"/>
            <a:ext cx="14904720" cy="822960"/>
          </a:xfrm>
          <a:prstGeom prst="rect">
            <a:avLst/>
          </a:prstGeom>
          <a:noFill/>
        </p:spPr>
        <p:txBody>
          <a:bodyPr wrap="square" anchor="t">
            <a:spAutoFit/>
          </a:bodyPr>
          <a:lstStyle/>
          <a:p>
            <a:pPr algn="l">
              <a:lnSpc>
                <a:spcPct val="115000"/>
              </a:lnSpc>
            </a:pPr>
            <a:r>
              <a:rPr sz="2100" b="1" i="0">
                <a:solidFill>
                  <a:srgbClr val="2C5F8A"/>
                </a:solidFill>
                <a:latin typeface="Liter"/>
              </a:rPr>
              <a:t>As we demand purer tumour, liver contamination falls about eightfold while the immune difference holds at roughly twice.</a:t>
            </a:r>
          </a:p>
        </p:txBody>
      </p:sp>
      <p:pic>
        <p:nvPicPr>
          <p:cNvPr id="6" name="Picture 5" descr="s2c_purity.png"/>
          <p:cNvPicPr>
            <a:picLocks noChangeAspect="1"/>
          </p:cNvPicPr>
          <p:nvPr/>
        </p:nvPicPr>
        <p:blipFill>
          <a:blip r:embed="rId2"/>
          <a:stretch>
            <a:fillRect/>
          </a:stretch>
        </p:blipFill>
        <p:spPr>
          <a:xfrm>
            <a:off x="1574292" y="2240280"/>
            <a:ext cx="13127735" cy="5394960"/>
          </a:xfrm>
          <a:prstGeom prst="rect">
            <a:avLst/>
          </a:prstGeom>
        </p:spPr>
      </p:pic>
      <p:sp>
        <p:nvSpPr>
          <p:cNvPr id="7" name="Rectangle 6"/>
          <p:cNvSpPr/>
          <p:nvPr/>
        </p:nvSpPr>
        <p:spPr>
          <a:xfrm>
            <a:off x="0" y="8138160"/>
            <a:ext cx="16256020" cy="822960"/>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8138160"/>
            <a:ext cx="14904720" cy="822960"/>
          </a:xfrm>
          <a:prstGeom prst="rect">
            <a:avLst/>
          </a:prstGeom>
          <a:noFill/>
        </p:spPr>
        <p:txBody>
          <a:bodyPr wrap="square" anchor="ctr">
            <a:spAutoFit/>
          </a:bodyPr>
          <a:lstStyle/>
          <a:p>
            <a:pPr algn="l"/>
            <a:r>
              <a:rPr sz="1500" b="1" i="0">
                <a:solidFill>
                  <a:srgbClr val="333333"/>
                </a:solidFill>
                <a:latin typeface="Liter"/>
              </a:rPr>
              <a:t>A contamination artefact decays with the contamination. This does not.</a:t>
            </a:r>
          </a:p>
        </p:txBody>
      </p:sp>
      <p:sp>
        <p:nvSpPr>
          <p:cNvPr id="9" name="Rectangle 8"/>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51560" cy="914400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 y="548640"/>
            <a:ext cx="914400" cy="822960"/>
          </a:xfrm>
          <a:prstGeom prst="rect">
            <a:avLst/>
          </a:prstGeom>
          <a:noFill/>
        </p:spPr>
        <p:txBody>
          <a:bodyPr wrap="square" anchor="t">
            <a:spAutoFit/>
          </a:bodyPr>
          <a:lstStyle/>
          <a:p>
            <a:pPr algn="ctr"/>
            <a:r>
              <a:rPr sz="3400" b="1" i="0">
                <a:solidFill>
                  <a:srgbClr val="FFFFFF"/>
                </a:solidFill>
                <a:latin typeface="Liter"/>
              </a:rPr>
              <a:t>Q6</a:t>
            </a:r>
          </a:p>
        </p:txBody>
      </p:sp>
      <p:sp>
        <p:nvSpPr>
          <p:cNvPr id="4" name="TextBox 3"/>
          <p:cNvSpPr txBox="1"/>
          <p:nvPr/>
        </p:nvSpPr>
        <p:spPr>
          <a:xfrm>
            <a:off x="1508760" y="868680"/>
            <a:ext cx="5486400" cy="365760"/>
          </a:xfrm>
          <a:prstGeom prst="rect">
            <a:avLst/>
          </a:prstGeom>
          <a:noFill/>
        </p:spPr>
        <p:txBody>
          <a:bodyPr wrap="square" anchor="t">
            <a:spAutoFit/>
          </a:bodyPr>
          <a:lstStyle/>
          <a:p>
            <a:pPr algn="l"/>
            <a:r>
              <a:rPr sz="1400" b="1" i="0">
                <a:solidFill>
                  <a:srgbClr val="8D8D8D"/>
                </a:solidFill>
                <a:latin typeface="Liter"/>
              </a:rPr>
              <a:t>QUESTION</a:t>
            </a:r>
          </a:p>
        </p:txBody>
      </p:sp>
      <p:sp>
        <p:nvSpPr>
          <p:cNvPr id="5" name="TextBox 4"/>
          <p:cNvSpPr txBox="1"/>
          <p:nvPr/>
        </p:nvSpPr>
        <p:spPr>
          <a:xfrm>
            <a:off x="1508760" y="1371600"/>
            <a:ext cx="13350240" cy="2286000"/>
          </a:xfrm>
          <a:prstGeom prst="rect">
            <a:avLst/>
          </a:prstGeom>
          <a:noFill/>
        </p:spPr>
        <p:txBody>
          <a:bodyPr wrap="square" anchor="t">
            <a:spAutoFit/>
          </a:bodyPr>
          <a:lstStyle/>
          <a:p>
            <a:pPr algn="l">
              <a:lnSpc>
                <a:spcPct val="112000"/>
              </a:lnSpc>
            </a:pPr>
            <a:r>
              <a:rPr sz="3600" b="1" i="0">
                <a:solidFill>
                  <a:srgbClr val="2C5F8A"/>
                </a:solidFill>
                <a:latin typeface="Liter"/>
              </a:rPr>
              <a:t>Does this hold in patients we did not study?</a:t>
            </a:r>
          </a:p>
        </p:txBody>
      </p:sp>
      <p:sp>
        <p:nvSpPr>
          <p:cNvPr id="6" name="Rectangle 5"/>
          <p:cNvSpPr/>
          <p:nvPr/>
        </p:nvSpPr>
        <p:spPr>
          <a:xfrm>
            <a:off x="1536192" y="3977639"/>
            <a:ext cx="2194560" cy="4572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08760" y="4343400"/>
            <a:ext cx="6400800" cy="365760"/>
          </a:xfrm>
          <a:prstGeom prst="rect">
            <a:avLst/>
          </a:prstGeom>
          <a:noFill/>
        </p:spPr>
        <p:txBody>
          <a:bodyPr wrap="square" anchor="t">
            <a:spAutoFit/>
          </a:bodyPr>
          <a:lstStyle/>
          <a:p>
            <a:pPr algn="l"/>
            <a:r>
              <a:rPr sz="1500" b="1" i="0">
                <a:solidFill>
                  <a:srgbClr val="8D8D8D"/>
                </a:solidFill>
                <a:latin typeface="Liter"/>
              </a:rPr>
              <a:t>Why we are asking</a:t>
            </a:r>
          </a:p>
        </p:txBody>
      </p:sp>
      <p:sp>
        <p:nvSpPr>
          <p:cNvPr id="8" name="TextBox 7"/>
          <p:cNvSpPr txBox="1"/>
          <p:nvPr/>
        </p:nvSpPr>
        <p:spPr>
          <a:xfrm>
            <a:off x="1508760" y="4800600"/>
            <a:ext cx="6400800" cy="2743200"/>
          </a:xfrm>
          <a:prstGeom prst="rect">
            <a:avLst/>
          </a:prstGeom>
          <a:noFill/>
        </p:spPr>
        <p:txBody>
          <a:bodyPr wrap="square" anchor="t">
            <a:spAutoFit/>
          </a:bodyPr>
          <a:lstStyle/>
          <a:p>
            <a:pPr algn="l">
              <a:lnSpc>
                <a:spcPct val="130000"/>
              </a:lnSpc>
            </a:pPr>
            <a:r>
              <a:rPr sz="1800" b="0" i="0">
                <a:solidFill>
                  <a:srgbClr val="333333"/>
                </a:solidFill>
                <a:latin typeface="Liter"/>
              </a:rPr>
              <a:t>One small cohort is not enough for a claim this structural, particularly when some of our patients had chemotherapy before sampling.</a:t>
            </a:r>
          </a:p>
        </p:txBody>
      </p:sp>
      <p:sp>
        <p:nvSpPr>
          <p:cNvPr id="9" name="TextBox 8"/>
          <p:cNvSpPr txBox="1"/>
          <p:nvPr/>
        </p:nvSpPr>
        <p:spPr>
          <a:xfrm>
            <a:off x="8595360" y="4343400"/>
            <a:ext cx="6400800" cy="365760"/>
          </a:xfrm>
          <a:prstGeom prst="rect">
            <a:avLst/>
          </a:prstGeom>
          <a:noFill/>
        </p:spPr>
        <p:txBody>
          <a:bodyPr wrap="square" anchor="t">
            <a:spAutoFit/>
          </a:bodyPr>
          <a:lstStyle/>
          <a:p>
            <a:pPr algn="l"/>
            <a:r>
              <a:rPr sz="1500" b="1" i="0">
                <a:solidFill>
                  <a:srgbClr val="8D8D8D"/>
                </a:solidFill>
                <a:latin typeface="Liter"/>
              </a:rPr>
              <a:t>What each answer would mean</a:t>
            </a:r>
          </a:p>
        </p:txBody>
      </p:sp>
      <p:sp>
        <p:nvSpPr>
          <p:cNvPr id="10" name="TextBox 9"/>
          <p:cNvSpPr txBox="1"/>
          <p:nvPr/>
        </p:nvSpPr>
        <p:spPr>
          <a:xfrm>
            <a:off x="8595360" y="4800600"/>
            <a:ext cx="6309360" cy="2743200"/>
          </a:xfrm>
          <a:prstGeom prst="rect">
            <a:avLst/>
          </a:prstGeom>
          <a:noFill/>
        </p:spPr>
        <p:txBody>
          <a:bodyPr wrap="square" anchor="t">
            <a:spAutoFit/>
          </a:bodyPr>
          <a:lstStyle/>
          <a:p>
            <a:pPr algn="l">
              <a:lnSpc>
                <a:spcPct val="130000"/>
              </a:lnSpc>
            </a:pPr>
            <a:r>
              <a:rPr sz="1800" b="0" i="0">
                <a:solidFill>
                  <a:srgbClr val="333333"/>
                </a:solidFill>
                <a:latin typeface="Liter"/>
              </a:rPr>
              <a:t>Replication would make it a finding.</a:t>
            </a:r>
          </a:p>
          <a:p>
            <a:pPr algn="l">
              <a:lnSpc>
                <a:spcPct val="130000"/>
              </a:lnSpc>
            </a:pPr>
            <a:r>
              <a:rPr sz="1800" b="0" i="0">
                <a:solidFill>
                  <a:srgbClr val="333333"/>
                </a:solidFill>
                <a:latin typeface="Liter"/>
              </a:rPr>
              <a:t/>
            </a:r>
          </a:p>
          <a:p>
            <a:pPr algn="l">
              <a:lnSpc>
                <a:spcPct val="130000"/>
              </a:lnSpc>
            </a:pPr>
            <a:r>
              <a:rPr sz="1800" b="0" i="0">
                <a:solidFill>
                  <a:srgbClr val="333333"/>
                </a:solidFill>
                <a:latin typeface="Liter"/>
              </a:rPr>
              <a:t>Failure to replicate would make it a quirk of thirteen people.</a:t>
            </a:r>
          </a:p>
        </p:txBody>
      </p:sp>
      <p:sp>
        <p:nvSpPr>
          <p:cNvPr id="11" name="Rectangle 10"/>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123444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1752" y="384048"/>
            <a:ext cx="457200" cy="45720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0"/>
            <a:ext cx="14081760" cy="1234440"/>
          </a:xfrm>
          <a:prstGeom prst="rect">
            <a:avLst/>
          </a:prstGeom>
          <a:noFill/>
        </p:spPr>
        <p:txBody>
          <a:bodyPr wrap="square" anchor="ctr">
            <a:spAutoFit/>
          </a:bodyPr>
          <a:lstStyle/>
          <a:p>
            <a:pPr algn="l"/>
            <a:r>
              <a:rPr sz="2500" b="1" i="0">
                <a:solidFill>
                  <a:srgbClr val="FFFFFF"/>
                </a:solidFill>
                <a:latin typeface="Liter"/>
              </a:rPr>
              <a:t>Q6   YES, AND MORE STRONGLY</a:t>
            </a:r>
          </a:p>
        </p:txBody>
      </p:sp>
      <p:sp>
        <p:nvSpPr>
          <p:cNvPr id="5" name="TextBox 4"/>
          <p:cNvSpPr txBox="1"/>
          <p:nvPr/>
        </p:nvSpPr>
        <p:spPr>
          <a:xfrm>
            <a:off x="685800" y="1371600"/>
            <a:ext cx="14904720" cy="822960"/>
          </a:xfrm>
          <a:prstGeom prst="rect">
            <a:avLst/>
          </a:prstGeom>
          <a:noFill/>
        </p:spPr>
        <p:txBody>
          <a:bodyPr wrap="square" anchor="t">
            <a:spAutoFit/>
          </a:bodyPr>
          <a:lstStyle/>
          <a:p>
            <a:pPr algn="l">
              <a:lnSpc>
                <a:spcPct val="115000"/>
              </a:lnSpc>
            </a:pPr>
            <a:r>
              <a:rPr sz="2100" b="1" i="0">
                <a:solidFill>
                  <a:srgbClr val="2C5F8A"/>
                </a:solidFill>
                <a:latin typeface="Liter"/>
              </a:rPr>
              <a:t>Liver deposits arrive immune poor and lung deposits immune rich, in a cohort where 5 of 13 patients had no prior chemotherapy.</a:t>
            </a:r>
          </a:p>
        </p:txBody>
      </p:sp>
      <p:pic>
        <p:nvPicPr>
          <p:cNvPr id="6" name="Picture 5" descr="s3_immune_by_site.png"/>
          <p:cNvPicPr>
            <a:picLocks noChangeAspect="1"/>
          </p:cNvPicPr>
          <p:nvPr/>
        </p:nvPicPr>
        <p:blipFill>
          <a:blip r:embed="rId2"/>
          <a:stretch>
            <a:fillRect/>
          </a:stretch>
        </p:blipFill>
        <p:spPr>
          <a:xfrm>
            <a:off x="2153126" y="2240280"/>
            <a:ext cx="11970067" cy="5394960"/>
          </a:xfrm>
          <a:prstGeom prst="rect">
            <a:avLst/>
          </a:prstGeom>
        </p:spPr>
      </p:pic>
      <p:sp>
        <p:nvSpPr>
          <p:cNvPr id="7" name="Rectangle 6"/>
          <p:cNvSpPr/>
          <p:nvPr/>
        </p:nvSpPr>
        <p:spPr>
          <a:xfrm>
            <a:off x="0" y="8138160"/>
            <a:ext cx="16256020" cy="822960"/>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8138160"/>
            <a:ext cx="14904720" cy="822960"/>
          </a:xfrm>
          <a:prstGeom prst="rect">
            <a:avLst/>
          </a:prstGeom>
          <a:noFill/>
        </p:spPr>
        <p:txBody>
          <a:bodyPr wrap="square" anchor="ctr">
            <a:spAutoFit/>
          </a:bodyPr>
          <a:lstStyle/>
          <a:p>
            <a:pPr algn="l"/>
            <a:r>
              <a:rPr sz="1500" b="1" i="0">
                <a:solidFill>
                  <a:srgbClr val="333333"/>
                </a:solidFill>
                <a:latin typeface="Liter"/>
              </a:rPr>
              <a:t>Every immune cell type falls in the liver and rises in the lung. Not some of them, all of them.</a:t>
            </a:r>
          </a:p>
        </p:txBody>
      </p:sp>
      <p:sp>
        <p:nvSpPr>
          <p:cNvPr id="9" name="Rectangle 8"/>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51560" cy="914400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 y="548640"/>
            <a:ext cx="914400" cy="822960"/>
          </a:xfrm>
          <a:prstGeom prst="rect">
            <a:avLst/>
          </a:prstGeom>
          <a:noFill/>
        </p:spPr>
        <p:txBody>
          <a:bodyPr wrap="square" anchor="t">
            <a:spAutoFit/>
          </a:bodyPr>
          <a:lstStyle/>
          <a:p>
            <a:pPr algn="ctr"/>
            <a:r>
              <a:rPr sz="3400" b="1" i="0">
                <a:solidFill>
                  <a:srgbClr val="FFFFFF"/>
                </a:solidFill>
                <a:latin typeface="Liter"/>
              </a:rPr>
              <a:t>Q7</a:t>
            </a:r>
          </a:p>
        </p:txBody>
      </p:sp>
      <p:sp>
        <p:nvSpPr>
          <p:cNvPr id="4" name="TextBox 3"/>
          <p:cNvSpPr txBox="1"/>
          <p:nvPr/>
        </p:nvSpPr>
        <p:spPr>
          <a:xfrm>
            <a:off x="1508760" y="868680"/>
            <a:ext cx="5486400" cy="365760"/>
          </a:xfrm>
          <a:prstGeom prst="rect">
            <a:avLst/>
          </a:prstGeom>
          <a:noFill/>
        </p:spPr>
        <p:txBody>
          <a:bodyPr wrap="square" anchor="t">
            <a:spAutoFit/>
          </a:bodyPr>
          <a:lstStyle/>
          <a:p>
            <a:pPr algn="l"/>
            <a:r>
              <a:rPr sz="1400" b="1" i="0">
                <a:solidFill>
                  <a:srgbClr val="8D8D8D"/>
                </a:solidFill>
                <a:latin typeface="Liter"/>
              </a:rPr>
              <a:t>QUESTION</a:t>
            </a:r>
          </a:p>
        </p:txBody>
      </p:sp>
      <p:sp>
        <p:nvSpPr>
          <p:cNvPr id="5" name="TextBox 4"/>
          <p:cNvSpPr txBox="1"/>
          <p:nvPr/>
        </p:nvSpPr>
        <p:spPr>
          <a:xfrm>
            <a:off x="1508760" y="1371600"/>
            <a:ext cx="13350240" cy="2286000"/>
          </a:xfrm>
          <a:prstGeom prst="rect">
            <a:avLst/>
          </a:prstGeom>
          <a:noFill/>
        </p:spPr>
        <p:txBody>
          <a:bodyPr wrap="square" anchor="t">
            <a:spAutoFit/>
          </a:bodyPr>
          <a:lstStyle/>
          <a:p>
            <a:pPr algn="l">
              <a:lnSpc>
                <a:spcPct val="112000"/>
              </a:lnSpc>
            </a:pPr>
            <a:r>
              <a:rPr sz="3600" b="1" i="0">
                <a:solidFill>
                  <a:srgbClr val="2C5F8A"/>
                </a:solidFill>
                <a:latin typeface="Liter"/>
              </a:rPr>
              <a:t>Is this only about pancreas, or about tissue in general?</a:t>
            </a:r>
          </a:p>
        </p:txBody>
      </p:sp>
      <p:sp>
        <p:nvSpPr>
          <p:cNvPr id="6" name="Rectangle 5"/>
          <p:cNvSpPr/>
          <p:nvPr/>
        </p:nvSpPr>
        <p:spPr>
          <a:xfrm>
            <a:off x="1536192" y="3977639"/>
            <a:ext cx="2194560" cy="4572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08760" y="4343400"/>
            <a:ext cx="6400800" cy="365760"/>
          </a:xfrm>
          <a:prstGeom prst="rect">
            <a:avLst/>
          </a:prstGeom>
          <a:noFill/>
        </p:spPr>
        <p:txBody>
          <a:bodyPr wrap="square" anchor="t">
            <a:spAutoFit/>
          </a:bodyPr>
          <a:lstStyle/>
          <a:p>
            <a:pPr algn="l"/>
            <a:r>
              <a:rPr sz="1500" b="1" i="0">
                <a:solidFill>
                  <a:srgbClr val="8D8D8D"/>
                </a:solidFill>
                <a:latin typeface="Liter"/>
              </a:rPr>
              <a:t>Why we are asking</a:t>
            </a:r>
          </a:p>
        </p:txBody>
      </p:sp>
      <p:sp>
        <p:nvSpPr>
          <p:cNvPr id="8" name="TextBox 7"/>
          <p:cNvSpPr txBox="1"/>
          <p:nvPr/>
        </p:nvSpPr>
        <p:spPr>
          <a:xfrm>
            <a:off x="1508760" y="4800600"/>
            <a:ext cx="6400800" cy="2743200"/>
          </a:xfrm>
          <a:prstGeom prst="rect">
            <a:avLst/>
          </a:prstGeom>
          <a:noFill/>
        </p:spPr>
        <p:txBody>
          <a:bodyPr wrap="square" anchor="t">
            <a:spAutoFit/>
          </a:bodyPr>
          <a:lstStyle/>
          <a:p>
            <a:pPr algn="l">
              <a:lnSpc>
                <a:spcPct val="130000"/>
              </a:lnSpc>
            </a:pPr>
            <a:r>
              <a:rPr sz="1800" b="0" i="0">
                <a:solidFill>
                  <a:srgbClr val="333333"/>
                </a:solidFill>
                <a:latin typeface="Liter"/>
              </a:rPr>
              <a:t>If tissue context really governs what a slide can say about expression, the effect should appear outside pancreatic cancer entirely.</a:t>
            </a:r>
          </a:p>
        </p:txBody>
      </p:sp>
      <p:sp>
        <p:nvSpPr>
          <p:cNvPr id="9" name="TextBox 8"/>
          <p:cNvSpPr txBox="1"/>
          <p:nvPr/>
        </p:nvSpPr>
        <p:spPr>
          <a:xfrm>
            <a:off x="8595360" y="4343400"/>
            <a:ext cx="6400800" cy="365760"/>
          </a:xfrm>
          <a:prstGeom prst="rect">
            <a:avLst/>
          </a:prstGeom>
          <a:noFill/>
        </p:spPr>
        <p:txBody>
          <a:bodyPr wrap="square" anchor="t">
            <a:spAutoFit/>
          </a:bodyPr>
          <a:lstStyle/>
          <a:p>
            <a:pPr algn="l"/>
            <a:r>
              <a:rPr sz="1500" b="1" i="0">
                <a:solidFill>
                  <a:srgbClr val="8D8D8D"/>
                </a:solidFill>
                <a:latin typeface="Liter"/>
              </a:rPr>
              <a:t>What each answer would mean</a:t>
            </a:r>
          </a:p>
        </p:txBody>
      </p:sp>
      <p:sp>
        <p:nvSpPr>
          <p:cNvPr id="10" name="TextBox 9"/>
          <p:cNvSpPr txBox="1"/>
          <p:nvPr/>
        </p:nvSpPr>
        <p:spPr>
          <a:xfrm>
            <a:off x="8595360" y="4800600"/>
            <a:ext cx="6309360" cy="2743200"/>
          </a:xfrm>
          <a:prstGeom prst="rect">
            <a:avLst/>
          </a:prstGeom>
          <a:noFill/>
        </p:spPr>
        <p:txBody>
          <a:bodyPr wrap="square" anchor="t">
            <a:spAutoFit/>
          </a:bodyPr>
          <a:lstStyle/>
          <a:p>
            <a:pPr algn="l">
              <a:lnSpc>
                <a:spcPct val="130000"/>
              </a:lnSpc>
            </a:pPr>
            <a:r>
              <a:rPr sz="1800" b="0" i="0">
                <a:solidFill>
                  <a:srgbClr val="333333"/>
                </a:solidFill>
                <a:latin typeface="Liter"/>
              </a:rPr>
              <a:t>A prediction made BEFORE looking: an image model should fail to cross organs.</a:t>
            </a:r>
          </a:p>
          <a:p>
            <a:pPr algn="l">
              <a:lnSpc>
                <a:spcPct val="130000"/>
              </a:lnSpc>
            </a:pPr>
            <a:r>
              <a:rPr sz="1800" b="0" i="0">
                <a:solidFill>
                  <a:srgbClr val="333333"/>
                </a:solidFill>
                <a:latin typeface="Liter"/>
              </a:rPr>
              <a:t/>
            </a:r>
          </a:p>
          <a:p>
            <a:pPr algn="l">
              <a:lnSpc>
                <a:spcPct val="130000"/>
              </a:lnSpc>
            </a:pPr>
            <a:r>
              <a:rPr sz="1800" b="0" i="0">
                <a:solidFill>
                  <a:srgbClr val="333333"/>
                </a:solidFill>
                <a:latin typeface="Liter"/>
              </a:rPr>
              <a:t>If it crosses fine, our interpretation is wrong.</a:t>
            </a:r>
          </a:p>
        </p:txBody>
      </p:sp>
      <p:sp>
        <p:nvSpPr>
          <p:cNvPr id="11" name="Rectangle 10"/>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123444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1752" y="384048"/>
            <a:ext cx="457200" cy="45720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0"/>
            <a:ext cx="14081760" cy="1234440"/>
          </a:xfrm>
          <a:prstGeom prst="rect">
            <a:avLst/>
          </a:prstGeom>
          <a:noFill/>
        </p:spPr>
        <p:txBody>
          <a:bodyPr wrap="square" anchor="ctr">
            <a:spAutoFit/>
          </a:bodyPr>
          <a:lstStyle/>
          <a:p>
            <a:pPr algn="l"/>
            <a:r>
              <a:rPr sz="2500" b="1" i="0">
                <a:solidFill>
                  <a:srgbClr val="FFFFFF"/>
                </a:solidFill>
                <a:latin typeface="Liter"/>
              </a:rPr>
              <a:t>Q7   IT IS GENERAL</a:t>
            </a:r>
          </a:p>
        </p:txBody>
      </p:sp>
      <p:sp>
        <p:nvSpPr>
          <p:cNvPr id="5" name="TextBox 4"/>
          <p:cNvSpPr txBox="1"/>
          <p:nvPr/>
        </p:nvSpPr>
        <p:spPr>
          <a:xfrm>
            <a:off x="685800" y="1371600"/>
            <a:ext cx="14904720" cy="822960"/>
          </a:xfrm>
          <a:prstGeom prst="rect">
            <a:avLst/>
          </a:prstGeom>
          <a:noFill/>
        </p:spPr>
        <p:txBody>
          <a:bodyPr wrap="square" anchor="t">
            <a:spAutoFit/>
          </a:bodyPr>
          <a:lstStyle/>
          <a:p>
            <a:pPr algn="l">
              <a:lnSpc>
                <a:spcPct val="115000"/>
              </a:lnSpc>
            </a:pPr>
            <a:r>
              <a:rPr sz="2100" b="1" i="0">
                <a:solidFill>
                  <a:srgbClr val="2C5F8A"/>
                </a:solidFill>
                <a:latin typeface="Liter"/>
              </a:rPr>
              <a:t>Across 156 sections and 7 organs, changing laboratory costs 15 percent. Changing organ costs a further 37 percent.</a:t>
            </a:r>
          </a:p>
        </p:txBody>
      </p:sp>
      <p:pic>
        <p:nvPicPr>
          <p:cNvPr id="6" name="Picture 5" descr="s4_cross_organ.png"/>
          <p:cNvPicPr>
            <a:picLocks noChangeAspect="1"/>
          </p:cNvPicPr>
          <p:nvPr/>
        </p:nvPicPr>
        <p:blipFill>
          <a:blip r:embed="rId2"/>
          <a:stretch>
            <a:fillRect/>
          </a:stretch>
        </p:blipFill>
        <p:spPr>
          <a:xfrm>
            <a:off x="2237422" y="2240280"/>
            <a:ext cx="11801475" cy="5394960"/>
          </a:xfrm>
          <a:prstGeom prst="rect">
            <a:avLst/>
          </a:prstGeom>
        </p:spPr>
      </p:pic>
      <p:sp>
        <p:nvSpPr>
          <p:cNvPr id="7" name="Rectangle 6"/>
          <p:cNvSpPr/>
          <p:nvPr/>
        </p:nvSpPr>
        <p:spPr>
          <a:xfrm>
            <a:off x="0" y="8138160"/>
            <a:ext cx="16256020" cy="822960"/>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8138160"/>
            <a:ext cx="14904720" cy="822960"/>
          </a:xfrm>
          <a:prstGeom prst="rect">
            <a:avLst/>
          </a:prstGeom>
          <a:noFill/>
        </p:spPr>
        <p:txBody>
          <a:bodyPr wrap="square" anchor="ctr">
            <a:spAutoFit/>
          </a:bodyPr>
          <a:lstStyle/>
          <a:p>
            <a:pPr algn="l"/>
            <a:r>
              <a:rPr sz="1500" b="1" i="0">
                <a:solidFill>
                  <a:srgbClr val="333333"/>
                </a:solidFill>
                <a:latin typeface="Liter"/>
              </a:rPr>
              <a:t>The middle bar is the control: the loss is tissue biology, not a different hospital or scanner.</a:t>
            </a:r>
          </a:p>
        </p:txBody>
      </p:sp>
      <p:sp>
        <p:nvSpPr>
          <p:cNvPr id="9" name="Rectangle 8"/>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9144000"/>
          </a:xfrm>
          <a:prstGeom prst="rect">
            <a:avLst/>
          </a:prstGeom>
          <a:solidFill>
            <a:srgbClr val="1E4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0" y="3657600"/>
            <a:ext cx="54864" cy="173736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00200" y="3566160"/>
            <a:ext cx="13258800" cy="1920240"/>
          </a:xfrm>
          <a:prstGeom prst="rect">
            <a:avLst/>
          </a:prstGeom>
          <a:noFill/>
        </p:spPr>
        <p:txBody>
          <a:bodyPr wrap="square" anchor="t">
            <a:spAutoFit/>
          </a:bodyPr>
          <a:lstStyle/>
          <a:p>
            <a:pPr algn="l">
              <a:lnSpc>
                <a:spcPct val="115000"/>
              </a:lnSpc>
            </a:pPr>
            <a:r>
              <a:rPr sz="3400" b="1" i="0">
                <a:solidFill>
                  <a:srgbClr val="FFFFFF"/>
                </a:solidFill>
                <a:latin typeface="Liter"/>
              </a:rPr>
              <a:t>Part four: so what IS a slide good for?</a:t>
            </a:r>
          </a:p>
        </p:txBody>
      </p:sp>
      <p:sp>
        <p:nvSpPr>
          <p:cNvPr id="5" name="TextBox 4"/>
          <p:cNvSpPr txBox="1"/>
          <p:nvPr/>
        </p:nvSpPr>
        <p:spPr>
          <a:xfrm>
            <a:off x="1600200" y="5669280"/>
            <a:ext cx="12984480" cy="1097280"/>
          </a:xfrm>
          <a:prstGeom prst="rect">
            <a:avLst/>
          </a:prstGeom>
          <a:noFill/>
        </p:spPr>
        <p:txBody>
          <a:bodyPr wrap="square" anchor="t">
            <a:spAutoFit/>
          </a:bodyPr>
          <a:lstStyle/>
          <a:p>
            <a:pPr algn="l">
              <a:lnSpc>
                <a:spcPct val="130000"/>
              </a:lnSpc>
            </a:pPr>
            <a:r>
              <a:rPr sz="1900" b="0" i="0">
                <a:solidFill>
                  <a:srgbClr val="D9E8F5"/>
                </a:solidFill>
                <a:latin typeface="Liter"/>
              </a:rPr>
              <a:t>It cannot read metastasis. That does not mean it reads nothing.</a:t>
            </a:r>
          </a:p>
        </p:txBody>
      </p:sp>
      <p:sp>
        <p:nvSpPr>
          <p:cNvPr id="6" name="Rectangle 5"/>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51560" cy="914400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 y="548640"/>
            <a:ext cx="914400" cy="822960"/>
          </a:xfrm>
          <a:prstGeom prst="rect">
            <a:avLst/>
          </a:prstGeom>
          <a:noFill/>
        </p:spPr>
        <p:txBody>
          <a:bodyPr wrap="square" anchor="t">
            <a:spAutoFit/>
          </a:bodyPr>
          <a:lstStyle/>
          <a:p>
            <a:pPr algn="ctr"/>
            <a:r>
              <a:rPr sz="3400" b="1" i="0">
                <a:solidFill>
                  <a:srgbClr val="FFFFFF"/>
                </a:solidFill>
                <a:latin typeface="Liter"/>
              </a:rPr>
              <a:t>Q8</a:t>
            </a:r>
          </a:p>
        </p:txBody>
      </p:sp>
      <p:sp>
        <p:nvSpPr>
          <p:cNvPr id="4" name="TextBox 3"/>
          <p:cNvSpPr txBox="1"/>
          <p:nvPr/>
        </p:nvSpPr>
        <p:spPr>
          <a:xfrm>
            <a:off x="1508760" y="868680"/>
            <a:ext cx="5486400" cy="365760"/>
          </a:xfrm>
          <a:prstGeom prst="rect">
            <a:avLst/>
          </a:prstGeom>
          <a:noFill/>
        </p:spPr>
        <p:txBody>
          <a:bodyPr wrap="square" anchor="t">
            <a:spAutoFit/>
          </a:bodyPr>
          <a:lstStyle/>
          <a:p>
            <a:pPr algn="l"/>
            <a:r>
              <a:rPr sz="1400" b="1" i="0">
                <a:solidFill>
                  <a:srgbClr val="8D8D8D"/>
                </a:solidFill>
                <a:latin typeface="Liter"/>
              </a:rPr>
              <a:t>QUESTION</a:t>
            </a:r>
          </a:p>
        </p:txBody>
      </p:sp>
      <p:sp>
        <p:nvSpPr>
          <p:cNvPr id="5" name="TextBox 4"/>
          <p:cNvSpPr txBox="1"/>
          <p:nvPr/>
        </p:nvSpPr>
        <p:spPr>
          <a:xfrm>
            <a:off x="1508760" y="1371600"/>
            <a:ext cx="13350240" cy="2286000"/>
          </a:xfrm>
          <a:prstGeom prst="rect">
            <a:avLst/>
          </a:prstGeom>
          <a:noFill/>
        </p:spPr>
        <p:txBody>
          <a:bodyPr wrap="square" anchor="t">
            <a:spAutoFit/>
          </a:bodyPr>
          <a:lstStyle/>
          <a:p>
            <a:pPr algn="l">
              <a:lnSpc>
                <a:spcPct val="112000"/>
              </a:lnSpc>
            </a:pPr>
            <a:r>
              <a:rPr sz="3600" b="1" i="0">
                <a:solidFill>
                  <a:srgbClr val="2C5F8A"/>
                </a:solidFill>
                <a:latin typeface="Liter"/>
              </a:rPr>
              <a:t>What can a slide read, if not metastasis?</a:t>
            </a:r>
          </a:p>
        </p:txBody>
      </p:sp>
      <p:sp>
        <p:nvSpPr>
          <p:cNvPr id="6" name="Rectangle 5"/>
          <p:cNvSpPr/>
          <p:nvPr/>
        </p:nvSpPr>
        <p:spPr>
          <a:xfrm>
            <a:off x="1536192" y="3977639"/>
            <a:ext cx="2194560" cy="4572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08760" y="4343400"/>
            <a:ext cx="6400800" cy="365760"/>
          </a:xfrm>
          <a:prstGeom prst="rect">
            <a:avLst/>
          </a:prstGeom>
          <a:noFill/>
        </p:spPr>
        <p:txBody>
          <a:bodyPr wrap="square" anchor="t">
            <a:spAutoFit/>
          </a:bodyPr>
          <a:lstStyle/>
          <a:p>
            <a:pPr algn="l"/>
            <a:r>
              <a:rPr sz="1500" b="1" i="0">
                <a:solidFill>
                  <a:srgbClr val="8D8D8D"/>
                </a:solidFill>
                <a:latin typeface="Liter"/>
              </a:rPr>
              <a:t>Why we are asking</a:t>
            </a:r>
          </a:p>
        </p:txBody>
      </p:sp>
      <p:sp>
        <p:nvSpPr>
          <p:cNvPr id="8" name="TextBox 7"/>
          <p:cNvSpPr txBox="1"/>
          <p:nvPr/>
        </p:nvSpPr>
        <p:spPr>
          <a:xfrm>
            <a:off x="1508760" y="4800600"/>
            <a:ext cx="6400800" cy="2743200"/>
          </a:xfrm>
          <a:prstGeom prst="rect">
            <a:avLst/>
          </a:prstGeom>
          <a:noFill/>
        </p:spPr>
        <p:txBody>
          <a:bodyPr wrap="square" anchor="t">
            <a:spAutoFit/>
          </a:bodyPr>
          <a:lstStyle/>
          <a:p>
            <a:pPr algn="l">
              <a:lnSpc>
                <a:spcPct val="130000"/>
              </a:lnSpc>
            </a:pPr>
            <a:r>
              <a:rPr sz="1800" b="0" i="0">
                <a:solidFill>
                  <a:srgbClr val="333333"/>
                </a:solidFill>
                <a:latin typeface="Liter"/>
              </a:rPr>
              <a:t>The image clearly carries information. Rather than assume what it sees, we asked it to predict 42 different measured quantities and let the data say.</a:t>
            </a:r>
          </a:p>
        </p:txBody>
      </p:sp>
      <p:sp>
        <p:nvSpPr>
          <p:cNvPr id="9" name="TextBox 8"/>
          <p:cNvSpPr txBox="1"/>
          <p:nvPr/>
        </p:nvSpPr>
        <p:spPr>
          <a:xfrm>
            <a:off x="8595360" y="4343400"/>
            <a:ext cx="6400800" cy="365760"/>
          </a:xfrm>
          <a:prstGeom prst="rect">
            <a:avLst/>
          </a:prstGeom>
          <a:noFill/>
        </p:spPr>
        <p:txBody>
          <a:bodyPr wrap="square" anchor="t">
            <a:spAutoFit/>
          </a:bodyPr>
          <a:lstStyle/>
          <a:p>
            <a:pPr algn="l"/>
            <a:r>
              <a:rPr sz="1500" b="1" i="0">
                <a:solidFill>
                  <a:srgbClr val="8D8D8D"/>
                </a:solidFill>
                <a:latin typeface="Liter"/>
              </a:rPr>
              <a:t>What each answer would mean</a:t>
            </a:r>
          </a:p>
        </p:txBody>
      </p:sp>
      <p:sp>
        <p:nvSpPr>
          <p:cNvPr id="10" name="TextBox 9"/>
          <p:cNvSpPr txBox="1"/>
          <p:nvPr/>
        </p:nvSpPr>
        <p:spPr>
          <a:xfrm>
            <a:off x="8595360" y="4800600"/>
            <a:ext cx="6309360" cy="2743200"/>
          </a:xfrm>
          <a:prstGeom prst="rect">
            <a:avLst/>
          </a:prstGeom>
          <a:noFill/>
        </p:spPr>
        <p:txBody>
          <a:bodyPr wrap="square" anchor="t">
            <a:spAutoFit/>
          </a:bodyPr>
          <a:lstStyle/>
          <a:p>
            <a:pPr algn="l">
              <a:lnSpc>
                <a:spcPct val="130000"/>
              </a:lnSpc>
            </a:pPr>
            <a:r>
              <a:rPr sz="1800" b="0" i="0">
                <a:solidFill>
                  <a:srgbClr val="333333"/>
                </a:solidFill>
                <a:latin typeface="Liter"/>
              </a:rPr>
              <a:t>Anything scoring well AFTER removing tumour amount is genuinely readable.</a:t>
            </a:r>
          </a:p>
          <a:p>
            <a:pPr algn="l">
              <a:lnSpc>
                <a:spcPct val="130000"/>
              </a:lnSpc>
            </a:pPr>
            <a:r>
              <a:rPr sz="1800" b="0" i="0">
                <a:solidFill>
                  <a:srgbClr val="333333"/>
                </a:solidFill>
                <a:latin typeface="Liter"/>
              </a:rPr>
              <a:t/>
            </a:r>
          </a:p>
          <a:p>
            <a:pPr algn="l">
              <a:lnSpc>
                <a:spcPct val="130000"/>
              </a:lnSpc>
            </a:pPr>
            <a:r>
              <a:rPr sz="1800" b="0" i="0">
                <a:solidFill>
                  <a:srgbClr val="333333"/>
                </a:solidFill>
                <a:latin typeface="Liter"/>
              </a:rPr>
              <a:t>Anything that only tracks tumour amount is not a new capability.</a:t>
            </a:r>
          </a:p>
        </p:txBody>
      </p:sp>
      <p:sp>
        <p:nvSpPr>
          <p:cNvPr id="11" name="Rectangle 10"/>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123444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1752" y="384048"/>
            <a:ext cx="457200" cy="45720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0"/>
            <a:ext cx="14081760" cy="1234440"/>
          </a:xfrm>
          <a:prstGeom prst="rect">
            <a:avLst/>
          </a:prstGeom>
          <a:noFill/>
        </p:spPr>
        <p:txBody>
          <a:bodyPr wrap="square" anchor="ctr">
            <a:spAutoFit/>
          </a:bodyPr>
          <a:lstStyle/>
          <a:p>
            <a:pPr algn="l"/>
            <a:r>
              <a:rPr sz="2500" b="1" i="0">
                <a:solidFill>
                  <a:srgbClr val="FFFFFF"/>
                </a:solidFill>
                <a:latin typeface="Liter"/>
              </a:rPr>
              <a:t>Q8   FIBROBLASTS, VERY WELL</a:t>
            </a:r>
          </a:p>
        </p:txBody>
      </p:sp>
      <p:sp>
        <p:nvSpPr>
          <p:cNvPr id="5" name="TextBox 4"/>
          <p:cNvSpPr txBox="1"/>
          <p:nvPr/>
        </p:nvSpPr>
        <p:spPr>
          <a:xfrm>
            <a:off x="685800" y="1371600"/>
            <a:ext cx="14904720" cy="822960"/>
          </a:xfrm>
          <a:prstGeom prst="rect">
            <a:avLst/>
          </a:prstGeom>
          <a:noFill/>
        </p:spPr>
        <p:txBody>
          <a:bodyPr wrap="square" anchor="t">
            <a:spAutoFit/>
          </a:bodyPr>
          <a:lstStyle/>
          <a:p>
            <a:pPr algn="l">
              <a:lnSpc>
                <a:spcPct val="115000"/>
              </a:lnSpc>
            </a:pPr>
            <a:r>
              <a:rPr sz="2100" b="1" i="0">
                <a:solidFill>
                  <a:srgbClr val="2C5F8A"/>
                </a:solidFill>
                <a:latin typeface="Liter"/>
              </a:rPr>
              <a:t>Myofibroblastic CAF content reaches 0.77, and 0.74 even after removing everything explained by how much tumour is present.</a:t>
            </a:r>
          </a:p>
        </p:txBody>
      </p:sp>
      <p:pic>
        <p:nvPicPr>
          <p:cNvPr id="6" name="Picture 5" descr="q8_what_he_reads.png"/>
          <p:cNvPicPr>
            <a:picLocks noChangeAspect="1"/>
          </p:cNvPicPr>
          <p:nvPr/>
        </p:nvPicPr>
        <p:blipFill>
          <a:blip r:embed="rId2"/>
          <a:stretch>
            <a:fillRect/>
          </a:stretch>
        </p:blipFill>
        <p:spPr>
          <a:xfrm>
            <a:off x="2535504" y="2240280"/>
            <a:ext cx="11205311" cy="5394960"/>
          </a:xfrm>
          <a:prstGeom prst="rect">
            <a:avLst/>
          </a:prstGeom>
        </p:spPr>
      </p:pic>
      <p:sp>
        <p:nvSpPr>
          <p:cNvPr id="7" name="Rectangle 6"/>
          <p:cNvSpPr/>
          <p:nvPr/>
        </p:nvSpPr>
        <p:spPr>
          <a:xfrm>
            <a:off x="0" y="8138160"/>
            <a:ext cx="16256020" cy="822960"/>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8138160"/>
            <a:ext cx="14904720" cy="822960"/>
          </a:xfrm>
          <a:prstGeom prst="rect">
            <a:avLst/>
          </a:prstGeom>
          <a:noFill/>
        </p:spPr>
        <p:txBody>
          <a:bodyPr wrap="square" anchor="ctr">
            <a:spAutoFit/>
          </a:bodyPr>
          <a:lstStyle/>
          <a:p>
            <a:pPr algn="l"/>
            <a:r>
              <a:rPr sz="1500" b="1" i="0">
                <a:solidFill>
                  <a:srgbClr val="333333"/>
                </a:solidFill>
                <a:latin typeface="Liter"/>
              </a:rPr>
              <a:t>This is not the old 'H&amp;E only sees tumour abundance' result. Fibroblast content is read independently, and B cell content partly so.</a:t>
            </a:r>
          </a:p>
        </p:txBody>
      </p:sp>
      <p:sp>
        <p:nvSpPr>
          <p:cNvPr id="9" name="Rectangle 8"/>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105156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0"/>
            <a:ext cx="14081760" cy="1051560"/>
          </a:xfrm>
          <a:prstGeom prst="rect">
            <a:avLst/>
          </a:prstGeom>
          <a:noFill/>
        </p:spPr>
        <p:txBody>
          <a:bodyPr wrap="square" anchor="ctr">
            <a:spAutoFit/>
          </a:bodyPr>
          <a:lstStyle/>
          <a:p>
            <a:pPr algn="l"/>
            <a:r>
              <a:rPr sz="2100" b="1" i="0">
                <a:solidFill>
                  <a:srgbClr val="FFFFFF"/>
                </a:solidFill>
                <a:latin typeface="Liter"/>
              </a:rPr>
              <a:t>Q8   SHOWN ON THE TISSUE</a:t>
            </a:r>
          </a:p>
        </p:txBody>
      </p:sp>
      <p:sp>
        <p:nvSpPr>
          <p:cNvPr id="4" name="Rectangle 3"/>
          <p:cNvSpPr/>
          <p:nvPr/>
        </p:nvSpPr>
        <p:spPr>
          <a:xfrm>
            <a:off x="301752" y="301752"/>
            <a:ext cx="457200" cy="45720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170432"/>
            <a:ext cx="14904720" cy="640080"/>
          </a:xfrm>
          <a:prstGeom prst="rect">
            <a:avLst/>
          </a:prstGeom>
          <a:noFill/>
        </p:spPr>
        <p:txBody>
          <a:bodyPr wrap="square" anchor="t">
            <a:spAutoFit/>
          </a:bodyPr>
          <a:lstStyle/>
          <a:p>
            <a:pPr algn="l"/>
            <a:r>
              <a:rPr sz="1900" b="1" i="0">
                <a:solidFill>
                  <a:srgbClr val="2C5F8A"/>
                </a:solidFill>
                <a:latin typeface="Liter"/>
              </a:rPr>
              <a:t>Fibroblast content predicted from the slide, and the tissue at those exact spots.</a:t>
            </a:r>
          </a:p>
        </p:txBody>
      </p:sp>
      <p:pic>
        <p:nvPicPr>
          <p:cNvPr id="6" name="Picture 5" descr="q8_grounding_myCAF.png"/>
          <p:cNvPicPr>
            <a:picLocks noChangeAspect="1"/>
          </p:cNvPicPr>
          <p:nvPr/>
        </p:nvPicPr>
        <p:blipFill>
          <a:blip r:embed="rId2"/>
          <a:stretch>
            <a:fillRect/>
          </a:stretch>
        </p:blipFill>
        <p:spPr>
          <a:xfrm>
            <a:off x="1294014" y="1874519"/>
            <a:ext cx="13688290" cy="5943600"/>
          </a:xfrm>
          <a:prstGeom prst="rect">
            <a:avLst/>
          </a:prstGeom>
        </p:spPr>
      </p:pic>
      <p:sp>
        <p:nvSpPr>
          <p:cNvPr id="7" name="Rectangle 6"/>
          <p:cNvSpPr/>
          <p:nvPr/>
        </p:nvSpPr>
        <p:spPr>
          <a:xfrm>
            <a:off x="0" y="8138160"/>
            <a:ext cx="16256020" cy="822960"/>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8138160"/>
            <a:ext cx="14904720" cy="822960"/>
          </a:xfrm>
          <a:prstGeom prst="rect">
            <a:avLst/>
          </a:prstGeom>
          <a:noFill/>
        </p:spPr>
        <p:txBody>
          <a:bodyPr wrap="square" anchor="ctr">
            <a:spAutoFit/>
          </a:bodyPr>
          <a:lstStyle/>
          <a:p>
            <a:pPr algn="l"/>
            <a:r>
              <a:rPr sz="1500" b="1" i="0">
                <a:solidFill>
                  <a:srgbClr val="333333"/>
                </a:solidFill>
                <a:latin typeface="Liter"/>
              </a:rPr>
              <a:t>Six locations ordered by what the model predicted. The tissue goes from cellular tumour to dense fibrous stroma.</a:t>
            </a:r>
          </a:p>
        </p:txBody>
      </p:sp>
      <p:sp>
        <p:nvSpPr>
          <p:cNvPr id="9" name="Rectangle 8"/>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51560" cy="914400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 y="548640"/>
            <a:ext cx="914400" cy="822960"/>
          </a:xfrm>
          <a:prstGeom prst="rect">
            <a:avLst/>
          </a:prstGeom>
          <a:noFill/>
        </p:spPr>
        <p:txBody>
          <a:bodyPr wrap="square" anchor="t">
            <a:spAutoFit/>
          </a:bodyPr>
          <a:lstStyle/>
          <a:p>
            <a:pPr algn="ctr"/>
            <a:r>
              <a:rPr sz="3400" b="1" i="0">
                <a:solidFill>
                  <a:srgbClr val="FFFFFF"/>
                </a:solidFill>
                <a:latin typeface="Liter"/>
              </a:rPr>
              <a:t>Q9</a:t>
            </a:r>
          </a:p>
        </p:txBody>
      </p:sp>
      <p:sp>
        <p:nvSpPr>
          <p:cNvPr id="4" name="TextBox 3"/>
          <p:cNvSpPr txBox="1"/>
          <p:nvPr/>
        </p:nvSpPr>
        <p:spPr>
          <a:xfrm>
            <a:off x="1508760" y="868680"/>
            <a:ext cx="5486400" cy="365760"/>
          </a:xfrm>
          <a:prstGeom prst="rect">
            <a:avLst/>
          </a:prstGeom>
          <a:noFill/>
        </p:spPr>
        <p:txBody>
          <a:bodyPr wrap="square" anchor="t">
            <a:spAutoFit/>
          </a:bodyPr>
          <a:lstStyle/>
          <a:p>
            <a:pPr algn="l"/>
            <a:r>
              <a:rPr sz="1400" b="1" i="0">
                <a:solidFill>
                  <a:srgbClr val="8D8D8D"/>
                </a:solidFill>
                <a:latin typeface="Liter"/>
              </a:rPr>
              <a:t>QUESTION</a:t>
            </a:r>
          </a:p>
        </p:txBody>
      </p:sp>
      <p:sp>
        <p:nvSpPr>
          <p:cNvPr id="5" name="TextBox 4"/>
          <p:cNvSpPr txBox="1"/>
          <p:nvPr/>
        </p:nvSpPr>
        <p:spPr>
          <a:xfrm>
            <a:off x="1508760" y="1371600"/>
            <a:ext cx="13350240" cy="2286000"/>
          </a:xfrm>
          <a:prstGeom prst="rect">
            <a:avLst/>
          </a:prstGeom>
          <a:noFill/>
        </p:spPr>
        <p:txBody>
          <a:bodyPr wrap="square" anchor="t">
            <a:spAutoFit/>
          </a:bodyPr>
          <a:lstStyle/>
          <a:p>
            <a:pPr algn="l">
              <a:lnSpc>
                <a:spcPct val="112000"/>
              </a:lnSpc>
            </a:pPr>
            <a:r>
              <a:rPr sz="3600" b="1" i="0">
                <a:solidFill>
                  <a:srgbClr val="2C5F8A"/>
                </a:solidFill>
                <a:latin typeface="Liter"/>
              </a:rPr>
              <a:t>Can expression teach the slide, so the hospital only needs the slide?</a:t>
            </a:r>
          </a:p>
        </p:txBody>
      </p:sp>
      <p:sp>
        <p:nvSpPr>
          <p:cNvPr id="6" name="Rectangle 5"/>
          <p:cNvSpPr/>
          <p:nvPr/>
        </p:nvSpPr>
        <p:spPr>
          <a:xfrm>
            <a:off x="1536192" y="3977639"/>
            <a:ext cx="2194560" cy="4572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08760" y="4343400"/>
            <a:ext cx="6400800" cy="365760"/>
          </a:xfrm>
          <a:prstGeom prst="rect">
            <a:avLst/>
          </a:prstGeom>
          <a:noFill/>
        </p:spPr>
        <p:txBody>
          <a:bodyPr wrap="square" anchor="t">
            <a:spAutoFit/>
          </a:bodyPr>
          <a:lstStyle/>
          <a:p>
            <a:pPr algn="l"/>
            <a:r>
              <a:rPr sz="1500" b="1" i="0">
                <a:solidFill>
                  <a:srgbClr val="8D8D8D"/>
                </a:solidFill>
                <a:latin typeface="Liter"/>
              </a:rPr>
              <a:t>Why we are asking</a:t>
            </a:r>
          </a:p>
        </p:txBody>
      </p:sp>
      <p:sp>
        <p:nvSpPr>
          <p:cNvPr id="8" name="TextBox 7"/>
          <p:cNvSpPr txBox="1"/>
          <p:nvPr/>
        </p:nvSpPr>
        <p:spPr>
          <a:xfrm>
            <a:off x="1508760" y="4800600"/>
            <a:ext cx="6400800" cy="2743200"/>
          </a:xfrm>
          <a:prstGeom prst="rect">
            <a:avLst/>
          </a:prstGeom>
          <a:noFill/>
        </p:spPr>
        <p:txBody>
          <a:bodyPr wrap="square" anchor="t">
            <a:spAutoFit/>
          </a:bodyPr>
          <a:lstStyle/>
          <a:p>
            <a:pPr algn="l">
              <a:lnSpc>
                <a:spcPct val="130000"/>
              </a:lnSpc>
            </a:pPr>
            <a:r>
              <a:rPr sz="1800" b="0" i="0">
                <a:solidFill>
                  <a:srgbClr val="333333"/>
                </a:solidFill>
                <a:latin typeface="Liter"/>
              </a:rPr>
              <a:t>Spatial transcriptomics costs thousands per section and no hospital runs it. A stained slide costs almost nothing and every hospital has one.</a:t>
            </a:r>
          </a:p>
        </p:txBody>
      </p:sp>
      <p:sp>
        <p:nvSpPr>
          <p:cNvPr id="9" name="TextBox 8"/>
          <p:cNvSpPr txBox="1"/>
          <p:nvPr/>
        </p:nvSpPr>
        <p:spPr>
          <a:xfrm>
            <a:off x="8595360" y="4343400"/>
            <a:ext cx="6400800" cy="365760"/>
          </a:xfrm>
          <a:prstGeom prst="rect">
            <a:avLst/>
          </a:prstGeom>
          <a:noFill/>
        </p:spPr>
        <p:txBody>
          <a:bodyPr wrap="square" anchor="t">
            <a:spAutoFit/>
          </a:bodyPr>
          <a:lstStyle/>
          <a:p>
            <a:pPr algn="l"/>
            <a:r>
              <a:rPr sz="1500" b="1" i="0">
                <a:solidFill>
                  <a:srgbClr val="8D8D8D"/>
                </a:solidFill>
                <a:latin typeface="Liter"/>
              </a:rPr>
              <a:t>What each answer would mean</a:t>
            </a:r>
          </a:p>
        </p:txBody>
      </p:sp>
      <p:sp>
        <p:nvSpPr>
          <p:cNvPr id="10" name="TextBox 9"/>
          <p:cNvSpPr txBox="1"/>
          <p:nvPr/>
        </p:nvSpPr>
        <p:spPr>
          <a:xfrm>
            <a:off x="8595360" y="4800600"/>
            <a:ext cx="6309360" cy="2743200"/>
          </a:xfrm>
          <a:prstGeom prst="rect">
            <a:avLst/>
          </a:prstGeom>
          <a:noFill/>
        </p:spPr>
        <p:txBody>
          <a:bodyPr wrap="square" anchor="t">
            <a:spAutoFit/>
          </a:bodyPr>
          <a:lstStyle/>
          <a:p>
            <a:pPr algn="l">
              <a:lnSpc>
                <a:spcPct val="130000"/>
              </a:lnSpc>
            </a:pPr>
            <a:r>
              <a:rPr sz="1800" b="0" i="0">
                <a:solidFill>
                  <a:srgbClr val="333333"/>
                </a:solidFill>
                <a:latin typeface="Liter"/>
              </a:rPr>
              <a:t>If expression is used ONLY during training, the deployed model needs just an image.</a:t>
            </a:r>
          </a:p>
          <a:p>
            <a:pPr algn="l">
              <a:lnSpc>
                <a:spcPct val="130000"/>
              </a:lnSpc>
            </a:pPr>
            <a:r>
              <a:rPr sz="1800" b="0" i="0">
                <a:solidFill>
                  <a:srgbClr val="333333"/>
                </a:solidFill>
                <a:latin typeface="Liter"/>
              </a:rPr>
              <a:t/>
            </a:r>
          </a:p>
          <a:p>
            <a:pPr algn="l">
              <a:lnSpc>
                <a:spcPct val="130000"/>
              </a:lnSpc>
            </a:pPr>
            <a:r>
              <a:rPr sz="1800" b="0" i="0">
                <a:solidFill>
                  <a:srgbClr val="333333"/>
                </a:solidFill>
                <a:latin typeface="Liter"/>
              </a:rPr>
              <a:t>That is the difference between a research tool and a usable one.</a:t>
            </a:r>
          </a:p>
        </p:txBody>
      </p:sp>
      <p:sp>
        <p:nvSpPr>
          <p:cNvPr id="11" name="Rectangle 10"/>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123444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1752" y="384048"/>
            <a:ext cx="457200" cy="45720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0"/>
            <a:ext cx="14081760" cy="1234440"/>
          </a:xfrm>
          <a:prstGeom prst="rect">
            <a:avLst/>
          </a:prstGeom>
          <a:noFill/>
        </p:spPr>
        <p:txBody>
          <a:bodyPr wrap="square" anchor="ctr">
            <a:spAutoFit/>
          </a:bodyPr>
          <a:lstStyle/>
          <a:p>
            <a:pPr algn="l"/>
            <a:r>
              <a:rPr sz="2500" b="1" i="0">
                <a:solidFill>
                  <a:srgbClr val="FFFFFF"/>
                </a:solidFill>
                <a:latin typeface="Liter"/>
              </a:rPr>
              <a:t>Q9   YES, AND YOU CAN SEE WHERE</a:t>
            </a:r>
          </a:p>
        </p:txBody>
      </p:sp>
      <p:sp>
        <p:nvSpPr>
          <p:cNvPr id="5" name="TextBox 4"/>
          <p:cNvSpPr txBox="1"/>
          <p:nvPr/>
        </p:nvSpPr>
        <p:spPr>
          <a:xfrm>
            <a:off x="685800" y="1371600"/>
            <a:ext cx="14904720" cy="822960"/>
          </a:xfrm>
          <a:prstGeom prst="rect">
            <a:avLst/>
          </a:prstGeom>
          <a:noFill/>
        </p:spPr>
        <p:txBody>
          <a:bodyPr wrap="square" anchor="t">
            <a:spAutoFit/>
          </a:bodyPr>
          <a:lstStyle/>
          <a:p>
            <a:pPr algn="l">
              <a:lnSpc>
                <a:spcPct val="115000"/>
              </a:lnSpc>
            </a:pPr>
            <a:r>
              <a:rPr sz="2100" b="1" i="0">
                <a:solidFill>
                  <a:srgbClr val="1BAF7A"/>
                </a:solidFill>
                <a:latin typeface="Liter"/>
              </a:rPr>
              <a:t>Trained with expression, given only the slide at prediction time, and drawn back onto the tissue for a held-out patient.</a:t>
            </a:r>
          </a:p>
        </p:txBody>
      </p:sp>
      <p:pic>
        <p:nvPicPr>
          <p:cNvPr id="6" name="Picture 5" descr="IU_PDA_LNM6_rctd_B_cells.png"/>
          <p:cNvPicPr>
            <a:picLocks noChangeAspect="1"/>
          </p:cNvPicPr>
          <p:nvPr/>
        </p:nvPicPr>
        <p:blipFill>
          <a:blip r:embed="rId2"/>
          <a:stretch>
            <a:fillRect/>
          </a:stretch>
        </p:blipFill>
        <p:spPr>
          <a:xfrm>
            <a:off x="871479" y="2240280"/>
            <a:ext cx="14533361" cy="5394960"/>
          </a:xfrm>
          <a:prstGeom prst="rect">
            <a:avLst/>
          </a:prstGeom>
        </p:spPr>
      </p:pic>
      <p:sp>
        <p:nvSpPr>
          <p:cNvPr id="7" name="Rectangle 6"/>
          <p:cNvSpPr/>
          <p:nvPr/>
        </p:nvSpPr>
        <p:spPr>
          <a:xfrm>
            <a:off x="0" y="8138160"/>
            <a:ext cx="16256020" cy="822960"/>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8138160"/>
            <a:ext cx="14904720" cy="822960"/>
          </a:xfrm>
          <a:prstGeom prst="rect">
            <a:avLst/>
          </a:prstGeom>
          <a:noFill/>
        </p:spPr>
        <p:txBody>
          <a:bodyPr wrap="square" anchor="ctr">
            <a:spAutoFit/>
          </a:bodyPr>
          <a:lstStyle/>
          <a:p>
            <a:pPr algn="l"/>
            <a:r>
              <a:rPr sz="1500" b="1" i="0">
                <a:solidFill>
                  <a:srgbClr val="333333"/>
                </a:solidFill>
                <a:latin typeface="Liter"/>
              </a:rPr>
              <a:t>B cell content predicted from the image alone, Spearman 0.73, placed around the rim of the node, which is where B cell follicles actually sit.</a:t>
            </a:r>
          </a:p>
        </p:txBody>
      </p:sp>
      <p:sp>
        <p:nvSpPr>
          <p:cNvPr id="9" name="Rectangle 8"/>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105156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0"/>
            <a:ext cx="14081760" cy="1051560"/>
          </a:xfrm>
          <a:prstGeom prst="rect">
            <a:avLst/>
          </a:prstGeom>
          <a:noFill/>
        </p:spPr>
        <p:txBody>
          <a:bodyPr wrap="square" anchor="ctr">
            <a:spAutoFit/>
          </a:bodyPr>
          <a:lstStyle/>
          <a:p>
            <a:pPr algn="l"/>
            <a:r>
              <a:rPr sz="2100" b="1" i="0">
                <a:solidFill>
                  <a:srgbClr val="FFFFFF"/>
                </a:solidFill>
                <a:latin typeface="Liter"/>
              </a:rPr>
              <a:t>Q9   SHOWN ON THE TISSUE</a:t>
            </a:r>
          </a:p>
        </p:txBody>
      </p:sp>
      <p:sp>
        <p:nvSpPr>
          <p:cNvPr id="4" name="Rectangle 3"/>
          <p:cNvSpPr/>
          <p:nvPr/>
        </p:nvSpPr>
        <p:spPr>
          <a:xfrm>
            <a:off x="301752" y="301752"/>
            <a:ext cx="457200" cy="45720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170432"/>
            <a:ext cx="14904720" cy="640080"/>
          </a:xfrm>
          <a:prstGeom prst="rect">
            <a:avLst/>
          </a:prstGeom>
          <a:noFill/>
        </p:spPr>
        <p:txBody>
          <a:bodyPr wrap="square" anchor="t">
            <a:spAutoFit/>
          </a:bodyPr>
          <a:lstStyle/>
          <a:p>
            <a:pPr algn="l"/>
            <a:r>
              <a:rPr sz="1900" b="1" i="0">
                <a:solidFill>
                  <a:srgbClr val="2C5F8A"/>
                </a:solidFill>
                <a:latin typeface="Liter"/>
              </a:rPr>
              <a:t>B cells predicted from the image alone, with the tissue at each location.</a:t>
            </a:r>
          </a:p>
        </p:txBody>
      </p:sp>
      <p:pic>
        <p:nvPicPr>
          <p:cNvPr id="6" name="Picture 5" descr="q9_grounding_bcells.png"/>
          <p:cNvPicPr>
            <a:picLocks noChangeAspect="1"/>
          </p:cNvPicPr>
          <p:nvPr/>
        </p:nvPicPr>
        <p:blipFill>
          <a:blip r:embed="rId2"/>
          <a:stretch>
            <a:fillRect/>
          </a:stretch>
        </p:blipFill>
        <p:spPr>
          <a:xfrm>
            <a:off x="1294014" y="1874519"/>
            <a:ext cx="13688290" cy="5943600"/>
          </a:xfrm>
          <a:prstGeom prst="rect">
            <a:avLst/>
          </a:prstGeom>
        </p:spPr>
      </p:pic>
      <p:sp>
        <p:nvSpPr>
          <p:cNvPr id="7" name="Rectangle 6"/>
          <p:cNvSpPr/>
          <p:nvPr/>
        </p:nvSpPr>
        <p:spPr>
          <a:xfrm>
            <a:off x="0" y="8138160"/>
            <a:ext cx="16256020" cy="822960"/>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8138160"/>
            <a:ext cx="14904720" cy="822960"/>
          </a:xfrm>
          <a:prstGeom prst="rect">
            <a:avLst/>
          </a:prstGeom>
          <a:noFill/>
        </p:spPr>
        <p:txBody>
          <a:bodyPr wrap="square" anchor="ctr">
            <a:spAutoFit/>
          </a:bodyPr>
          <a:lstStyle/>
          <a:p>
            <a:pPr algn="l"/>
            <a:r>
              <a:rPr sz="1500" b="1" i="0">
                <a:solidFill>
                  <a:srgbClr val="333333"/>
                </a:solidFill>
                <a:latin typeface="Liter"/>
              </a:rPr>
              <a:t>Ordered by prediction, the tissue runs from pink stroma to sheets of lymphocytes. The model was never shown this patient.</a:t>
            </a:r>
          </a:p>
        </p:txBody>
      </p:sp>
      <p:sp>
        <p:nvSpPr>
          <p:cNvPr id="9" name="Rectangle 8"/>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51560" cy="914400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 y="548640"/>
            <a:ext cx="914400" cy="822960"/>
          </a:xfrm>
          <a:prstGeom prst="rect">
            <a:avLst/>
          </a:prstGeom>
          <a:noFill/>
        </p:spPr>
        <p:txBody>
          <a:bodyPr wrap="square" anchor="t">
            <a:spAutoFit/>
          </a:bodyPr>
          <a:lstStyle/>
          <a:p>
            <a:pPr algn="ctr"/>
            <a:r>
              <a:rPr sz="3400" b="1" i="0">
                <a:solidFill>
                  <a:srgbClr val="FFFFFF"/>
                </a:solidFill>
                <a:latin typeface="Liter"/>
              </a:rPr>
              <a:t>Q10</a:t>
            </a:r>
          </a:p>
        </p:txBody>
      </p:sp>
      <p:sp>
        <p:nvSpPr>
          <p:cNvPr id="4" name="TextBox 3"/>
          <p:cNvSpPr txBox="1"/>
          <p:nvPr/>
        </p:nvSpPr>
        <p:spPr>
          <a:xfrm>
            <a:off x="1508760" y="868680"/>
            <a:ext cx="5486400" cy="365760"/>
          </a:xfrm>
          <a:prstGeom prst="rect">
            <a:avLst/>
          </a:prstGeom>
          <a:noFill/>
        </p:spPr>
        <p:txBody>
          <a:bodyPr wrap="square" anchor="t">
            <a:spAutoFit/>
          </a:bodyPr>
          <a:lstStyle/>
          <a:p>
            <a:pPr algn="l"/>
            <a:r>
              <a:rPr sz="1400" b="1" i="0">
                <a:solidFill>
                  <a:srgbClr val="8D8D8D"/>
                </a:solidFill>
                <a:latin typeface="Liter"/>
              </a:rPr>
              <a:t>QUESTION</a:t>
            </a:r>
          </a:p>
        </p:txBody>
      </p:sp>
      <p:sp>
        <p:nvSpPr>
          <p:cNvPr id="5" name="TextBox 4"/>
          <p:cNvSpPr txBox="1"/>
          <p:nvPr/>
        </p:nvSpPr>
        <p:spPr>
          <a:xfrm>
            <a:off x="1508760" y="1371600"/>
            <a:ext cx="13350240" cy="2286000"/>
          </a:xfrm>
          <a:prstGeom prst="rect">
            <a:avLst/>
          </a:prstGeom>
          <a:noFill/>
        </p:spPr>
        <p:txBody>
          <a:bodyPr wrap="square" anchor="t">
            <a:spAutoFit/>
          </a:bodyPr>
          <a:lstStyle/>
          <a:p>
            <a:pPr algn="l">
              <a:lnSpc>
                <a:spcPct val="112000"/>
              </a:lnSpc>
            </a:pPr>
            <a:r>
              <a:rPr sz="3600" b="1" i="0">
                <a:solidFill>
                  <a:srgbClr val="E07B54"/>
                </a:solidFill>
                <a:latin typeface="Liter"/>
              </a:rPr>
              <a:t>Is it reliable enough to use?</a:t>
            </a:r>
          </a:p>
        </p:txBody>
      </p:sp>
      <p:sp>
        <p:nvSpPr>
          <p:cNvPr id="6" name="Rectangle 5"/>
          <p:cNvSpPr/>
          <p:nvPr/>
        </p:nvSpPr>
        <p:spPr>
          <a:xfrm>
            <a:off x="1536192" y="3977639"/>
            <a:ext cx="2194560" cy="4572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08760" y="4343400"/>
            <a:ext cx="6400800" cy="365760"/>
          </a:xfrm>
          <a:prstGeom prst="rect">
            <a:avLst/>
          </a:prstGeom>
          <a:noFill/>
        </p:spPr>
        <p:txBody>
          <a:bodyPr wrap="square" anchor="t">
            <a:spAutoFit/>
          </a:bodyPr>
          <a:lstStyle/>
          <a:p>
            <a:pPr algn="l"/>
            <a:r>
              <a:rPr sz="1500" b="1" i="0">
                <a:solidFill>
                  <a:srgbClr val="8D8D8D"/>
                </a:solidFill>
                <a:latin typeface="Liter"/>
              </a:rPr>
              <a:t>Why we are asking</a:t>
            </a:r>
          </a:p>
        </p:txBody>
      </p:sp>
      <p:sp>
        <p:nvSpPr>
          <p:cNvPr id="8" name="TextBox 7"/>
          <p:cNvSpPr txBox="1"/>
          <p:nvPr/>
        </p:nvSpPr>
        <p:spPr>
          <a:xfrm>
            <a:off x="1508760" y="4800600"/>
            <a:ext cx="6400800" cy="2743200"/>
          </a:xfrm>
          <a:prstGeom prst="rect">
            <a:avLst/>
          </a:prstGeom>
          <a:noFill/>
        </p:spPr>
        <p:txBody>
          <a:bodyPr wrap="square" anchor="t">
            <a:spAutoFit/>
          </a:bodyPr>
          <a:lstStyle/>
          <a:p>
            <a:pPr algn="l">
              <a:lnSpc>
                <a:spcPct val="130000"/>
              </a:lnSpc>
            </a:pPr>
            <a:r>
              <a:rPr sz="1800" b="0" i="0">
                <a:solidFill>
                  <a:srgbClr val="333333"/>
                </a:solidFill>
                <a:latin typeface="Liter"/>
              </a:rPr>
              <a:t>A median score hides everything that matters clinically. A tool that works brilliantly on two thirds of patients and fails on the rest is not yet a tool.</a:t>
            </a:r>
          </a:p>
        </p:txBody>
      </p:sp>
      <p:sp>
        <p:nvSpPr>
          <p:cNvPr id="9" name="TextBox 8"/>
          <p:cNvSpPr txBox="1"/>
          <p:nvPr/>
        </p:nvSpPr>
        <p:spPr>
          <a:xfrm>
            <a:off x="8595360" y="4343400"/>
            <a:ext cx="6400800" cy="365760"/>
          </a:xfrm>
          <a:prstGeom prst="rect">
            <a:avLst/>
          </a:prstGeom>
          <a:noFill/>
        </p:spPr>
        <p:txBody>
          <a:bodyPr wrap="square" anchor="t">
            <a:spAutoFit/>
          </a:bodyPr>
          <a:lstStyle/>
          <a:p>
            <a:pPr algn="l"/>
            <a:r>
              <a:rPr sz="1500" b="1" i="0">
                <a:solidFill>
                  <a:srgbClr val="8D8D8D"/>
                </a:solidFill>
                <a:latin typeface="Liter"/>
              </a:rPr>
              <a:t>What each answer would mean</a:t>
            </a:r>
          </a:p>
        </p:txBody>
      </p:sp>
      <p:sp>
        <p:nvSpPr>
          <p:cNvPr id="10" name="TextBox 9"/>
          <p:cNvSpPr txBox="1"/>
          <p:nvPr/>
        </p:nvSpPr>
        <p:spPr>
          <a:xfrm>
            <a:off x="8595360" y="4800600"/>
            <a:ext cx="6309360" cy="2743200"/>
          </a:xfrm>
          <a:prstGeom prst="rect">
            <a:avLst/>
          </a:prstGeom>
          <a:noFill/>
        </p:spPr>
        <p:txBody>
          <a:bodyPr wrap="square" anchor="t">
            <a:spAutoFit/>
          </a:bodyPr>
          <a:lstStyle/>
          <a:p>
            <a:pPr algn="l">
              <a:lnSpc>
                <a:spcPct val="130000"/>
              </a:lnSpc>
            </a:pPr>
            <a:r>
              <a:rPr sz="1800" b="0" i="0">
                <a:solidFill>
                  <a:srgbClr val="333333"/>
                </a:solidFill>
                <a:latin typeface="Liter"/>
              </a:rPr>
              <a:t>Consistent across sections would mean it is ready to test prospectively.</a:t>
            </a:r>
          </a:p>
          <a:p>
            <a:pPr algn="l">
              <a:lnSpc>
                <a:spcPct val="130000"/>
              </a:lnSpc>
            </a:pPr>
            <a:r>
              <a:rPr sz="1800" b="0" i="0">
                <a:solidFill>
                  <a:srgbClr val="333333"/>
                </a:solidFill>
                <a:latin typeface="Liter"/>
              </a:rPr>
              <a:t/>
            </a:r>
          </a:p>
          <a:p>
            <a:pPr algn="l">
              <a:lnSpc>
                <a:spcPct val="130000"/>
              </a:lnSpc>
            </a:pPr>
            <a:r>
              <a:rPr sz="1800" b="0" i="0">
                <a:solidFill>
                  <a:srgbClr val="333333"/>
                </a:solidFill>
                <a:latin typeface="Liter"/>
              </a:rPr>
              <a:t>Wide spread would mean it needs more patients before anyone relies on it.</a:t>
            </a:r>
          </a:p>
        </p:txBody>
      </p:sp>
      <p:sp>
        <p:nvSpPr>
          <p:cNvPr id="11" name="Rectangle 10"/>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123444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1752" y="384048"/>
            <a:ext cx="457200" cy="45720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0"/>
            <a:ext cx="14081760" cy="1234440"/>
          </a:xfrm>
          <a:prstGeom prst="rect">
            <a:avLst/>
          </a:prstGeom>
          <a:noFill/>
        </p:spPr>
        <p:txBody>
          <a:bodyPr wrap="square" anchor="ctr">
            <a:spAutoFit/>
          </a:bodyPr>
          <a:lstStyle/>
          <a:p>
            <a:pPr algn="l"/>
            <a:r>
              <a:rPr sz="2500" b="1" i="0">
                <a:solidFill>
                  <a:srgbClr val="FFFFFF"/>
                </a:solidFill>
                <a:latin typeface="Liter"/>
              </a:rPr>
              <a:t>Q10   NOT YET, AND HERE IS WHY</a:t>
            </a:r>
          </a:p>
        </p:txBody>
      </p:sp>
      <p:sp>
        <p:nvSpPr>
          <p:cNvPr id="5" name="TextBox 4"/>
          <p:cNvSpPr txBox="1"/>
          <p:nvPr/>
        </p:nvSpPr>
        <p:spPr>
          <a:xfrm>
            <a:off x="685800" y="1371600"/>
            <a:ext cx="14904720" cy="822960"/>
          </a:xfrm>
          <a:prstGeom prst="rect">
            <a:avLst/>
          </a:prstGeom>
          <a:noFill/>
        </p:spPr>
        <p:txBody>
          <a:bodyPr wrap="square" anchor="t">
            <a:spAutoFit/>
          </a:bodyPr>
          <a:lstStyle/>
          <a:p>
            <a:pPr algn="l">
              <a:lnSpc>
                <a:spcPct val="115000"/>
              </a:lnSpc>
            </a:pPr>
            <a:r>
              <a:rPr sz="2100" b="1" i="0">
                <a:solidFill>
                  <a:srgbClr val="E07B54"/>
                </a:solidFill>
                <a:latin typeface="Liter"/>
              </a:rPr>
              <a:t>Fibroblast prediction ranges from 0.79 on the best section to below zero on the worst. The median is 0.49.</a:t>
            </a:r>
          </a:p>
        </p:txBody>
      </p:sp>
      <p:pic>
        <p:nvPicPr>
          <p:cNvPr id="6" name="Picture 5" descr="q10_reliability.png"/>
          <p:cNvPicPr>
            <a:picLocks noChangeAspect="1"/>
          </p:cNvPicPr>
          <p:nvPr/>
        </p:nvPicPr>
        <p:blipFill>
          <a:blip r:embed="rId2"/>
          <a:stretch>
            <a:fillRect/>
          </a:stretch>
        </p:blipFill>
        <p:spPr>
          <a:xfrm>
            <a:off x="2928918" y="2240280"/>
            <a:ext cx="10418483" cy="5394959"/>
          </a:xfrm>
          <a:prstGeom prst="rect">
            <a:avLst/>
          </a:prstGeom>
        </p:spPr>
      </p:pic>
      <p:sp>
        <p:nvSpPr>
          <p:cNvPr id="7" name="Rectangle 6"/>
          <p:cNvSpPr/>
          <p:nvPr/>
        </p:nvSpPr>
        <p:spPr>
          <a:xfrm>
            <a:off x="0" y="8138160"/>
            <a:ext cx="16256020" cy="822960"/>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8138160"/>
            <a:ext cx="14904720" cy="822960"/>
          </a:xfrm>
          <a:prstGeom prst="rect">
            <a:avLst/>
          </a:prstGeom>
          <a:noFill/>
        </p:spPr>
        <p:txBody>
          <a:bodyPr wrap="square" anchor="ctr">
            <a:spAutoFit/>
          </a:bodyPr>
          <a:lstStyle/>
          <a:p>
            <a:pPr algn="l"/>
            <a:r>
              <a:rPr sz="1500" b="1" i="0">
                <a:solidFill>
                  <a:srgbClr val="333333"/>
                </a:solidFill>
                <a:latin typeface="Liter"/>
              </a:rPr>
              <a:t>It works well on some sections and fails on others. With 12 patients we cannot yet predict which.</a:t>
            </a:r>
          </a:p>
        </p:txBody>
      </p:sp>
      <p:sp>
        <p:nvSpPr>
          <p:cNvPr id="9" name="Rectangle 8"/>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51560" cy="914400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 y="548640"/>
            <a:ext cx="914400" cy="822960"/>
          </a:xfrm>
          <a:prstGeom prst="rect">
            <a:avLst/>
          </a:prstGeom>
          <a:noFill/>
        </p:spPr>
        <p:txBody>
          <a:bodyPr wrap="square" anchor="t">
            <a:spAutoFit/>
          </a:bodyPr>
          <a:lstStyle/>
          <a:p>
            <a:pPr algn="ctr"/>
            <a:r>
              <a:rPr sz="3400" b="1" i="0">
                <a:solidFill>
                  <a:srgbClr val="FFFFFF"/>
                </a:solidFill>
                <a:latin typeface="Liter"/>
              </a:rPr>
              <a:t>Q11</a:t>
            </a:r>
          </a:p>
        </p:txBody>
      </p:sp>
      <p:sp>
        <p:nvSpPr>
          <p:cNvPr id="4" name="TextBox 3"/>
          <p:cNvSpPr txBox="1"/>
          <p:nvPr/>
        </p:nvSpPr>
        <p:spPr>
          <a:xfrm>
            <a:off x="1508760" y="868680"/>
            <a:ext cx="5486400" cy="365760"/>
          </a:xfrm>
          <a:prstGeom prst="rect">
            <a:avLst/>
          </a:prstGeom>
          <a:noFill/>
        </p:spPr>
        <p:txBody>
          <a:bodyPr wrap="square" anchor="t">
            <a:spAutoFit/>
          </a:bodyPr>
          <a:lstStyle/>
          <a:p>
            <a:pPr algn="l"/>
            <a:r>
              <a:rPr sz="1400" b="1" i="0">
                <a:solidFill>
                  <a:srgbClr val="8D8D8D"/>
                </a:solidFill>
                <a:latin typeface="Liter"/>
              </a:rPr>
              <a:t>QUESTION</a:t>
            </a:r>
          </a:p>
        </p:txBody>
      </p:sp>
      <p:sp>
        <p:nvSpPr>
          <p:cNvPr id="5" name="TextBox 4"/>
          <p:cNvSpPr txBox="1"/>
          <p:nvPr/>
        </p:nvSpPr>
        <p:spPr>
          <a:xfrm>
            <a:off x="1508760" y="1371600"/>
            <a:ext cx="13350240" cy="2286000"/>
          </a:xfrm>
          <a:prstGeom prst="rect">
            <a:avLst/>
          </a:prstGeom>
          <a:noFill/>
        </p:spPr>
        <p:txBody>
          <a:bodyPr wrap="square" anchor="t">
            <a:spAutoFit/>
          </a:bodyPr>
          <a:lstStyle/>
          <a:p>
            <a:pPr algn="l">
              <a:lnSpc>
                <a:spcPct val="112000"/>
              </a:lnSpc>
            </a:pPr>
            <a:r>
              <a:rPr sz="3600" b="1" i="0">
                <a:solidFill>
                  <a:srgbClr val="E07B54"/>
                </a:solidFill>
                <a:latin typeface="Liter"/>
              </a:rPr>
              <a:t>Could a hospital reach this finding without sequencing?</a:t>
            </a:r>
          </a:p>
        </p:txBody>
      </p:sp>
      <p:sp>
        <p:nvSpPr>
          <p:cNvPr id="6" name="Rectangle 5"/>
          <p:cNvSpPr/>
          <p:nvPr/>
        </p:nvSpPr>
        <p:spPr>
          <a:xfrm>
            <a:off x="1536192" y="3977639"/>
            <a:ext cx="2194560" cy="4572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08760" y="4343400"/>
            <a:ext cx="6400800" cy="365760"/>
          </a:xfrm>
          <a:prstGeom prst="rect">
            <a:avLst/>
          </a:prstGeom>
          <a:noFill/>
        </p:spPr>
        <p:txBody>
          <a:bodyPr wrap="square" anchor="t">
            <a:spAutoFit/>
          </a:bodyPr>
          <a:lstStyle/>
          <a:p>
            <a:pPr algn="l"/>
            <a:r>
              <a:rPr sz="1500" b="1" i="0">
                <a:solidFill>
                  <a:srgbClr val="8D8D8D"/>
                </a:solidFill>
                <a:latin typeface="Liter"/>
              </a:rPr>
              <a:t>Why we are asking</a:t>
            </a:r>
          </a:p>
        </p:txBody>
      </p:sp>
      <p:sp>
        <p:nvSpPr>
          <p:cNvPr id="8" name="TextBox 7"/>
          <p:cNvSpPr txBox="1"/>
          <p:nvPr/>
        </p:nvSpPr>
        <p:spPr>
          <a:xfrm>
            <a:off x="1508760" y="4800600"/>
            <a:ext cx="6400800" cy="2743200"/>
          </a:xfrm>
          <a:prstGeom prst="rect">
            <a:avLst/>
          </a:prstGeom>
          <a:noFill/>
        </p:spPr>
        <p:txBody>
          <a:bodyPr wrap="square" anchor="t">
            <a:spAutoFit/>
          </a:bodyPr>
          <a:lstStyle/>
          <a:p>
            <a:pPr algn="l">
              <a:lnSpc>
                <a:spcPct val="130000"/>
              </a:lnSpc>
            </a:pPr>
            <a:r>
              <a:rPr sz="1800" b="0" i="0">
                <a:solidFill>
                  <a:srgbClr val="333333"/>
                </a:solidFill>
                <a:latin typeface="Liter"/>
              </a:rPr>
              <a:t>Everything so far needed spatial transcriptomics at thousands of pounds a section. If the same conclusion can be rebuilt from what a slide predicts, it becomes something a hospital could actually run.</a:t>
            </a:r>
          </a:p>
        </p:txBody>
      </p:sp>
      <p:sp>
        <p:nvSpPr>
          <p:cNvPr id="9" name="TextBox 8"/>
          <p:cNvSpPr txBox="1"/>
          <p:nvPr/>
        </p:nvSpPr>
        <p:spPr>
          <a:xfrm>
            <a:off x="8595360" y="4343400"/>
            <a:ext cx="6400800" cy="365760"/>
          </a:xfrm>
          <a:prstGeom prst="rect">
            <a:avLst/>
          </a:prstGeom>
          <a:noFill/>
        </p:spPr>
        <p:txBody>
          <a:bodyPr wrap="square" anchor="t">
            <a:spAutoFit/>
          </a:bodyPr>
          <a:lstStyle/>
          <a:p>
            <a:pPr algn="l"/>
            <a:r>
              <a:rPr sz="1500" b="1" i="0">
                <a:solidFill>
                  <a:srgbClr val="8D8D8D"/>
                </a:solidFill>
                <a:latin typeface="Liter"/>
              </a:rPr>
              <a:t>What each answer would mean</a:t>
            </a:r>
          </a:p>
        </p:txBody>
      </p:sp>
      <p:sp>
        <p:nvSpPr>
          <p:cNvPr id="10" name="TextBox 9"/>
          <p:cNvSpPr txBox="1"/>
          <p:nvPr/>
        </p:nvSpPr>
        <p:spPr>
          <a:xfrm>
            <a:off x="8595360" y="4800600"/>
            <a:ext cx="6309360" cy="2743200"/>
          </a:xfrm>
          <a:prstGeom prst="rect">
            <a:avLst/>
          </a:prstGeom>
          <a:noFill/>
        </p:spPr>
        <p:txBody>
          <a:bodyPr wrap="square" anchor="t">
            <a:spAutoFit/>
          </a:bodyPr>
          <a:lstStyle/>
          <a:p>
            <a:pPr algn="l">
              <a:lnSpc>
                <a:spcPct val="130000"/>
              </a:lnSpc>
            </a:pPr>
            <a:r>
              <a:rPr sz="1800" b="0" i="0">
                <a:solidFill>
                  <a:srgbClr val="333333"/>
                </a:solidFill>
                <a:latin typeface="Liter"/>
              </a:rPr>
              <a:t>Success would turn an expensive research result into a usable test.</a:t>
            </a:r>
          </a:p>
          <a:p>
            <a:pPr algn="l">
              <a:lnSpc>
                <a:spcPct val="130000"/>
              </a:lnSpc>
            </a:pPr>
            <a:r>
              <a:rPr sz="1800" b="0" i="0">
                <a:solidFill>
                  <a:srgbClr val="333333"/>
                </a:solidFill>
                <a:latin typeface="Liter"/>
              </a:rPr>
              <a:t/>
            </a:r>
          </a:p>
          <a:p>
            <a:pPr algn="l">
              <a:lnSpc>
                <a:spcPct val="130000"/>
              </a:lnSpc>
            </a:pPr>
            <a:r>
              <a:rPr sz="1800" b="0" i="0">
                <a:solidFill>
                  <a:srgbClr val="333333"/>
                </a:solidFill>
                <a:latin typeface="Liter"/>
              </a:rPr>
              <a:t>Failure tells us which part specifically is out of reach.</a:t>
            </a:r>
          </a:p>
        </p:txBody>
      </p:sp>
      <p:sp>
        <p:nvSpPr>
          <p:cNvPr id="11" name="Rectangle 10"/>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123444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1752" y="384048"/>
            <a:ext cx="457200" cy="45720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0"/>
            <a:ext cx="14081760" cy="1234440"/>
          </a:xfrm>
          <a:prstGeom prst="rect">
            <a:avLst/>
          </a:prstGeom>
          <a:noFill/>
        </p:spPr>
        <p:txBody>
          <a:bodyPr wrap="square" anchor="ctr">
            <a:spAutoFit/>
          </a:bodyPr>
          <a:lstStyle/>
          <a:p>
            <a:pPr algn="l"/>
            <a:r>
              <a:rPr sz="2500" b="1" i="0">
                <a:solidFill>
                  <a:srgbClr val="FFFFFF"/>
                </a:solidFill>
                <a:latin typeface="Liter"/>
              </a:rPr>
              <a:t>Q11   PARTLY, AND WE KNOW WHICH PART FAILS</a:t>
            </a:r>
          </a:p>
        </p:txBody>
      </p:sp>
      <p:sp>
        <p:nvSpPr>
          <p:cNvPr id="5" name="TextBox 4"/>
          <p:cNvSpPr txBox="1"/>
          <p:nvPr/>
        </p:nvSpPr>
        <p:spPr>
          <a:xfrm>
            <a:off x="685800" y="1371600"/>
            <a:ext cx="14904720" cy="822960"/>
          </a:xfrm>
          <a:prstGeom prst="rect">
            <a:avLst/>
          </a:prstGeom>
          <a:noFill/>
        </p:spPr>
        <p:txBody>
          <a:bodyPr wrap="square" anchor="t">
            <a:spAutoFit/>
          </a:bodyPr>
          <a:lstStyle/>
          <a:p>
            <a:pPr algn="l">
              <a:lnSpc>
                <a:spcPct val="115000"/>
              </a:lnSpc>
            </a:pPr>
            <a:r>
              <a:rPr sz="2100" b="1" i="0">
                <a:solidFill>
                  <a:srgbClr val="E07B54"/>
                </a:solidFill>
                <a:latin typeface="Liter"/>
              </a:rPr>
              <a:t>The B cell difference survives in direction but loses significance: effect size falls from 1.86 to 0.69.</a:t>
            </a:r>
          </a:p>
        </p:txBody>
      </p:sp>
      <p:pic>
        <p:nvPicPr>
          <p:cNvPr id="6" name="Picture 5" descr="q11_site_from_HE.png"/>
          <p:cNvPicPr>
            <a:picLocks noChangeAspect="1"/>
          </p:cNvPicPr>
          <p:nvPr/>
        </p:nvPicPr>
        <p:blipFill>
          <a:blip r:embed="rId2"/>
          <a:stretch>
            <a:fillRect/>
          </a:stretch>
        </p:blipFill>
        <p:spPr>
          <a:xfrm>
            <a:off x="465145" y="2240280"/>
            <a:ext cx="15346029" cy="5394960"/>
          </a:xfrm>
          <a:prstGeom prst="rect">
            <a:avLst/>
          </a:prstGeom>
        </p:spPr>
      </p:pic>
      <p:sp>
        <p:nvSpPr>
          <p:cNvPr id="7" name="Rectangle 6"/>
          <p:cNvSpPr/>
          <p:nvPr/>
        </p:nvSpPr>
        <p:spPr>
          <a:xfrm>
            <a:off x="0" y="8138160"/>
            <a:ext cx="16256020" cy="822960"/>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8138160"/>
            <a:ext cx="14904720" cy="822960"/>
          </a:xfrm>
          <a:prstGeom prst="rect">
            <a:avLst/>
          </a:prstGeom>
          <a:noFill/>
        </p:spPr>
        <p:txBody>
          <a:bodyPr wrap="square" anchor="ctr">
            <a:spAutoFit/>
          </a:bodyPr>
          <a:lstStyle/>
          <a:p>
            <a:pPr algn="l"/>
            <a:r>
              <a:rPr sz="1500" b="1" i="0">
                <a:solidFill>
                  <a:srgbClr val="333333"/>
                </a:solidFill>
                <a:latin typeface="Liter"/>
              </a:rPr>
              <a:t>Panel c is the good news: a model that never saw a lymph node still finds their B cells. So this is not merely organ recognition.</a:t>
            </a:r>
          </a:p>
        </p:txBody>
      </p:sp>
      <p:sp>
        <p:nvSpPr>
          <p:cNvPr id="9" name="Rectangle 8"/>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51560" cy="9144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 y="548640"/>
            <a:ext cx="914400" cy="822960"/>
          </a:xfrm>
          <a:prstGeom prst="rect">
            <a:avLst/>
          </a:prstGeom>
          <a:noFill/>
        </p:spPr>
        <p:txBody>
          <a:bodyPr wrap="square" anchor="t">
            <a:spAutoFit/>
          </a:bodyPr>
          <a:lstStyle/>
          <a:p>
            <a:pPr algn="ctr"/>
            <a:r>
              <a:rPr sz="3400" b="1" i="0">
                <a:solidFill>
                  <a:srgbClr val="FFFFFF"/>
                </a:solidFill>
                <a:latin typeface="Liter"/>
              </a:rPr>
              <a:t>Q12</a:t>
            </a:r>
          </a:p>
        </p:txBody>
      </p:sp>
      <p:sp>
        <p:nvSpPr>
          <p:cNvPr id="4" name="TextBox 3"/>
          <p:cNvSpPr txBox="1"/>
          <p:nvPr/>
        </p:nvSpPr>
        <p:spPr>
          <a:xfrm>
            <a:off x="1508760" y="868680"/>
            <a:ext cx="5486400" cy="365760"/>
          </a:xfrm>
          <a:prstGeom prst="rect">
            <a:avLst/>
          </a:prstGeom>
          <a:noFill/>
        </p:spPr>
        <p:txBody>
          <a:bodyPr wrap="square" anchor="t">
            <a:spAutoFit/>
          </a:bodyPr>
          <a:lstStyle/>
          <a:p>
            <a:pPr algn="l"/>
            <a:r>
              <a:rPr sz="1400" b="1" i="0">
                <a:solidFill>
                  <a:srgbClr val="8D8D8D"/>
                </a:solidFill>
                <a:latin typeface="Liter"/>
              </a:rPr>
              <a:t>QUESTION</a:t>
            </a:r>
          </a:p>
        </p:txBody>
      </p:sp>
      <p:sp>
        <p:nvSpPr>
          <p:cNvPr id="5" name="TextBox 4"/>
          <p:cNvSpPr txBox="1"/>
          <p:nvPr/>
        </p:nvSpPr>
        <p:spPr>
          <a:xfrm>
            <a:off x="1508760" y="1371600"/>
            <a:ext cx="13350240" cy="2286000"/>
          </a:xfrm>
          <a:prstGeom prst="rect">
            <a:avLst/>
          </a:prstGeom>
          <a:noFill/>
        </p:spPr>
        <p:txBody>
          <a:bodyPr wrap="square" anchor="t">
            <a:spAutoFit/>
          </a:bodyPr>
          <a:lstStyle/>
          <a:p>
            <a:pPr algn="l">
              <a:lnSpc>
                <a:spcPct val="112000"/>
              </a:lnSpc>
            </a:pPr>
            <a:r>
              <a:rPr sz="3600" b="1" i="0">
                <a:solidFill>
                  <a:srgbClr val="1BAF7A"/>
                </a:solidFill>
                <a:latin typeface="Liter"/>
              </a:rPr>
              <a:t>Does the fibroblast read-out hold in other people's data?</a:t>
            </a:r>
          </a:p>
        </p:txBody>
      </p:sp>
      <p:sp>
        <p:nvSpPr>
          <p:cNvPr id="6" name="Rectangle 5"/>
          <p:cNvSpPr/>
          <p:nvPr/>
        </p:nvSpPr>
        <p:spPr>
          <a:xfrm>
            <a:off x="1536192" y="3977639"/>
            <a:ext cx="2194560" cy="4572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08760" y="4343400"/>
            <a:ext cx="6400800" cy="365760"/>
          </a:xfrm>
          <a:prstGeom prst="rect">
            <a:avLst/>
          </a:prstGeom>
          <a:noFill/>
        </p:spPr>
        <p:txBody>
          <a:bodyPr wrap="square" anchor="t">
            <a:spAutoFit/>
          </a:bodyPr>
          <a:lstStyle/>
          <a:p>
            <a:pPr algn="l"/>
            <a:r>
              <a:rPr sz="1500" b="1" i="0">
                <a:solidFill>
                  <a:srgbClr val="8D8D8D"/>
                </a:solidFill>
                <a:latin typeface="Liter"/>
              </a:rPr>
              <a:t>Why we are asking</a:t>
            </a:r>
          </a:p>
        </p:txBody>
      </p:sp>
      <p:sp>
        <p:nvSpPr>
          <p:cNvPr id="8" name="TextBox 7"/>
          <p:cNvSpPr txBox="1"/>
          <p:nvPr/>
        </p:nvSpPr>
        <p:spPr>
          <a:xfrm>
            <a:off x="1508760" y="4800600"/>
            <a:ext cx="6400800" cy="2743200"/>
          </a:xfrm>
          <a:prstGeom prst="rect">
            <a:avLst/>
          </a:prstGeom>
          <a:noFill/>
        </p:spPr>
        <p:txBody>
          <a:bodyPr wrap="square" anchor="t">
            <a:spAutoFit/>
          </a:bodyPr>
          <a:lstStyle/>
          <a:p>
            <a:pPr algn="l">
              <a:lnSpc>
                <a:spcPct val="130000"/>
              </a:lnSpc>
            </a:pPr>
            <a:r>
              <a:rPr sz="1800" b="0" i="0">
                <a:solidFill>
                  <a:srgbClr val="333333"/>
                </a:solidFill>
                <a:latin typeface="Liter"/>
              </a:rPr>
              <a:t>This is the strongest positive result in the project and it rests on twelve patients from one centre, which is exactly the situation where a result looks solid and is not.</a:t>
            </a:r>
          </a:p>
        </p:txBody>
      </p:sp>
      <p:sp>
        <p:nvSpPr>
          <p:cNvPr id="9" name="TextBox 8"/>
          <p:cNvSpPr txBox="1"/>
          <p:nvPr/>
        </p:nvSpPr>
        <p:spPr>
          <a:xfrm>
            <a:off x="8595360" y="4343400"/>
            <a:ext cx="6400800" cy="365760"/>
          </a:xfrm>
          <a:prstGeom prst="rect">
            <a:avLst/>
          </a:prstGeom>
          <a:noFill/>
        </p:spPr>
        <p:txBody>
          <a:bodyPr wrap="square" anchor="t">
            <a:spAutoFit/>
          </a:bodyPr>
          <a:lstStyle/>
          <a:p>
            <a:pPr algn="l"/>
            <a:r>
              <a:rPr sz="1500" b="1" i="0">
                <a:solidFill>
                  <a:srgbClr val="8D8D8D"/>
                </a:solidFill>
                <a:latin typeface="Liter"/>
              </a:rPr>
              <a:t>What each answer would mean</a:t>
            </a:r>
          </a:p>
        </p:txBody>
      </p:sp>
      <p:sp>
        <p:nvSpPr>
          <p:cNvPr id="10" name="TextBox 9"/>
          <p:cNvSpPr txBox="1"/>
          <p:nvPr/>
        </p:nvSpPr>
        <p:spPr>
          <a:xfrm>
            <a:off x="8595360" y="4800600"/>
            <a:ext cx="6309360" cy="2743200"/>
          </a:xfrm>
          <a:prstGeom prst="rect">
            <a:avLst/>
          </a:prstGeom>
          <a:noFill/>
        </p:spPr>
        <p:txBody>
          <a:bodyPr wrap="square" anchor="t">
            <a:spAutoFit/>
          </a:bodyPr>
          <a:lstStyle/>
          <a:p>
            <a:pPr algn="l">
              <a:lnSpc>
                <a:spcPct val="130000"/>
              </a:lnSpc>
            </a:pPr>
            <a:r>
              <a:rPr sz="1800" b="0" i="0">
                <a:solidFill>
                  <a:srgbClr val="333333"/>
                </a:solidFill>
                <a:latin typeface="Liter"/>
              </a:rPr>
              <a:t>Train on our sections only, then apply it unchanged to other laboratories.</a:t>
            </a:r>
          </a:p>
          <a:p>
            <a:pPr algn="l">
              <a:lnSpc>
                <a:spcPct val="130000"/>
              </a:lnSpc>
            </a:pPr>
            <a:r>
              <a:rPr sz="1800" b="0" i="0">
                <a:solidFill>
                  <a:srgbClr val="333333"/>
                </a:solidFill>
                <a:latin typeface="Liter"/>
              </a:rPr>
              <a:t/>
            </a:r>
          </a:p>
          <a:p>
            <a:pPr algn="l">
              <a:lnSpc>
                <a:spcPct val="130000"/>
              </a:lnSpc>
            </a:pPr>
            <a:r>
              <a:rPr sz="1800" b="0" i="0">
                <a:solidFill>
                  <a:srgbClr val="333333"/>
                </a:solidFill>
                <a:latin typeface="Liter"/>
              </a:rPr>
              <a:t>Nothing refitted, and the target is even defined differently there.</a:t>
            </a:r>
          </a:p>
        </p:txBody>
      </p:sp>
      <p:sp>
        <p:nvSpPr>
          <p:cNvPr id="11" name="Rectangle 10"/>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123444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1752" y="384048"/>
            <a:ext cx="457200" cy="45720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0"/>
            <a:ext cx="14081760" cy="1234440"/>
          </a:xfrm>
          <a:prstGeom prst="rect">
            <a:avLst/>
          </a:prstGeom>
          <a:noFill/>
        </p:spPr>
        <p:txBody>
          <a:bodyPr wrap="square" anchor="ctr">
            <a:spAutoFit/>
          </a:bodyPr>
          <a:lstStyle/>
          <a:p>
            <a:pPr algn="l"/>
            <a:r>
              <a:rPr sz="2500" b="1" i="0">
                <a:solidFill>
                  <a:srgbClr val="FFFFFF"/>
                </a:solidFill>
                <a:latin typeface="Liter"/>
              </a:rPr>
              <a:t>Q12   YES, AND IT FAILS WHERE IT SHOULD</a:t>
            </a:r>
          </a:p>
        </p:txBody>
      </p:sp>
      <p:sp>
        <p:nvSpPr>
          <p:cNvPr id="5" name="TextBox 4"/>
          <p:cNvSpPr txBox="1"/>
          <p:nvPr/>
        </p:nvSpPr>
        <p:spPr>
          <a:xfrm>
            <a:off x="685800" y="1371600"/>
            <a:ext cx="14904720" cy="822960"/>
          </a:xfrm>
          <a:prstGeom prst="rect">
            <a:avLst/>
          </a:prstGeom>
          <a:noFill/>
        </p:spPr>
        <p:txBody>
          <a:bodyPr wrap="square" anchor="t">
            <a:spAutoFit/>
          </a:bodyPr>
          <a:lstStyle/>
          <a:p>
            <a:pPr algn="l">
              <a:lnSpc>
                <a:spcPct val="115000"/>
              </a:lnSpc>
            </a:pPr>
            <a:r>
              <a:rPr sz="2100" b="1" i="0">
                <a:solidFill>
                  <a:srgbClr val="1BAF7A"/>
                </a:solidFill>
                <a:latin typeface="Liter"/>
              </a:rPr>
              <a:t>Applied to 158 sections from other laboratories: median agreement 0.30, and 0.27 on the four pancreas sections specifically.</a:t>
            </a:r>
          </a:p>
        </p:txBody>
      </p:sp>
      <p:pic>
        <p:nvPicPr>
          <p:cNvPr id="6" name="Picture 5" descr="q12_external.png"/>
          <p:cNvPicPr>
            <a:picLocks noChangeAspect="1"/>
          </p:cNvPicPr>
          <p:nvPr/>
        </p:nvPicPr>
        <p:blipFill>
          <a:blip r:embed="rId2"/>
          <a:stretch>
            <a:fillRect/>
          </a:stretch>
        </p:blipFill>
        <p:spPr>
          <a:xfrm>
            <a:off x="2424728" y="2240280"/>
            <a:ext cx="11426862" cy="5394959"/>
          </a:xfrm>
          <a:prstGeom prst="rect">
            <a:avLst/>
          </a:prstGeom>
        </p:spPr>
      </p:pic>
      <p:sp>
        <p:nvSpPr>
          <p:cNvPr id="7" name="Rectangle 6"/>
          <p:cNvSpPr/>
          <p:nvPr/>
        </p:nvSpPr>
        <p:spPr>
          <a:xfrm>
            <a:off x="0" y="8138160"/>
            <a:ext cx="16256020" cy="822960"/>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8138160"/>
            <a:ext cx="14904720" cy="822960"/>
          </a:xfrm>
          <a:prstGeom prst="rect">
            <a:avLst/>
          </a:prstGeom>
          <a:noFill/>
        </p:spPr>
        <p:txBody>
          <a:bodyPr wrap="square" anchor="ctr">
            <a:spAutoFit/>
          </a:bodyPr>
          <a:lstStyle/>
          <a:p>
            <a:pPr algn="l"/>
            <a:r>
              <a:rPr sz="1500" b="1" i="0">
                <a:solidFill>
                  <a:srgbClr val="333333"/>
                </a:solidFill>
                <a:latin typeface="Liter"/>
              </a:rPr>
              <a:t>Brain sits at zero, which is the control that makes the rest credible: brain has almost no collagen stroma to find.</a:t>
            </a:r>
          </a:p>
        </p:txBody>
      </p:sp>
      <p:sp>
        <p:nvSpPr>
          <p:cNvPr id="9" name="Rectangle 8"/>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51560" cy="9144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 y="548640"/>
            <a:ext cx="914400" cy="822960"/>
          </a:xfrm>
          <a:prstGeom prst="rect">
            <a:avLst/>
          </a:prstGeom>
          <a:noFill/>
        </p:spPr>
        <p:txBody>
          <a:bodyPr wrap="square" anchor="t">
            <a:spAutoFit/>
          </a:bodyPr>
          <a:lstStyle/>
          <a:p>
            <a:pPr algn="ctr"/>
            <a:r>
              <a:rPr sz="3400" b="1" i="0">
                <a:solidFill>
                  <a:srgbClr val="FFFFFF"/>
                </a:solidFill>
                <a:latin typeface="Liter"/>
              </a:rPr>
              <a:t>Q13</a:t>
            </a:r>
          </a:p>
        </p:txBody>
      </p:sp>
      <p:sp>
        <p:nvSpPr>
          <p:cNvPr id="4" name="TextBox 3"/>
          <p:cNvSpPr txBox="1"/>
          <p:nvPr/>
        </p:nvSpPr>
        <p:spPr>
          <a:xfrm>
            <a:off x="1508760" y="868680"/>
            <a:ext cx="5486400" cy="365760"/>
          </a:xfrm>
          <a:prstGeom prst="rect">
            <a:avLst/>
          </a:prstGeom>
          <a:noFill/>
        </p:spPr>
        <p:txBody>
          <a:bodyPr wrap="square" anchor="t">
            <a:spAutoFit/>
          </a:bodyPr>
          <a:lstStyle/>
          <a:p>
            <a:pPr algn="l"/>
            <a:r>
              <a:rPr sz="1400" b="1" i="0">
                <a:solidFill>
                  <a:srgbClr val="8D8D8D"/>
                </a:solidFill>
                <a:latin typeface="Liter"/>
              </a:rPr>
              <a:t>QUESTION</a:t>
            </a:r>
          </a:p>
        </p:txBody>
      </p:sp>
      <p:sp>
        <p:nvSpPr>
          <p:cNvPr id="5" name="TextBox 4"/>
          <p:cNvSpPr txBox="1"/>
          <p:nvPr/>
        </p:nvSpPr>
        <p:spPr>
          <a:xfrm>
            <a:off x="1508760" y="1371600"/>
            <a:ext cx="13350240" cy="2286000"/>
          </a:xfrm>
          <a:prstGeom prst="rect">
            <a:avLst/>
          </a:prstGeom>
          <a:noFill/>
        </p:spPr>
        <p:txBody>
          <a:bodyPr wrap="square" anchor="t">
            <a:spAutoFit/>
          </a:bodyPr>
          <a:lstStyle/>
          <a:p>
            <a:pPr algn="l">
              <a:lnSpc>
                <a:spcPct val="112000"/>
              </a:lnSpc>
            </a:pPr>
            <a:r>
              <a:rPr sz="3600" b="1" i="0">
                <a:solidFill>
                  <a:srgbClr val="1BAF7A"/>
                </a:solidFill>
                <a:latin typeface="Liter"/>
              </a:rPr>
              <a:t>Is it usable, and do we know what it is looking at?</a:t>
            </a:r>
          </a:p>
        </p:txBody>
      </p:sp>
      <p:sp>
        <p:nvSpPr>
          <p:cNvPr id="6" name="Rectangle 5"/>
          <p:cNvSpPr/>
          <p:nvPr/>
        </p:nvSpPr>
        <p:spPr>
          <a:xfrm>
            <a:off x="1536192" y="3977639"/>
            <a:ext cx="2194560" cy="4572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08760" y="4343400"/>
            <a:ext cx="6400800" cy="365760"/>
          </a:xfrm>
          <a:prstGeom prst="rect">
            <a:avLst/>
          </a:prstGeom>
          <a:noFill/>
        </p:spPr>
        <p:txBody>
          <a:bodyPr wrap="square" anchor="t">
            <a:spAutoFit/>
          </a:bodyPr>
          <a:lstStyle/>
          <a:p>
            <a:pPr algn="l"/>
            <a:r>
              <a:rPr sz="1500" b="1" i="0">
                <a:solidFill>
                  <a:srgbClr val="8D8D8D"/>
                </a:solidFill>
                <a:latin typeface="Liter"/>
              </a:rPr>
              <a:t>Why we are asking</a:t>
            </a:r>
          </a:p>
        </p:txBody>
      </p:sp>
      <p:sp>
        <p:nvSpPr>
          <p:cNvPr id="8" name="TextBox 7"/>
          <p:cNvSpPr txBox="1"/>
          <p:nvPr/>
        </p:nvSpPr>
        <p:spPr>
          <a:xfrm>
            <a:off x="1508760" y="4800600"/>
            <a:ext cx="6400800" cy="2743200"/>
          </a:xfrm>
          <a:prstGeom prst="rect">
            <a:avLst/>
          </a:prstGeom>
          <a:noFill/>
        </p:spPr>
        <p:txBody>
          <a:bodyPr wrap="square" anchor="t">
            <a:spAutoFit/>
          </a:bodyPr>
          <a:lstStyle/>
          <a:p>
            <a:pPr algn="l">
              <a:lnSpc>
                <a:spcPct val="130000"/>
              </a:lnSpc>
            </a:pPr>
            <a:r>
              <a:rPr sz="1800" b="0" i="0">
                <a:solidFill>
                  <a:srgbClr val="333333"/>
                </a:solidFill>
                <a:latin typeface="Liter"/>
              </a:rPr>
              <a:t>A spot-level correlation is not something a clinician can act on, and a foundation model nobody can interrogate is hard to trust in a hospital.</a:t>
            </a:r>
          </a:p>
        </p:txBody>
      </p:sp>
      <p:sp>
        <p:nvSpPr>
          <p:cNvPr id="9" name="TextBox 8"/>
          <p:cNvSpPr txBox="1"/>
          <p:nvPr/>
        </p:nvSpPr>
        <p:spPr>
          <a:xfrm>
            <a:off x="8595360" y="4343400"/>
            <a:ext cx="6400800" cy="365760"/>
          </a:xfrm>
          <a:prstGeom prst="rect">
            <a:avLst/>
          </a:prstGeom>
          <a:noFill/>
        </p:spPr>
        <p:txBody>
          <a:bodyPr wrap="square" anchor="t">
            <a:spAutoFit/>
          </a:bodyPr>
          <a:lstStyle/>
          <a:p>
            <a:pPr algn="l"/>
            <a:r>
              <a:rPr sz="1500" b="1" i="0">
                <a:solidFill>
                  <a:srgbClr val="8D8D8D"/>
                </a:solidFill>
                <a:latin typeface="Liter"/>
              </a:rPr>
              <a:t>What each answer would mean</a:t>
            </a:r>
          </a:p>
        </p:txBody>
      </p:sp>
      <p:sp>
        <p:nvSpPr>
          <p:cNvPr id="10" name="TextBox 9"/>
          <p:cNvSpPr txBox="1"/>
          <p:nvPr/>
        </p:nvSpPr>
        <p:spPr>
          <a:xfrm>
            <a:off x="8595360" y="4800600"/>
            <a:ext cx="6309360" cy="2743200"/>
          </a:xfrm>
          <a:prstGeom prst="rect">
            <a:avLst/>
          </a:prstGeom>
          <a:noFill/>
        </p:spPr>
        <p:txBody>
          <a:bodyPr wrap="square" anchor="t">
            <a:spAutoFit/>
          </a:bodyPr>
          <a:lstStyle/>
          <a:p>
            <a:pPr algn="l">
              <a:lnSpc>
                <a:spcPct val="130000"/>
              </a:lnSpc>
            </a:pPr>
            <a:r>
              <a:rPr sz="1800" b="0" i="0">
                <a:solidFill>
                  <a:srgbClr val="333333"/>
                </a:solidFill>
                <a:latin typeface="Liter"/>
              </a:rPr>
              <a:t>Averaging over a section gives the shape a report would take.</a:t>
            </a:r>
          </a:p>
          <a:p>
            <a:pPr algn="l">
              <a:lnSpc>
                <a:spcPct val="130000"/>
              </a:lnSpc>
            </a:pPr>
            <a:r>
              <a:rPr sz="1800" b="0" i="0">
                <a:solidFill>
                  <a:srgbClr val="333333"/>
                </a:solidFill>
                <a:latin typeface="Liter"/>
              </a:rPr>
              <a:t/>
            </a:r>
          </a:p>
          <a:p>
            <a:pPr algn="l">
              <a:lnSpc>
                <a:spcPct val="130000"/>
              </a:lnSpc>
            </a:pPr>
            <a:r>
              <a:rPr sz="1800" b="0" i="0">
                <a:solidFill>
                  <a:srgbClr val="333333"/>
                </a:solidFill>
                <a:latin typeface="Liter"/>
              </a:rPr>
              <a:t>Regressing the output on named image statistics says what it keys on.</a:t>
            </a:r>
          </a:p>
        </p:txBody>
      </p:sp>
      <p:sp>
        <p:nvSpPr>
          <p:cNvPr id="11" name="Rectangle 10"/>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123444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1752" y="384048"/>
            <a:ext cx="457200" cy="45720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0"/>
            <a:ext cx="14081760" cy="1234440"/>
          </a:xfrm>
          <a:prstGeom prst="rect">
            <a:avLst/>
          </a:prstGeom>
          <a:noFill/>
        </p:spPr>
        <p:txBody>
          <a:bodyPr wrap="square" anchor="ctr">
            <a:spAutoFit/>
          </a:bodyPr>
          <a:lstStyle/>
          <a:p>
            <a:pPr algn="l"/>
            <a:r>
              <a:rPr sz="2500" b="1" i="0">
                <a:solidFill>
                  <a:srgbClr val="FFFFFF"/>
                </a:solidFill>
                <a:latin typeface="Liter"/>
              </a:rPr>
              <a:t>Q13   YES ON BOTH</a:t>
            </a:r>
          </a:p>
        </p:txBody>
      </p:sp>
      <p:sp>
        <p:nvSpPr>
          <p:cNvPr id="5" name="TextBox 4"/>
          <p:cNvSpPr txBox="1"/>
          <p:nvPr/>
        </p:nvSpPr>
        <p:spPr>
          <a:xfrm>
            <a:off x="685800" y="1371600"/>
            <a:ext cx="14904720" cy="822960"/>
          </a:xfrm>
          <a:prstGeom prst="rect">
            <a:avLst/>
          </a:prstGeom>
          <a:noFill/>
        </p:spPr>
        <p:txBody>
          <a:bodyPr wrap="square" anchor="t">
            <a:spAutoFit/>
          </a:bodyPr>
          <a:lstStyle/>
          <a:p>
            <a:pPr algn="l">
              <a:lnSpc>
                <a:spcPct val="115000"/>
              </a:lnSpc>
            </a:pPr>
            <a:r>
              <a:rPr sz="2100" b="1" i="0">
                <a:solidFill>
                  <a:srgbClr val="1BAF7A"/>
                </a:solidFill>
                <a:latin typeface="Liter"/>
              </a:rPr>
              <a:t>One number per section tracks measured fibroblast content at 0.91, and the model keys on pale, smooth, nucleus-poor tissue, which is collagenous stroma.</a:t>
            </a:r>
          </a:p>
        </p:txBody>
      </p:sp>
      <p:pic>
        <p:nvPicPr>
          <p:cNvPr id="6" name="Picture 5" descr="q13_usable.png"/>
          <p:cNvPicPr>
            <a:picLocks noChangeAspect="1"/>
          </p:cNvPicPr>
          <p:nvPr/>
        </p:nvPicPr>
        <p:blipFill>
          <a:blip r:embed="rId2"/>
          <a:stretch>
            <a:fillRect/>
          </a:stretch>
        </p:blipFill>
        <p:spPr>
          <a:xfrm>
            <a:off x="1148983" y="2240280"/>
            <a:ext cx="13978352" cy="5394959"/>
          </a:xfrm>
          <a:prstGeom prst="rect">
            <a:avLst/>
          </a:prstGeom>
        </p:spPr>
      </p:pic>
      <p:sp>
        <p:nvSpPr>
          <p:cNvPr id="7" name="Rectangle 6"/>
          <p:cNvSpPr/>
          <p:nvPr/>
        </p:nvSpPr>
        <p:spPr>
          <a:xfrm>
            <a:off x="0" y="8138160"/>
            <a:ext cx="16256020" cy="822960"/>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8138160"/>
            <a:ext cx="14904720" cy="822960"/>
          </a:xfrm>
          <a:prstGeom prst="rect">
            <a:avLst/>
          </a:prstGeom>
          <a:noFill/>
        </p:spPr>
        <p:txBody>
          <a:bodyPr wrap="square" anchor="ctr">
            <a:spAutoFit/>
          </a:bodyPr>
          <a:lstStyle/>
          <a:p>
            <a:pPr algn="l"/>
            <a:r>
              <a:rPr sz="1500" b="1" i="0">
                <a:solidFill>
                  <a:srgbClr val="333333"/>
                </a:solidFill>
                <a:latin typeface="Liter"/>
              </a:rPr>
              <a:t>Primary tumours score highest, metastases lower, normal pancreas near zero. That ordering was recovered from the images alone.</a:t>
            </a:r>
          </a:p>
        </p:txBody>
      </p:sp>
      <p:sp>
        <p:nvSpPr>
          <p:cNvPr id="9" name="Rectangle 8"/>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51560" cy="914400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 y="548640"/>
            <a:ext cx="914400" cy="822960"/>
          </a:xfrm>
          <a:prstGeom prst="rect">
            <a:avLst/>
          </a:prstGeom>
          <a:noFill/>
        </p:spPr>
        <p:txBody>
          <a:bodyPr wrap="square" anchor="t">
            <a:spAutoFit/>
          </a:bodyPr>
          <a:lstStyle/>
          <a:p>
            <a:pPr algn="ctr"/>
            <a:r>
              <a:rPr sz="3400" b="1" i="0">
                <a:solidFill>
                  <a:srgbClr val="FFFFFF"/>
                </a:solidFill>
                <a:latin typeface="Liter"/>
              </a:rPr>
              <a:t>Q14</a:t>
            </a:r>
          </a:p>
        </p:txBody>
      </p:sp>
      <p:sp>
        <p:nvSpPr>
          <p:cNvPr id="4" name="TextBox 3"/>
          <p:cNvSpPr txBox="1"/>
          <p:nvPr/>
        </p:nvSpPr>
        <p:spPr>
          <a:xfrm>
            <a:off x="1508760" y="868680"/>
            <a:ext cx="5486400" cy="365760"/>
          </a:xfrm>
          <a:prstGeom prst="rect">
            <a:avLst/>
          </a:prstGeom>
          <a:noFill/>
        </p:spPr>
        <p:txBody>
          <a:bodyPr wrap="square" anchor="t">
            <a:spAutoFit/>
          </a:bodyPr>
          <a:lstStyle/>
          <a:p>
            <a:pPr algn="l"/>
            <a:r>
              <a:rPr sz="1400" b="1" i="0">
                <a:solidFill>
                  <a:srgbClr val="8D8D8D"/>
                </a:solidFill>
                <a:latin typeface="Liter"/>
              </a:rPr>
              <a:t>QUESTION</a:t>
            </a:r>
          </a:p>
        </p:txBody>
      </p:sp>
      <p:sp>
        <p:nvSpPr>
          <p:cNvPr id="5" name="TextBox 4"/>
          <p:cNvSpPr txBox="1"/>
          <p:nvPr/>
        </p:nvSpPr>
        <p:spPr>
          <a:xfrm>
            <a:off x="1508760" y="1371600"/>
            <a:ext cx="13350240" cy="2286000"/>
          </a:xfrm>
          <a:prstGeom prst="rect">
            <a:avLst/>
          </a:prstGeom>
          <a:noFill/>
        </p:spPr>
        <p:txBody>
          <a:bodyPr wrap="square" anchor="t">
            <a:spAutoFit/>
          </a:bodyPr>
          <a:lstStyle/>
          <a:p>
            <a:pPr algn="l">
              <a:lnSpc>
                <a:spcPct val="112000"/>
              </a:lnSpc>
            </a:pPr>
            <a:r>
              <a:rPr sz="3600" b="1" i="0">
                <a:solidFill>
                  <a:srgbClr val="E07B54"/>
                </a:solidFill>
                <a:latin typeface="Liter"/>
              </a:rPr>
              <a:t>Does any of this depend on which AI model I used?</a:t>
            </a:r>
          </a:p>
        </p:txBody>
      </p:sp>
      <p:sp>
        <p:nvSpPr>
          <p:cNvPr id="6" name="Rectangle 5"/>
          <p:cNvSpPr/>
          <p:nvPr/>
        </p:nvSpPr>
        <p:spPr>
          <a:xfrm>
            <a:off x="1536192" y="3977639"/>
            <a:ext cx="2194560" cy="4572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08760" y="4343400"/>
            <a:ext cx="6400800" cy="365760"/>
          </a:xfrm>
          <a:prstGeom prst="rect">
            <a:avLst/>
          </a:prstGeom>
          <a:noFill/>
        </p:spPr>
        <p:txBody>
          <a:bodyPr wrap="square" anchor="t">
            <a:spAutoFit/>
          </a:bodyPr>
          <a:lstStyle/>
          <a:p>
            <a:pPr algn="l"/>
            <a:r>
              <a:rPr sz="1500" b="1" i="0">
                <a:solidFill>
                  <a:srgbClr val="8D8D8D"/>
                </a:solidFill>
                <a:latin typeface="Liter"/>
              </a:rPr>
              <a:t>Why we are asking</a:t>
            </a:r>
          </a:p>
        </p:txBody>
      </p:sp>
      <p:sp>
        <p:nvSpPr>
          <p:cNvPr id="8" name="TextBox 7"/>
          <p:cNvSpPr txBox="1"/>
          <p:nvPr/>
        </p:nvSpPr>
        <p:spPr>
          <a:xfrm>
            <a:off x="1508760" y="4800600"/>
            <a:ext cx="6400800" cy="2743200"/>
          </a:xfrm>
          <a:prstGeom prst="rect">
            <a:avLst/>
          </a:prstGeom>
          <a:noFill/>
        </p:spPr>
        <p:txBody>
          <a:bodyPr wrap="square" anchor="t">
            <a:spAutoFit/>
          </a:bodyPr>
          <a:lstStyle/>
          <a:p>
            <a:pPr algn="l">
              <a:lnSpc>
                <a:spcPct val="130000"/>
              </a:lnSpc>
            </a:pPr>
            <a:r>
              <a:rPr sz="1800" b="0" i="0">
                <a:solidFill>
                  <a:srgbClr val="333333"/>
                </a:solidFill>
                <a:latin typeface="Liter"/>
              </a:rPr>
              <a:t>Every image result so far came from one encoder. If the findings are properties of that encoder rather than of the tissue, none of them mean what I have been saying they mean.</a:t>
            </a:r>
          </a:p>
        </p:txBody>
      </p:sp>
      <p:sp>
        <p:nvSpPr>
          <p:cNvPr id="9" name="TextBox 8"/>
          <p:cNvSpPr txBox="1"/>
          <p:nvPr/>
        </p:nvSpPr>
        <p:spPr>
          <a:xfrm>
            <a:off x="8595360" y="4343400"/>
            <a:ext cx="6400800" cy="365760"/>
          </a:xfrm>
          <a:prstGeom prst="rect">
            <a:avLst/>
          </a:prstGeom>
          <a:noFill/>
        </p:spPr>
        <p:txBody>
          <a:bodyPr wrap="square" anchor="t">
            <a:spAutoFit/>
          </a:bodyPr>
          <a:lstStyle/>
          <a:p>
            <a:pPr algn="l"/>
            <a:r>
              <a:rPr sz="1500" b="1" i="0">
                <a:solidFill>
                  <a:srgbClr val="8D8D8D"/>
                </a:solidFill>
                <a:latin typeface="Liter"/>
              </a:rPr>
              <a:t>What each answer would mean</a:t>
            </a:r>
          </a:p>
        </p:txBody>
      </p:sp>
      <p:sp>
        <p:nvSpPr>
          <p:cNvPr id="10" name="TextBox 9"/>
          <p:cNvSpPr txBox="1"/>
          <p:nvPr/>
        </p:nvSpPr>
        <p:spPr>
          <a:xfrm>
            <a:off x="8595360" y="4800600"/>
            <a:ext cx="6309360" cy="2743200"/>
          </a:xfrm>
          <a:prstGeom prst="rect">
            <a:avLst/>
          </a:prstGeom>
          <a:noFill/>
        </p:spPr>
        <p:txBody>
          <a:bodyPr wrap="square" anchor="t">
            <a:spAutoFit/>
          </a:bodyPr>
          <a:lstStyle/>
          <a:p>
            <a:pPr algn="l">
              <a:lnSpc>
                <a:spcPct val="130000"/>
              </a:lnSpc>
            </a:pPr>
            <a:r>
              <a:rPr sz="1800" b="0" i="0">
                <a:solidFill>
                  <a:srgbClr val="333333"/>
                </a:solidFill>
                <a:latin typeface="Liter"/>
              </a:rPr>
              <a:t>I re-ran everything under three encoders: UNI2-h, H-optimus-1 and Virchow2.</a:t>
            </a:r>
          </a:p>
          <a:p>
            <a:pPr algn="l">
              <a:lnSpc>
                <a:spcPct val="130000"/>
              </a:lnSpc>
            </a:pPr>
            <a:r>
              <a:rPr sz="1800" b="0" i="0">
                <a:solidFill>
                  <a:srgbClr val="333333"/>
                </a:solidFill>
                <a:latin typeface="Liter"/>
              </a:rPr>
              <a:t/>
            </a:r>
          </a:p>
          <a:p>
            <a:pPr algn="l">
              <a:lnSpc>
                <a:spcPct val="130000"/>
              </a:lnSpc>
            </a:pPr>
            <a:r>
              <a:rPr sz="1800" b="0" i="0">
                <a:solidFill>
                  <a:srgbClr val="333333"/>
                </a:solidFill>
                <a:latin typeface="Liter"/>
              </a:rPr>
              <a:t>Same spots, same held-out patients, same code. Only the features change.</a:t>
            </a:r>
          </a:p>
        </p:txBody>
      </p:sp>
      <p:sp>
        <p:nvSpPr>
          <p:cNvPr id="11" name="Rectangle 10"/>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123444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1752" y="384048"/>
            <a:ext cx="457200" cy="45720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0"/>
            <a:ext cx="14081760" cy="1234440"/>
          </a:xfrm>
          <a:prstGeom prst="rect">
            <a:avLst/>
          </a:prstGeom>
          <a:noFill/>
        </p:spPr>
        <p:txBody>
          <a:bodyPr wrap="square" anchor="ctr">
            <a:spAutoFit/>
          </a:bodyPr>
          <a:lstStyle/>
          <a:p>
            <a:pPr algn="l"/>
            <a:r>
              <a:rPr sz="2500" b="1" i="0">
                <a:solidFill>
                  <a:srgbClr val="FFFFFF"/>
                </a:solidFill>
                <a:latin typeface="Liter"/>
              </a:rPr>
              <a:t>Q14   MOSTLY NO, AND IT CAUGHT ME OVERSTATING ONE THING</a:t>
            </a:r>
          </a:p>
        </p:txBody>
      </p:sp>
      <p:sp>
        <p:nvSpPr>
          <p:cNvPr id="5" name="TextBox 4"/>
          <p:cNvSpPr txBox="1"/>
          <p:nvPr/>
        </p:nvSpPr>
        <p:spPr>
          <a:xfrm>
            <a:off x="685800" y="1371600"/>
            <a:ext cx="14904720" cy="822960"/>
          </a:xfrm>
          <a:prstGeom prst="rect">
            <a:avLst/>
          </a:prstGeom>
          <a:noFill/>
        </p:spPr>
        <p:txBody>
          <a:bodyPr wrap="square" anchor="t">
            <a:spAutoFit/>
          </a:bodyPr>
          <a:lstStyle/>
          <a:p>
            <a:pPr algn="l">
              <a:lnSpc>
                <a:spcPct val="115000"/>
              </a:lnSpc>
            </a:pPr>
            <a:r>
              <a:rPr sz="2100" b="1" i="0">
                <a:solidFill>
                  <a:srgbClr val="E07B54"/>
                </a:solidFill>
                <a:latin typeface="Liter"/>
              </a:rPr>
              <a:t>The fibroblast result is identical under all three (0.775, 0.775, 0.764). The liver advantage in Q2 is real under all three but about half as large as I showed you.</a:t>
            </a:r>
          </a:p>
        </p:txBody>
      </p:sp>
      <p:pic>
        <p:nvPicPr>
          <p:cNvPr id="6" name="Picture 5" descr="q_encoders.png"/>
          <p:cNvPicPr>
            <a:picLocks noChangeAspect="1"/>
          </p:cNvPicPr>
          <p:nvPr/>
        </p:nvPicPr>
        <p:blipFill>
          <a:blip r:embed="rId2"/>
          <a:stretch>
            <a:fillRect/>
          </a:stretch>
        </p:blipFill>
        <p:spPr>
          <a:xfrm>
            <a:off x="1055379" y="2240280"/>
            <a:ext cx="14165561" cy="5394960"/>
          </a:xfrm>
          <a:prstGeom prst="rect">
            <a:avLst/>
          </a:prstGeom>
        </p:spPr>
      </p:pic>
      <p:sp>
        <p:nvSpPr>
          <p:cNvPr id="7" name="Rectangle 6"/>
          <p:cNvSpPr/>
          <p:nvPr/>
        </p:nvSpPr>
        <p:spPr>
          <a:xfrm>
            <a:off x="0" y="8138160"/>
            <a:ext cx="16256020" cy="822960"/>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8138160"/>
            <a:ext cx="14904720" cy="822960"/>
          </a:xfrm>
          <a:prstGeom prst="rect">
            <a:avLst/>
          </a:prstGeom>
          <a:noFill/>
        </p:spPr>
        <p:txBody>
          <a:bodyPr wrap="square" anchor="ctr">
            <a:spAutoFit/>
          </a:bodyPr>
          <a:lstStyle/>
          <a:p>
            <a:pPr algn="l"/>
            <a:r>
              <a:rPr sz="1500" b="1" i="0">
                <a:solidFill>
                  <a:srgbClr val="333333"/>
                </a:solidFill>
                <a:latin typeface="Liter"/>
              </a:rPr>
              <a:t>Panel b is what matters: cross-site transfer stays near chance under every encoder, so the central negative holds.</a:t>
            </a:r>
          </a:p>
        </p:txBody>
      </p:sp>
      <p:sp>
        <p:nvSpPr>
          <p:cNvPr id="9" name="Rectangle 8"/>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51560" cy="914400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 y="548640"/>
            <a:ext cx="914400" cy="822960"/>
          </a:xfrm>
          <a:prstGeom prst="rect">
            <a:avLst/>
          </a:prstGeom>
          <a:noFill/>
        </p:spPr>
        <p:txBody>
          <a:bodyPr wrap="square" anchor="t">
            <a:spAutoFit/>
          </a:bodyPr>
          <a:lstStyle/>
          <a:p>
            <a:pPr algn="ctr"/>
            <a:r>
              <a:rPr sz="3400" b="1" i="0">
                <a:solidFill>
                  <a:srgbClr val="FFFFFF"/>
                </a:solidFill>
                <a:latin typeface="Liter"/>
              </a:rPr>
              <a:t>Q15</a:t>
            </a:r>
          </a:p>
        </p:txBody>
      </p:sp>
      <p:sp>
        <p:nvSpPr>
          <p:cNvPr id="4" name="TextBox 3"/>
          <p:cNvSpPr txBox="1"/>
          <p:nvPr/>
        </p:nvSpPr>
        <p:spPr>
          <a:xfrm>
            <a:off x="1508760" y="868680"/>
            <a:ext cx="5486400" cy="365760"/>
          </a:xfrm>
          <a:prstGeom prst="rect">
            <a:avLst/>
          </a:prstGeom>
          <a:noFill/>
        </p:spPr>
        <p:txBody>
          <a:bodyPr wrap="square" anchor="t">
            <a:spAutoFit/>
          </a:bodyPr>
          <a:lstStyle/>
          <a:p>
            <a:pPr algn="l"/>
            <a:r>
              <a:rPr sz="1400" b="1" i="0">
                <a:solidFill>
                  <a:srgbClr val="8D8D8D"/>
                </a:solidFill>
                <a:latin typeface="Liter"/>
              </a:rPr>
              <a:t>QUESTION</a:t>
            </a:r>
          </a:p>
        </p:txBody>
      </p:sp>
      <p:sp>
        <p:nvSpPr>
          <p:cNvPr id="5" name="TextBox 4"/>
          <p:cNvSpPr txBox="1"/>
          <p:nvPr/>
        </p:nvSpPr>
        <p:spPr>
          <a:xfrm>
            <a:off x="1508760" y="1371600"/>
            <a:ext cx="13350240" cy="2286000"/>
          </a:xfrm>
          <a:prstGeom prst="rect">
            <a:avLst/>
          </a:prstGeom>
          <a:noFill/>
        </p:spPr>
        <p:txBody>
          <a:bodyPr wrap="square" anchor="t">
            <a:spAutoFit/>
          </a:bodyPr>
          <a:lstStyle/>
          <a:p>
            <a:pPr algn="l">
              <a:lnSpc>
                <a:spcPct val="112000"/>
              </a:lnSpc>
            </a:pPr>
            <a:r>
              <a:rPr sz="3600" b="1" i="0">
                <a:solidFill>
                  <a:srgbClr val="E07B54"/>
                </a:solidFill>
                <a:latin typeface="Liter"/>
              </a:rPr>
              <a:t>Does any of this hold in a completely different cohort?</a:t>
            </a:r>
          </a:p>
        </p:txBody>
      </p:sp>
      <p:sp>
        <p:nvSpPr>
          <p:cNvPr id="6" name="Rectangle 5"/>
          <p:cNvSpPr/>
          <p:nvPr/>
        </p:nvSpPr>
        <p:spPr>
          <a:xfrm>
            <a:off x="1536192" y="3977639"/>
            <a:ext cx="2194560" cy="4572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08760" y="4343400"/>
            <a:ext cx="6400800" cy="365760"/>
          </a:xfrm>
          <a:prstGeom prst="rect">
            <a:avLst/>
          </a:prstGeom>
          <a:noFill/>
        </p:spPr>
        <p:txBody>
          <a:bodyPr wrap="square" anchor="t">
            <a:spAutoFit/>
          </a:bodyPr>
          <a:lstStyle/>
          <a:p>
            <a:pPr algn="l"/>
            <a:r>
              <a:rPr sz="1500" b="1" i="0">
                <a:solidFill>
                  <a:srgbClr val="8D8D8D"/>
                </a:solidFill>
                <a:latin typeface="Liter"/>
              </a:rPr>
              <a:t>Why we are asking</a:t>
            </a:r>
          </a:p>
        </p:txBody>
      </p:sp>
      <p:sp>
        <p:nvSpPr>
          <p:cNvPr id="8" name="TextBox 7"/>
          <p:cNvSpPr txBox="1"/>
          <p:nvPr/>
        </p:nvSpPr>
        <p:spPr>
          <a:xfrm>
            <a:off x="1508760" y="4800600"/>
            <a:ext cx="6400800" cy="2743200"/>
          </a:xfrm>
          <a:prstGeom prst="rect">
            <a:avLst/>
          </a:prstGeom>
          <a:noFill/>
        </p:spPr>
        <p:txBody>
          <a:bodyPr wrap="square" anchor="t">
            <a:spAutoFit/>
          </a:bodyPr>
          <a:lstStyle/>
          <a:p>
            <a:pPr algn="l">
              <a:lnSpc>
                <a:spcPct val="130000"/>
              </a:lnSpc>
            </a:pPr>
            <a:r>
              <a:rPr sz="1800" b="0" i="0">
                <a:solidFill>
                  <a:srgbClr val="333333"/>
                </a:solidFill>
                <a:latin typeface="Liter"/>
              </a:rPr>
              <a:t>Everything so far rests on one set of patients from one centre. A second cohort with its own patients, its own scanner and its own laboratory is the only way to know which findings were ours and which were the tissue's.</a:t>
            </a:r>
          </a:p>
        </p:txBody>
      </p:sp>
      <p:sp>
        <p:nvSpPr>
          <p:cNvPr id="9" name="TextBox 8"/>
          <p:cNvSpPr txBox="1"/>
          <p:nvPr/>
        </p:nvSpPr>
        <p:spPr>
          <a:xfrm>
            <a:off x="8595360" y="4343400"/>
            <a:ext cx="6400800" cy="365760"/>
          </a:xfrm>
          <a:prstGeom prst="rect">
            <a:avLst/>
          </a:prstGeom>
          <a:noFill/>
        </p:spPr>
        <p:txBody>
          <a:bodyPr wrap="square" anchor="t">
            <a:spAutoFit/>
          </a:bodyPr>
          <a:lstStyle/>
          <a:p>
            <a:pPr algn="l"/>
            <a:r>
              <a:rPr sz="1500" b="1" i="0">
                <a:solidFill>
                  <a:srgbClr val="8D8D8D"/>
                </a:solidFill>
                <a:latin typeface="Liter"/>
              </a:rPr>
              <a:t>What each answer would mean</a:t>
            </a:r>
          </a:p>
        </p:txBody>
      </p:sp>
      <p:sp>
        <p:nvSpPr>
          <p:cNvPr id="10" name="TextBox 9"/>
          <p:cNvSpPr txBox="1"/>
          <p:nvPr/>
        </p:nvSpPr>
        <p:spPr>
          <a:xfrm>
            <a:off x="8595360" y="4800600"/>
            <a:ext cx="6309360" cy="2743200"/>
          </a:xfrm>
          <a:prstGeom prst="rect">
            <a:avLst/>
          </a:prstGeom>
          <a:noFill/>
        </p:spPr>
        <p:txBody>
          <a:bodyPr wrap="square" anchor="t">
            <a:spAutoFit/>
          </a:bodyPr>
          <a:lstStyle/>
          <a:p>
            <a:pPr algn="l">
              <a:lnSpc>
                <a:spcPct val="130000"/>
              </a:lnSpc>
            </a:pPr>
            <a:r>
              <a:rPr sz="1800" b="0" i="0">
                <a:solidFill>
                  <a:srgbClr val="333333"/>
                </a:solidFill>
                <a:latin typeface="Liter"/>
              </a:rPr>
              <a:t>GSE274557: 52 sections, 13 patients, three metastatic destinations instead of two.</a:t>
            </a:r>
          </a:p>
          <a:p>
            <a:pPr algn="l">
              <a:lnSpc>
                <a:spcPct val="130000"/>
              </a:lnSpc>
            </a:pPr>
            <a:r>
              <a:rPr sz="1800" b="0" i="0">
                <a:solidFill>
                  <a:srgbClr val="333333"/>
                </a:solidFill>
                <a:latin typeface="Liter"/>
              </a:rPr>
              <a:t/>
            </a:r>
          </a:p>
          <a:p>
            <a:pPr algn="l">
              <a:lnSpc>
                <a:spcPct val="130000"/>
              </a:lnSpc>
            </a:pPr>
            <a:r>
              <a:rPr sz="1800" b="0" i="0">
                <a:solidFill>
                  <a:srgbClr val="333333"/>
                </a:solidFill>
                <a:latin typeface="Liter"/>
              </a:rPr>
              <a:t>Nothing refitted. The targets are even defined differently there.</a:t>
            </a:r>
          </a:p>
        </p:txBody>
      </p:sp>
      <p:sp>
        <p:nvSpPr>
          <p:cNvPr id="11" name="Rectangle 10"/>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123444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1752" y="384048"/>
            <a:ext cx="457200" cy="45720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0"/>
            <a:ext cx="14081760" cy="1234440"/>
          </a:xfrm>
          <a:prstGeom prst="rect">
            <a:avLst/>
          </a:prstGeom>
          <a:noFill/>
        </p:spPr>
        <p:txBody>
          <a:bodyPr wrap="square" anchor="ctr">
            <a:spAutoFit/>
          </a:bodyPr>
          <a:lstStyle/>
          <a:p>
            <a:pPr algn="l"/>
            <a:r>
              <a:rPr sz="2500" b="1" i="0">
                <a:solidFill>
                  <a:srgbClr val="FFFFFF"/>
                </a:solidFill>
                <a:latin typeface="Liter"/>
              </a:rPr>
              <a:t>Q15   THE FIBROBLAST READ-OUT HOLDS. THE NUMBERS ARE LOWER AND I CAN SAY WHY</a:t>
            </a:r>
          </a:p>
        </p:txBody>
      </p:sp>
      <p:sp>
        <p:nvSpPr>
          <p:cNvPr id="5" name="TextBox 4"/>
          <p:cNvSpPr txBox="1"/>
          <p:nvPr/>
        </p:nvSpPr>
        <p:spPr>
          <a:xfrm>
            <a:off x="685800" y="1371600"/>
            <a:ext cx="14904720" cy="822960"/>
          </a:xfrm>
          <a:prstGeom prst="rect">
            <a:avLst/>
          </a:prstGeom>
          <a:noFill/>
        </p:spPr>
        <p:txBody>
          <a:bodyPr wrap="square" anchor="t">
            <a:spAutoFit/>
          </a:bodyPr>
          <a:lstStyle/>
          <a:p>
            <a:pPr algn="l">
              <a:lnSpc>
                <a:spcPct val="115000"/>
              </a:lnSpc>
            </a:pPr>
            <a:r>
              <a:rPr sz="2100" b="1" i="0">
                <a:solidFill>
                  <a:srgbClr val="E07B54"/>
                </a:solidFill>
                <a:latin typeface="Liter"/>
              </a:rPr>
              <a:t>Fibroblast content 0.48 against 0.78, but it is still read BETTER than tumour content in both cohorts, and one number per section still reaches 0.74.</a:t>
            </a:r>
          </a:p>
        </p:txBody>
      </p:sp>
      <p:pic>
        <p:nvPicPr>
          <p:cNvPr id="6" name="Picture 5" descr="q15_two_cohorts.png"/>
          <p:cNvPicPr>
            <a:picLocks noChangeAspect="1"/>
          </p:cNvPicPr>
          <p:nvPr/>
        </p:nvPicPr>
        <p:blipFill>
          <a:blip r:embed="rId2"/>
          <a:stretch>
            <a:fillRect/>
          </a:stretch>
        </p:blipFill>
        <p:spPr>
          <a:xfrm>
            <a:off x="4480560" y="2240280"/>
            <a:ext cx="7315200" cy="5394960"/>
          </a:xfrm>
          <a:prstGeom prst="rect">
            <a:avLst/>
          </a:prstGeom>
        </p:spPr>
      </p:pic>
      <p:sp>
        <p:nvSpPr>
          <p:cNvPr id="7" name="Rectangle 6"/>
          <p:cNvSpPr/>
          <p:nvPr/>
        </p:nvSpPr>
        <p:spPr>
          <a:xfrm>
            <a:off x="0" y="8138160"/>
            <a:ext cx="16256020" cy="822960"/>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8138160"/>
            <a:ext cx="14904720" cy="822960"/>
          </a:xfrm>
          <a:prstGeom prst="rect">
            <a:avLst/>
          </a:prstGeom>
          <a:noFill/>
        </p:spPr>
        <p:txBody>
          <a:bodyPr wrap="square" anchor="ctr">
            <a:spAutoFit/>
          </a:bodyPr>
          <a:lstStyle/>
          <a:p>
            <a:pPr algn="l"/>
            <a:r>
              <a:rPr sz="1500" b="1" i="0">
                <a:solidFill>
                  <a:srgbClr val="333333"/>
                </a:solidFill>
                <a:latin typeface="Liter"/>
              </a:rPr>
              <a:t>Panel b is the one that matters: the ordering is identical even though every absolute value drops.</a:t>
            </a:r>
          </a:p>
        </p:txBody>
      </p:sp>
      <p:sp>
        <p:nvSpPr>
          <p:cNvPr id="9" name="Rectangle 8"/>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105156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0"/>
            <a:ext cx="14081760" cy="1051560"/>
          </a:xfrm>
          <a:prstGeom prst="rect">
            <a:avLst/>
          </a:prstGeom>
          <a:noFill/>
        </p:spPr>
        <p:txBody>
          <a:bodyPr wrap="square" anchor="ctr">
            <a:spAutoFit/>
          </a:bodyPr>
          <a:lstStyle/>
          <a:p>
            <a:pPr algn="l"/>
            <a:r>
              <a:rPr sz="2400" b="1" i="0">
                <a:solidFill>
                  <a:srgbClr val="FFFFFF"/>
                </a:solidFill>
                <a:latin typeface="Liter"/>
              </a:rPr>
              <a:t>Everything, on both datasets</a:t>
            </a:r>
          </a:p>
        </p:txBody>
      </p:sp>
      <p:sp>
        <p:nvSpPr>
          <p:cNvPr id="4" name="Rectangle 3"/>
          <p:cNvSpPr/>
          <p:nvPr/>
        </p:nvSpPr>
        <p:spPr>
          <a:xfrm>
            <a:off x="301752" y="301752"/>
            <a:ext cx="457200" cy="45720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188720"/>
            <a:ext cx="14904720" cy="640080"/>
          </a:xfrm>
          <a:prstGeom prst="rect">
            <a:avLst/>
          </a:prstGeom>
          <a:noFill/>
        </p:spPr>
        <p:txBody>
          <a:bodyPr wrap="square" anchor="t">
            <a:spAutoFit/>
          </a:bodyPr>
          <a:lstStyle/>
          <a:p>
            <a:pPr algn="l"/>
            <a:r>
              <a:rPr sz="1800" b="1" i="0">
                <a:solidFill>
                  <a:srgbClr val="2C5F8A"/>
                </a:solidFill>
                <a:latin typeface="Liter"/>
              </a:rPr>
              <a:t>One table, so nothing has to be taken on trust.</a:t>
            </a:r>
          </a:p>
        </p:txBody>
      </p:sp>
      <p:pic>
        <p:nvPicPr>
          <p:cNvPr id="6" name="Picture 5" descr="results_table.png"/>
          <p:cNvPicPr>
            <a:picLocks noChangeAspect="1"/>
          </p:cNvPicPr>
          <p:nvPr/>
        </p:nvPicPr>
        <p:blipFill>
          <a:blip r:embed="rId2"/>
          <a:stretch>
            <a:fillRect/>
          </a:stretch>
        </p:blipFill>
        <p:spPr>
          <a:xfrm>
            <a:off x="3835400" y="1874519"/>
            <a:ext cx="8605519" cy="6035039"/>
          </a:xfrm>
          <a:prstGeom prst="rect">
            <a:avLst/>
          </a:prstGeom>
        </p:spPr>
      </p:pic>
      <p:sp>
        <p:nvSpPr>
          <p:cNvPr id="7" name="Rectangle 6"/>
          <p:cNvSpPr/>
          <p:nvPr/>
        </p:nvSpPr>
        <p:spPr>
          <a:xfrm>
            <a:off x="0" y="8138160"/>
            <a:ext cx="16256020" cy="822960"/>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8138160"/>
            <a:ext cx="14904720" cy="822960"/>
          </a:xfrm>
          <a:prstGeom prst="rect">
            <a:avLst/>
          </a:prstGeom>
          <a:noFill/>
        </p:spPr>
        <p:txBody>
          <a:bodyPr wrap="square" anchor="ctr">
            <a:spAutoFit/>
          </a:bodyPr>
          <a:lstStyle/>
          <a:p>
            <a:pPr algn="l"/>
            <a:r>
              <a:rPr sz="1500" b="1" i="0">
                <a:solidFill>
                  <a:srgbClr val="333333"/>
                </a:solidFill>
                <a:latin typeface="Liter"/>
              </a:rPr>
              <a:t>Blank cells are structural rather than failures, and each says why.</a:t>
            </a:r>
          </a:p>
        </p:txBody>
      </p:sp>
      <p:sp>
        <p:nvSpPr>
          <p:cNvPr id="9" name="Rectangle 8"/>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9144000"/>
          </a:xfrm>
          <a:prstGeom prst="rect">
            <a:avLst/>
          </a:prstGeom>
          <a:solidFill>
            <a:srgbClr val="1E4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0" y="3657600"/>
            <a:ext cx="54864" cy="173736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00200" y="3566160"/>
            <a:ext cx="13258800" cy="1920240"/>
          </a:xfrm>
          <a:prstGeom prst="rect">
            <a:avLst/>
          </a:prstGeom>
          <a:noFill/>
        </p:spPr>
        <p:txBody>
          <a:bodyPr wrap="square" anchor="t">
            <a:spAutoFit/>
          </a:bodyPr>
          <a:lstStyle/>
          <a:p>
            <a:pPr algn="l">
              <a:lnSpc>
                <a:spcPct val="115000"/>
              </a:lnSpc>
            </a:pPr>
            <a:r>
              <a:rPr sz="3400" b="1" i="0">
                <a:solidFill>
                  <a:srgbClr val="FFFFFF"/>
                </a:solidFill>
                <a:latin typeface="Liter"/>
              </a:rPr>
              <a:t>What I could not do, and what I would do next</a:t>
            </a:r>
          </a:p>
        </p:txBody>
      </p:sp>
      <p:sp>
        <p:nvSpPr>
          <p:cNvPr id="5" name="TextBox 4"/>
          <p:cNvSpPr txBox="1"/>
          <p:nvPr/>
        </p:nvSpPr>
        <p:spPr>
          <a:xfrm>
            <a:off x="1600200" y="5669280"/>
            <a:ext cx="12984480" cy="1097280"/>
          </a:xfrm>
          <a:prstGeom prst="rect">
            <a:avLst/>
          </a:prstGeom>
          <a:noFill/>
        </p:spPr>
        <p:txBody>
          <a:bodyPr wrap="square" anchor="t">
            <a:spAutoFit/>
          </a:bodyPr>
          <a:lstStyle/>
          <a:p>
            <a:pPr algn="l">
              <a:lnSpc>
                <a:spcPct val="130000"/>
              </a:lnSpc>
            </a:pPr>
            <a:r>
              <a:rPr sz="1900" b="0" i="0">
                <a:solidFill>
                  <a:srgbClr val="D9E8F5"/>
                </a:solidFill>
                <a:latin typeface="Liter"/>
              </a:rPr>
              <a:t>The limits are mostly about how much tissue we have, not about method.</a:t>
            </a:r>
          </a:p>
        </p:txBody>
      </p:sp>
      <p:sp>
        <p:nvSpPr>
          <p:cNvPr id="6" name="Rectangle 5"/>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105156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0"/>
            <a:ext cx="14081760" cy="1051560"/>
          </a:xfrm>
          <a:prstGeom prst="rect">
            <a:avLst/>
          </a:prstGeom>
          <a:noFill/>
        </p:spPr>
        <p:txBody>
          <a:bodyPr wrap="square" anchor="ctr">
            <a:spAutoFit/>
          </a:bodyPr>
          <a:lstStyle/>
          <a:p>
            <a:pPr algn="l"/>
            <a:r>
              <a:rPr sz="2400" b="1" i="0">
                <a:solidFill>
                  <a:srgbClr val="FFFFFF"/>
                </a:solidFill>
                <a:latin typeface="Liter"/>
              </a:rPr>
              <a:t>What I could not do</a:t>
            </a:r>
          </a:p>
        </p:txBody>
      </p:sp>
      <p:sp>
        <p:nvSpPr>
          <p:cNvPr id="4" name="Rectangle 3"/>
          <p:cNvSpPr/>
          <p:nvPr/>
        </p:nvSpPr>
        <p:spPr>
          <a:xfrm>
            <a:off x="301752" y="301752"/>
            <a:ext cx="457200" cy="45720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1600200"/>
            <a:ext cx="54864" cy="1207008"/>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1600200"/>
            <a:ext cx="13990320" cy="457200"/>
          </a:xfrm>
          <a:prstGeom prst="rect">
            <a:avLst/>
          </a:prstGeom>
          <a:noFill/>
        </p:spPr>
        <p:txBody>
          <a:bodyPr wrap="square" anchor="t">
            <a:spAutoFit/>
          </a:bodyPr>
          <a:lstStyle/>
          <a:p>
            <a:pPr algn="l"/>
            <a:r>
              <a:rPr sz="1900" b="1" i="0">
                <a:solidFill>
                  <a:srgbClr val="E07B54"/>
                </a:solidFill>
                <a:latin typeface="Liter"/>
              </a:rPr>
              <a:t>Nine sections were never delivered, and it cost us a specific test</a:t>
            </a:r>
          </a:p>
        </p:txBody>
      </p:sp>
      <p:sp>
        <p:nvSpPr>
          <p:cNvPr id="7" name="TextBox 6"/>
          <p:cNvSpPr txBox="1"/>
          <p:nvPr/>
        </p:nvSpPr>
        <p:spPr>
          <a:xfrm>
            <a:off x="1143000" y="2103120"/>
            <a:ext cx="13990320" cy="822960"/>
          </a:xfrm>
          <a:prstGeom prst="rect">
            <a:avLst/>
          </a:prstGeom>
          <a:noFill/>
        </p:spPr>
        <p:txBody>
          <a:bodyPr wrap="square" anchor="t">
            <a:spAutoFit/>
          </a:bodyPr>
          <a:lstStyle/>
          <a:p>
            <a:pPr algn="l">
              <a:lnSpc>
                <a:spcPct val="125000"/>
              </a:lnSpc>
            </a:pPr>
            <a:r>
              <a:rPr sz="1550" b="0" i="0">
                <a:solidFill>
                  <a:srgbClr val="333333"/>
                </a:solidFill>
                <a:latin typeface="Liter"/>
              </a:rPr>
              <a:t>All four patients who gave BOTH a liver and a lymph node deposit lost their liver slide among those nine. The paired comparison that carried the B cell result cannot be run on images at all. That is not underpowered, it is impossible with what we hold.</a:t>
            </a:r>
          </a:p>
        </p:txBody>
      </p:sp>
      <p:sp>
        <p:nvSpPr>
          <p:cNvPr id="8" name="Rectangle 7"/>
          <p:cNvSpPr/>
          <p:nvPr/>
        </p:nvSpPr>
        <p:spPr>
          <a:xfrm>
            <a:off x="822960" y="3081528"/>
            <a:ext cx="54864" cy="1207008"/>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3081528"/>
            <a:ext cx="13990320" cy="457200"/>
          </a:xfrm>
          <a:prstGeom prst="rect">
            <a:avLst/>
          </a:prstGeom>
          <a:noFill/>
        </p:spPr>
        <p:txBody>
          <a:bodyPr wrap="square" anchor="t">
            <a:spAutoFit/>
          </a:bodyPr>
          <a:lstStyle/>
          <a:p>
            <a:pPr algn="l"/>
            <a:r>
              <a:rPr sz="1900" b="1" i="0">
                <a:solidFill>
                  <a:srgbClr val="E07B54"/>
                </a:solidFill>
                <a:latin typeface="Liter"/>
              </a:rPr>
              <a:t>Twelve patients is twelve patients</a:t>
            </a:r>
          </a:p>
        </p:txBody>
      </p:sp>
      <p:sp>
        <p:nvSpPr>
          <p:cNvPr id="10" name="TextBox 9"/>
          <p:cNvSpPr txBox="1"/>
          <p:nvPr/>
        </p:nvSpPr>
        <p:spPr>
          <a:xfrm>
            <a:off x="1143000" y="3584448"/>
            <a:ext cx="13990320" cy="822960"/>
          </a:xfrm>
          <a:prstGeom prst="rect">
            <a:avLst/>
          </a:prstGeom>
          <a:noFill/>
        </p:spPr>
        <p:txBody>
          <a:bodyPr wrap="square" anchor="t">
            <a:spAutoFit/>
          </a:bodyPr>
          <a:lstStyle/>
          <a:p>
            <a:pPr algn="l">
              <a:lnSpc>
                <a:spcPct val="125000"/>
              </a:lnSpc>
            </a:pPr>
            <a:r>
              <a:rPr sz="1550" b="0" i="0">
                <a:solidFill>
                  <a:srgbClr val="333333"/>
                </a:solidFill>
                <a:latin typeface="Liter"/>
              </a:rPr>
              <a:t>Per section the fibroblast read-out ranges from 0.79 down to below zero. It works well on most sections and fails on some, and with this many patients I cannot yet tell you which in advance.</a:t>
            </a:r>
          </a:p>
        </p:txBody>
      </p:sp>
      <p:sp>
        <p:nvSpPr>
          <p:cNvPr id="11" name="Rectangle 10"/>
          <p:cNvSpPr/>
          <p:nvPr/>
        </p:nvSpPr>
        <p:spPr>
          <a:xfrm>
            <a:off x="822960" y="4562856"/>
            <a:ext cx="54864" cy="1207008"/>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3000" y="4562856"/>
            <a:ext cx="13990320" cy="457200"/>
          </a:xfrm>
          <a:prstGeom prst="rect">
            <a:avLst/>
          </a:prstGeom>
          <a:noFill/>
        </p:spPr>
        <p:txBody>
          <a:bodyPr wrap="square" anchor="t">
            <a:spAutoFit/>
          </a:bodyPr>
          <a:lstStyle/>
          <a:p>
            <a:pPr algn="l"/>
            <a:r>
              <a:rPr sz="1900" b="1" i="0">
                <a:solidFill>
                  <a:srgbClr val="E07B54"/>
                </a:solidFill>
                <a:latin typeface="Liter"/>
              </a:rPr>
              <a:t>Nothing here is linked to how patients did</a:t>
            </a:r>
          </a:p>
        </p:txBody>
      </p:sp>
      <p:sp>
        <p:nvSpPr>
          <p:cNvPr id="13" name="TextBox 12"/>
          <p:cNvSpPr txBox="1"/>
          <p:nvPr/>
        </p:nvSpPr>
        <p:spPr>
          <a:xfrm>
            <a:off x="1143000" y="5065776"/>
            <a:ext cx="13990320" cy="822960"/>
          </a:xfrm>
          <a:prstGeom prst="rect">
            <a:avLst/>
          </a:prstGeom>
          <a:noFill/>
        </p:spPr>
        <p:txBody>
          <a:bodyPr wrap="square" anchor="t">
            <a:spAutoFit/>
          </a:bodyPr>
          <a:lstStyle/>
          <a:p>
            <a:pPr algn="l">
              <a:lnSpc>
                <a:spcPct val="125000"/>
              </a:lnSpc>
            </a:pPr>
            <a:r>
              <a:rPr sz="1550" b="0" i="0">
                <a:solidFill>
                  <a:srgbClr val="333333"/>
                </a:solidFill>
                <a:latin typeface="Liter"/>
              </a:rPr>
              <a:t>We have no survival or treatment response for these cases, so I can make no claim that any of this predicts outcome. Everything I have shown is about tissue biology.</a:t>
            </a:r>
          </a:p>
        </p:txBody>
      </p:sp>
      <p:sp>
        <p:nvSpPr>
          <p:cNvPr id="14" name="Rectangle 13"/>
          <p:cNvSpPr/>
          <p:nvPr/>
        </p:nvSpPr>
        <p:spPr>
          <a:xfrm>
            <a:off x="822960" y="6044184"/>
            <a:ext cx="54864" cy="1207008"/>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3000" y="6044184"/>
            <a:ext cx="13990320" cy="457200"/>
          </a:xfrm>
          <a:prstGeom prst="rect">
            <a:avLst/>
          </a:prstGeom>
          <a:noFill/>
        </p:spPr>
        <p:txBody>
          <a:bodyPr wrap="square" anchor="t">
            <a:spAutoFit/>
          </a:bodyPr>
          <a:lstStyle/>
          <a:p>
            <a:pPr algn="l"/>
            <a:r>
              <a:rPr sz="1900" b="1" i="0">
                <a:solidFill>
                  <a:srgbClr val="E07B54"/>
                </a:solidFill>
                <a:latin typeface="Liter"/>
              </a:rPr>
              <a:t>A 55 micron spot is not a single cell</a:t>
            </a:r>
          </a:p>
        </p:txBody>
      </p:sp>
      <p:sp>
        <p:nvSpPr>
          <p:cNvPr id="16" name="TextBox 15"/>
          <p:cNvSpPr txBox="1"/>
          <p:nvPr/>
        </p:nvSpPr>
        <p:spPr>
          <a:xfrm>
            <a:off x="1143000" y="6547104"/>
            <a:ext cx="13990320" cy="822960"/>
          </a:xfrm>
          <a:prstGeom prst="rect">
            <a:avLst/>
          </a:prstGeom>
          <a:noFill/>
        </p:spPr>
        <p:txBody>
          <a:bodyPr wrap="square" anchor="t">
            <a:spAutoFit/>
          </a:bodyPr>
          <a:lstStyle/>
          <a:p>
            <a:pPr algn="l">
              <a:lnSpc>
                <a:spcPct val="125000"/>
              </a:lnSpc>
            </a:pPr>
            <a:r>
              <a:rPr sz="1550" b="0" i="0">
                <a:solidFill>
                  <a:srgbClr val="333333"/>
                </a:solidFill>
                <a:latin typeface="Liter"/>
              </a:rPr>
              <a:t>Each measurement holds up to ten cells. I controlled for this by repeating everything at rising tumour purity, but I cannot separate a tumour cell from the cell touching it.</a:t>
            </a:r>
          </a:p>
        </p:txBody>
      </p:sp>
      <p:sp>
        <p:nvSpPr>
          <p:cNvPr id="17" name="Rectangle 16"/>
          <p:cNvSpPr/>
          <p:nvPr/>
        </p:nvSpPr>
        <p:spPr>
          <a:xfrm>
            <a:off x="822960" y="8092440"/>
            <a:ext cx="14630400" cy="777240"/>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43000" y="8092440"/>
            <a:ext cx="13990320" cy="777240"/>
          </a:xfrm>
          <a:prstGeom prst="rect">
            <a:avLst/>
          </a:prstGeom>
          <a:noFill/>
        </p:spPr>
        <p:txBody>
          <a:bodyPr wrap="square" anchor="ctr">
            <a:spAutoFit/>
          </a:bodyPr>
          <a:lstStyle/>
          <a:p>
            <a:pPr algn="l"/>
            <a:r>
              <a:rPr sz="1600" b="1" i="0">
                <a:solidFill>
                  <a:srgbClr val="333333"/>
                </a:solidFill>
                <a:latin typeface="Liter"/>
              </a:rPr>
              <a:t>None of these change the findings. They mark where the findings stop.</a:t>
            </a:r>
          </a:p>
        </p:txBody>
      </p:sp>
      <p:sp>
        <p:nvSpPr>
          <p:cNvPr id="19" name="Rectangle 18"/>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105156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0"/>
            <a:ext cx="14081760" cy="1051560"/>
          </a:xfrm>
          <a:prstGeom prst="rect">
            <a:avLst/>
          </a:prstGeom>
          <a:noFill/>
        </p:spPr>
        <p:txBody>
          <a:bodyPr wrap="square" anchor="ctr">
            <a:spAutoFit/>
          </a:bodyPr>
          <a:lstStyle/>
          <a:p>
            <a:pPr algn="l"/>
            <a:r>
              <a:rPr sz="2400" b="1" i="0">
                <a:solidFill>
                  <a:srgbClr val="FFFFFF"/>
                </a:solidFill>
                <a:latin typeface="Liter"/>
              </a:rPr>
              <a:t>What I would do next</a:t>
            </a:r>
          </a:p>
        </p:txBody>
      </p:sp>
      <p:sp>
        <p:nvSpPr>
          <p:cNvPr id="4" name="Rectangle 3"/>
          <p:cNvSpPr/>
          <p:nvPr/>
        </p:nvSpPr>
        <p:spPr>
          <a:xfrm>
            <a:off x="301752" y="301752"/>
            <a:ext cx="457200" cy="45720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1600200"/>
            <a:ext cx="54864" cy="1207008"/>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1600200"/>
            <a:ext cx="13990320" cy="457200"/>
          </a:xfrm>
          <a:prstGeom prst="rect">
            <a:avLst/>
          </a:prstGeom>
          <a:noFill/>
        </p:spPr>
        <p:txBody>
          <a:bodyPr wrap="square" anchor="t">
            <a:spAutoFit/>
          </a:bodyPr>
          <a:lstStyle/>
          <a:p>
            <a:pPr algn="l"/>
            <a:r>
              <a:rPr sz="1900" b="1" i="0">
                <a:solidFill>
                  <a:srgbClr val="1BAF7A"/>
                </a:solidFill>
                <a:latin typeface="Liter"/>
              </a:rPr>
              <a:t>Confirm the B cells on a stain, which needs your eye and not more computing</a:t>
            </a:r>
          </a:p>
        </p:txBody>
      </p:sp>
      <p:sp>
        <p:nvSpPr>
          <p:cNvPr id="7" name="TextBox 6"/>
          <p:cNvSpPr txBox="1"/>
          <p:nvPr/>
        </p:nvSpPr>
        <p:spPr>
          <a:xfrm>
            <a:off x="1143000" y="2103120"/>
            <a:ext cx="13990320" cy="822960"/>
          </a:xfrm>
          <a:prstGeom prst="rect">
            <a:avLst/>
          </a:prstGeom>
          <a:noFill/>
        </p:spPr>
        <p:txBody>
          <a:bodyPr wrap="square" anchor="t">
            <a:spAutoFit/>
          </a:bodyPr>
          <a:lstStyle/>
          <a:p>
            <a:pPr algn="l">
              <a:lnSpc>
                <a:spcPct val="125000"/>
              </a:lnSpc>
            </a:pPr>
            <a:r>
              <a:rPr sz="1550" b="0" i="0">
                <a:solidFill>
                  <a:srgbClr val="333333"/>
                </a:solidFill>
                <a:latin typeface="Liter"/>
              </a:rPr>
              <a:t>The clearest difference between nodal and liver deposits was B cell content. A stain on a handful of matched deposits would confirm or kill it quickly. This is the cheapest useful thing on the list and it is the one I would like your help with.</a:t>
            </a:r>
          </a:p>
        </p:txBody>
      </p:sp>
      <p:sp>
        <p:nvSpPr>
          <p:cNvPr id="8" name="Rectangle 7"/>
          <p:cNvSpPr/>
          <p:nvPr/>
        </p:nvSpPr>
        <p:spPr>
          <a:xfrm>
            <a:off x="822960" y="3081528"/>
            <a:ext cx="54864" cy="1207008"/>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3081528"/>
            <a:ext cx="13990320" cy="457200"/>
          </a:xfrm>
          <a:prstGeom prst="rect">
            <a:avLst/>
          </a:prstGeom>
          <a:noFill/>
        </p:spPr>
        <p:txBody>
          <a:bodyPr wrap="square" anchor="t">
            <a:spAutoFit/>
          </a:bodyPr>
          <a:lstStyle/>
          <a:p>
            <a:pPr algn="l"/>
            <a:r>
              <a:rPr sz="1900" b="1" i="0">
                <a:solidFill>
                  <a:srgbClr val="1BAF7A"/>
                </a:solidFill>
                <a:latin typeface="Liter"/>
              </a:rPr>
              <a:t>Chase the nine missing slides</a:t>
            </a:r>
          </a:p>
        </p:txBody>
      </p:sp>
      <p:sp>
        <p:nvSpPr>
          <p:cNvPr id="10" name="TextBox 9"/>
          <p:cNvSpPr txBox="1"/>
          <p:nvPr/>
        </p:nvSpPr>
        <p:spPr>
          <a:xfrm>
            <a:off x="1143000" y="3584448"/>
            <a:ext cx="13990320" cy="822960"/>
          </a:xfrm>
          <a:prstGeom prst="rect">
            <a:avLst/>
          </a:prstGeom>
          <a:noFill/>
        </p:spPr>
        <p:txBody>
          <a:bodyPr wrap="square" anchor="t">
            <a:spAutoFit/>
          </a:bodyPr>
          <a:lstStyle/>
          <a:p>
            <a:pPr algn="l">
              <a:lnSpc>
                <a:spcPct val="125000"/>
              </a:lnSpc>
            </a:pPr>
            <a:r>
              <a:rPr sz="1550" b="0" i="0">
                <a:solidFill>
                  <a:srgbClr val="333333"/>
                </a:solidFill>
                <a:latin typeface="Liter"/>
              </a:rPr>
              <a:t>It would take the cohort from 21 sections to 30, restore the paired design, and let me finish the question I had to leave open.</a:t>
            </a:r>
          </a:p>
        </p:txBody>
      </p:sp>
      <p:sp>
        <p:nvSpPr>
          <p:cNvPr id="11" name="Rectangle 10"/>
          <p:cNvSpPr/>
          <p:nvPr/>
        </p:nvSpPr>
        <p:spPr>
          <a:xfrm>
            <a:off x="822960" y="4562856"/>
            <a:ext cx="54864" cy="1207008"/>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3000" y="4562856"/>
            <a:ext cx="13990320" cy="457200"/>
          </a:xfrm>
          <a:prstGeom prst="rect">
            <a:avLst/>
          </a:prstGeom>
          <a:noFill/>
        </p:spPr>
        <p:txBody>
          <a:bodyPr wrap="square" anchor="t">
            <a:spAutoFit/>
          </a:bodyPr>
          <a:lstStyle/>
          <a:p>
            <a:pPr algn="l"/>
            <a:r>
              <a:rPr sz="1900" b="1" i="0">
                <a:solidFill>
                  <a:srgbClr val="1BAF7A"/>
                </a:solidFill>
                <a:latin typeface="Liter"/>
              </a:rPr>
              <a:t>Test the fibroblast read-out where it might matter clinically</a:t>
            </a:r>
          </a:p>
        </p:txBody>
      </p:sp>
      <p:sp>
        <p:nvSpPr>
          <p:cNvPr id="13" name="TextBox 12"/>
          <p:cNvSpPr txBox="1"/>
          <p:nvPr/>
        </p:nvSpPr>
        <p:spPr>
          <a:xfrm>
            <a:off x="1143000" y="5065776"/>
            <a:ext cx="13990320" cy="822960"/>
          </a:xfrm>
          <a:prstGeom prst="rect">
            <a:avLst/>
          </a:prstGeom>
          <a:noFill/>
        </p:spPr>
        <p:txBody>
          <a:bodyPr wrap="square" anchor="t">
            <a:spAutoFit/>
          </a:bodyPr>
          <a:lstStyle/>
          <a:p>
            <a:pPr algn="l">
              <a:lnSpc>
                <a:spcPct val="125000"/>
              </a:lnSpc>
            </a:pPr>
            <a:r>
              <a:rPr sz="1550" b="0" i="0">
                <a:solidFill>
                  <a:srgbClr val="333333"/>
                </a:solidFill>
                <a:latin typeface="Liter"/>
              </a:rPr>
              <a:t>It already survives in other laboratories and other organs. The next step is asking whether the score before treatment relates to how a patient responds, which needs a cohort with outcomes attached.</a:t>
            </a:r>
          </a:p>
        </p:txBody>
      </p:sp>
      <p:sp>
        <p:nvSpPr>
          <p:cNvPr id="14" name="Rectangle 13"/>
          <p:cNvSpPr/>
          <p:nvPr/>
        </p:nvSpPr>
        <p:spPr>
          <a:xfrm>
            <a:off x="822960" y="6044184"/>
            <a:ext cx="54864" cy="1207008"/>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3000" y="6044184"/>
            <a:ext cx="13990320" cy="457200"/>
          </a:xfrm>
          <a:prstGeom prst="rect">
            <a:avLst/>
          </a:prstGeom>
          <a:noFill/>
        </p:spPr>
        <p:txBody>
          <a:bodyPr wrap="square" anchor="t">
            <a:spAutoFit/>
          </a:bodyPr>
          <a:lstStyle/>
          <a:p>
            <a:pPr algn="l"/>
            <a:r>
              <a:rPr sz="1900" b="1" i="0">
                <a:solidFill>
                  <a:srgbClr val="1BAF7A"/>
                </a:solidFill>
                <a:latin typeface="Liter"/>
              </a:rPr>
              <a:t>Stain normalisation before anyone runs this prospectively</a:t>
            </a:r>
          </a:p>
        </p:txBody>
      </p:sp>
      <p:sp>
        <p:nvSpPr>
          <p:cNvPr id="16" name="TextBox 15"/>
          <p:cNvSpPr txBox="1"/>
          <p:nvPr/>
        </p:nvSpPr>
        <p:spPr>
          <a:xfrm>
            <a:off x="1143000" y="6547104"/>
            <a:ext cx="13990320" cy="822960"/>
          </a:xfrm>
          <a:prstGeom prst="rect">
            <a:avLst/>
          </a:prstGeom>
          <a:noFill/>
        </p:spPr>
        <p:txBody>
          <a:bodyPr wrap="square" anchor="t">
            <a:spAutoFit/>
          </a:bodyPr>
          <a:lstStyle/>
          <a:p>
            <a:pPr algn="l">
              <a:lnSpc>
                <a:spcPct val="125000"/>
              </a:lnSpc>
            </a:pPr>
            <a:r>
              <a:rPr sz="1550" b="0" i="0">
                <a:solidFill>
                  <a:srgbClr val="333333"/>
                </a:solidFill>
                <a:latin typeface="Liter"/>
              </a:rPr>
              <a:t>Part of what the model keys on is how pale the tissue is, and that drifts with staining batch. It has to be handled before the read-out leaves a research setting.</a:t>
            </a:r>
          </a:p>
        </p:txBody>
      </p:sp>
      <p:sp>
        <p:nvSpPr>
          <p:cNvPr id="17" name="Rectangle 16"/>
          <p:cNvSpPr/>
          <p:nvPr/>
        </p:nvSpPr>
        <p:spPr>
          <a:xfrm>
            <a:off x="822960" y="8092440"/>
            <a:ext cx="14630400" cy="777240"/>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43000" y="8092440"/>
            <a:ext cx="13990320" cy="777240"/>
          </a:xfrm>
          <a:prstGeom prst="rect">
            <a:avLst/>
          </a:prstGeom>
          <a:noFill/>
        </p:spPr>
        <p:txBody>
          <a:bodyPr wrap="square" anchor="ctr">
            <a:spAutoFit/>
          </a:bodyPr>
          <a:lstStyle/>
          <a:p>
            <a:pPr algn="l"/>
            <a:r>
              <a:rPr sz="1600" b="1" i="0">
                <a:solidFill>
                  <a:srgbClr val="333333"/>
                </a:solidFill>
                <a:latin typeface="Liter"/>
              </a:rPr>
              <a:t>The first one needs a pathologist, not a bigger model.</a:t>
            </a:r>
          </a:p>
        </p:txBody>
      </p:sp>
      <p:sp>
        <p:nvSpPr>
          <p:cNvPr id="19" name="Rectangle 18"/>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914400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188720"/>
            <a:ext cx="13716000" cy="914400"/>
          </a:xfrm>
          <a:prstGeom prst="rect">
            <a:avLst/>
          </a:prstGeom>
          <a:noFill/>
        </p:spPr>
        <p:txBody>
          <a:bodyPr wrap="square" anchor="t">
            <a:spAutoFit/>
          </a:bodyPr>
          <a:lstStyle/>
          <a:p>
            <a:pPr algn="l"/>
            <a:r>
              <a:rPr sz="4000" b="1" i="0">
                <a:solidFill>
                  <a:srgbClr val="FFFFFF"/>
                </a:solidFill>
                <a:latin typeface="Liter"/>
              </a:rPr>
              <a:t>Where this leaves us</a:t>
            </a:r>
          </a:p>
        </p:txBody>
      </p:sp>
      <p:sp>
        <p:nvSpPr>
          <p:cNvPr id="4" name="Rectangle 3"/>
          <p:cNvSpPr/>
          <p:nvPr/>
        </p:nvSpPr>
        <p:spPr>
          <a:xfrm>
            <a:off x="1417320" y="2377440"/>
            <a:ext cx="2377440" cy="4572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2926080"/>
            <a:ext cx="13898880" cy="2926080"/>
          </a:xfrm>
          <a:prstGeom prst="rect">
            <a:avLst/>
          </a:prstGeom>
          <a:noFill/>
        </p:spPr>
        <p:txBody>
          <a:bodyPr wrap="square" anchor="t">
            <a:spAutoFit/>
          </a:bodyPr>
          <a:lstStyle/>
          <a:p>
            <a:pPr algn="l">
              <a:lnSpc>
                <a:spcPct val="140000"/>
              </a:lnSpc>
            </a:pPr>
            <a:r>
              <a:rPr sz="2100" b="0" i="0">
                <a:solidFill>
                  <a:srgbClr val="D9E8F5"/>
                </a:solidFill>
                <a:latin typeface="Liter"/>
              </a:rPr>
              <a:t>A slide can see cancer, and can read the fibroblast environment well.</a:t>
            </a:r>
          </a:p>
          <a:p>
            <a:pPr algn="l">
              <a:lnSpc>
                <a:spcPct val="140000"/>
              </a:lnSpc>
            </a:pPr>
            <a:r>
              <a:rPr sz="2100" b="0" i="0">
                <a:solidFill>
                  <a:srgbClr val="D9E8F5"/>
                </a:solidFill>
                <a:latin typeface="Liter"/>
              </a:rPr>
              <a:t>It cannot read metastasis, because metastasis is not one thing to read:</a:t>
            </a:r>
          </a:p>
          <a:p>
            <a:pPr algn="l">
              <a:lnSpc>
                <a:spcPct val="140000"/>
              </a:lnSpc>
            </a:pPr>
            <a:r>
              <a:rPr sz="2100" b="0" i="0">
                <a:solidFill>
                  <a:srgbClr val="D9E8F5"/>
                </a:solidFill>
                <a:latin typeface="Liter"/>
              </a:rPr>
              <a:t>liver and lymph node share only about half a programme, and the half that</a:t>
            </a:r>
          </a:p>
          <a:p>
            <a:pPr algn="l">
              <a:lnSpc>
                <a:spcPct val="140000"/>
              </a:lnSpc>
            </a:pPr>
            <a:r>
              <a:rPr sz="2100" b="0" i="0">
                <a:solidFill>
                  <a:srgbClr val="D9E8F5"/>
                </a:solidFill>
                <a:latin typeface="Liter"/>
              </a:rPr>
              <a:t>differs is immune. That pattern replicates in an independent cohort and</a:t>
            </a:r>
          </a:p>
          <a:p>
            <a:pPr algn="l">
              <a:lnSpc>
                <a:spcPct val="140000"/>
              </a:lnSpc>
            </a:pPr>
            <a:r>
              <a:rPr sz="2100" b="0" i="0">
                <a:solidFill>
                  <a:srgbClr val="D9E8F5"/>
                </a:solidFill>
                <a:latin typeface="Liter"/>
              </a:rPr>
              <a:t>extends across seven organs.</a:t>
            </a:r>
          </a:p>
        </p:txBody>
      </p:sp>
      <p:sp>
        <p:nvSpPr>
          <p:cNvPr id="6" name="TextBox 5"/>
          <p:cNvSpPr txBox="1"/>
          <p:nvPr/>
        </p:nvSpPr>
        <p:spPr>
          <a:xfrm>
            <a:off x="1371600" y="6309360"/>
            <a:ext cx="13898880" cy="1097280"/>
          </a:xfrm>
          <a:prstGeom prst="rect">
            <a:avLst/>
          </a:prstGeom>
          <a:noFill/>
        </p:spPr>
        <p:txBody>
          <a:bodyPr wrap="square" anchor="t">
            <a:spAutoFit/>
          </a:bodyPr>
          <a:lstStyle/>
          <a:p>
            <a:pPr algn="l">
              <a:lnSpc>
                <a:spcPct val="130000"/>
              </a:lnSpc>
            </a:pPr>
            <a:r>
              <a:rPr sz="2000" b="1" i="0">
                <a:solidFill>
                  <a:srgbClr val="FFFFFF"/>
                </a:solidFill>
                <a:latin typeface="Liter"/>
              </a:rPr>
              <a:t>The question I would most like your view on:  are B cells visibly higher in nodal deposits than in liver deposits?</a:t>
            </a:r>
          </a:p>
        </p:txBody>
      </p:sp>
      <p:sp>
        <p:nvSpPr>
          <p:cNvPr id="7" name="TextBox 6"/>
          <p:cNvSpPr txBox="1"/>
          <p:nvPr/>
        </p:nvSpPr>
        <p:spPr>
          <a:xfrm>
            <a:off x="1371600" y="7955279"/>
            <a:ext cx="11887200" cy="457200"/>
          </a:xfrm>
          <a:prstGeom prst="rect">
            <a:avLst/>
          </a:prstGeom>
          <a:noFill/>
        </p:spPr>
        <p:txBody>
          <a:bodyPr wrap="square" anchor="t">
            <a:spAutoFit/>
          </a:bodyPr>
          <a:lstStyle/>
          <a:p>
            <a:pPr algn="l"/>
            <a:r>
              <a:rPr sz="1500" b="0" i="0">
                <a:solidFill>
                  <a:srgbClr val="D9E8F5"/>
                </a:solidFill>
                <a:latin typeface="Liter"/>
              </a:rPr>
              <a:t>Spatial Transcriptomics Research   |   21 sections, 12 patients, 63,919 spots</a:t>
            </a:r>
          </a:p>
        </p:txBody>
      </p:sp>
      <p:sp>
        <p:nvSpPr>
          <p:cNvPr id="8" name="Rectangle 7"/>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