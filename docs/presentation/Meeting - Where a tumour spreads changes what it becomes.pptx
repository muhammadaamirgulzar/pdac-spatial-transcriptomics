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625602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update on where the project has moved since the last meeting. Last time I showed that a routine slide can read how much tumour is present but not the finer metastatic state. Chasing why that was, we ended up asking a more basic question, and that question turned into the main result. The short version is that a deposit in the liver and a deposit in a lymph node, from the same patient, are not making the same change. I will show you three separate datasets that all point the same way, and I will be explicit about what we could not 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First what we actually measure, because the method is unusual and everything rests on it. Second the main comparison, liver against lymph node in the same patient. Third whether it holds up in a completely separate group of patients. Fourth what it means, including a clear statement of what we could not show. I will keep the statistics off the slides. Ask me for any number and I have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result, two slides on what the data actually is, because everything afterwards depends on it. The unusual thing about this technique is that it keeps the image and the molecular readout registered to the same physical location.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method in one picture. The tissue section is covered with a grid of measuring points, each 55 microns across, which is about one to ten cells. At every point we get three things. The stained image of that point, which is the view you would read down a microscope. The gene readout, about eighteen thousand genes measured at once. And an estimate of the cell mixture at that point, so what fraction is tumour, immune, stroma, hepatocyte and so on. The important part is that all three describe the same physical location, which is what lets us ask whether the image alone predicts the molecular 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groups, and they do different jobs. The first is where the finding came from. It is small, thirteen patients, and four of those gave us tissue from two different metastatic sites, which is rare and is the reason this comparison could be done at all. The second group is somebody else's published cohort, from another centre, and importantly none of those patients had chemotherapy before the sample was taken, so treatment cannot explain anything we see there. It also covers lung and peritoneum, which our group does not. The third is a large public collection across seven organs and several cancers, used for one specific test at the end. I want to be clear that we did not look at groups two and three while developing the finding in group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the talk. The comparison people usually make is metastasis against primary tumour. We are making a different one, metastasis against metastasis, in the same person. That design matters because it removes patient to patient variation entirely.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main number. We took everything that changes when a tumour goes from the pancreas to a metastatic site, forty two different measures of cell content and tissue programme. We did that separately for the liver deposits and the lymph node deposits, then asked how much the two changes agree. The answer is about fifty five percent. So a bit over half of becoming a metastasis is the same wherever it goes, and just under half depends on the destination. That is the finding. If metastasis were a single switch being thrown, this number would be close to one hundred percent.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established that the two sites differ, the next question is what differs. We tested forty two features one at a time and corrected for the fact that we were testing forty two. Only one immune feature survived, and it is B cells. The left panel is the one I would look at. Each line is a single patient measured at both of their own sites, and every single one goes up from liver to lymph node. With four patients I cannot give you a conventional p value, so what I am leaning on is that the direction never reverses. The obvious objection is that a lymph node is a lymphoid organ, so of course it has more B cells. That is exactly what the next slide addresses.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control that decides whether the previous slide means anything. The worry is that we are not measuring tumour biology at all, we are measuring how much surrounding normal organ got included in the sample. So we repeated the entire analysis while progressively demanding purer and purer tumour at each measuring point. If the effect were contamination it would shrink away as purity rose. What you see is that contamination genuinely does fall, liver cell content drops about eightfold, but the immune difference between the two sites stays at roughly the same level throughout. That is the pattern you would expect if the difference is real, and not the pattern you would expect from contamination.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small cohort is not enough, particularly with a result this surprising. So we took somebody else's published data, from a different centre, and ran the same analysis. Two things make it a stronger test than ours: nobody in it had chemotherapy before sampling, and it covers three different metastatic sites.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replication, and I find it the most striking picture in the talk. Each group of three bars is one immune cell type. Orange is liver deposits, magenta is lung, purple is peritoneum. Look at the pattern rather than any individual bar. Every single immune population falls in the liver and rises in the lung. Not some of them, all of them. And remember none of these patients had chemotherapy before the sample was taken, so this is not a treatment effect. The clinical reading is that the liver is behaving as an immune tolerant site and the lung is not, which I believe matches what is seen with immunotherapy response. I would value your view on whether that is already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but important check. Before believing what this measurement says about immune cells, we should confirm it says the obvious things correctly. It does. It finds liver cells in the liver deposits and lung tissue in the lung deposits, both clearly. I will mention one control that failed, because it is instructive. We also tried to detect peritoneal lining tissue using mesothelin, and it did not work, because pancreatic tumour cells express mesothelin themselves. So that particular control is uninformative in this disease and we report it as a failure rather than quietly dropping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piece of evidence is different in kind. The first two results are observations. This one is a prediction we made from those observations and then tested, which is a stronger form of argument, and it is in tissue that is not pancreas.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a model to predict gene expression from the stained image and then asked how well it carries to a new setting. The obvious objection is batch effect, that a model failing on a new organ is really just failing on a new laboratory with a different scanner and protocol. So the middle bar holds the organ fixed and changes only the laboratory. That costs fifteen percent. Changing the organ costs a further thirty seven percent on top. So the loss is genuinely about tissue, not about technical differences between centres. One thing worth knowing: this analysis initially gave the opposite answer, because three sections in the collection were labelled as whole transcriptome but were actually a targeted panel of about a thousand genes. Filtering those out reversed the conclusion. The control decided the result, not the headline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put the limits before the implications rather than after, because they change how much weight you should put on each piece. The B cell result is the one I would most like to see confirmed, and the honest position is that the second cohort simply had no lymph nodes in it, so nobody has checked it yet. The paired test involves four people. With four people you cannot reach a conventional significance threshold no matter how large the effect is, so what I am relying on is that the direction was the same in every one of them. And there is no outcome data, so I cannot tell you any of this predicts survival. If a patient's chart data is available for these cases, that would change what we can ask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consequences. The first is conceptual: if you are building a signature of metastasis and you pool liver, lung and nodal deposits together, you are averaging across a real difference and the shared part is only about half of it. The second is the one I would most value your opinion on. In the treatment naive cohort the liver deposits were immune poor and the lung deposits immune rich, and that matches what is described clinically about liver metastases responding badly to immunotherapy. The third is about our own tooling. A model that reads expression from a slide does not transfer between organs, so accuracy quoted across pooled organs is optimistic.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asks, in order of how much they would help. The first is the one I care about most and it is the cheapest. If B cells really are consistently higher in nodal deposits than liver deposits from the same patient, that should be visible on a stain, and it does not need any sequencing to check. If you can point me at a few matched cases, or tell me the result is already known and obvious, either answer saves us months. The second is more patients with two metastatic sites. The third is outcome data, which we currently do not have at 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Happy to take questions, and I have every number behind these slides if you want to interrogate any of them. The single most useful thing you could tell me is whether the B cell difference between nodal and liver deposits is something you would expect to see on a stain, and whether it is already well known, because that determines whether this is a finding or a rediscovery.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835640" y="0"/>
            <a:ext cx="542038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U_PDA_HM11_he.png"/>
          <p:cNvPicPr>
            <a:picLocks noChangeAspect="1"/>
          </p:cNvPicPr>
          <p:nvPr/>
        </p:nvPicPr>
        <p:blipFill>
          <a:blip r:embed="rId2"/>
          <a:stretch>
            <a:fillRect/>
          </a:stretch>
        </p:blipFill>
        <p:spPr>
          <a:xfrm>
            <a:off x="11379582" y="2468880"/>
            <a:ext cx="4307074" cy="4206239"/>
          </a:xfrm>
          <a:prstGeom prst="rect">
            <a:avLst/>
          </a:prstGeom>
        </p:spPr>
      </p:pic>
      <p:sp>
        <p:nvSpPr>
          <p:cNvPr id="4" name="TextBox 3"/>
          <p:cNvSpPr txBox="1"/>
          <p:nvPr/>
        </p:nvSpPr>
        <p:spPr>
          <a:xfrm>
            <a:off x="11109960" y="6858000"/>
            <a:ext cx="4846320" cy="457200"/>
          </a:xfrm>
          <a:prstGeom prst="rect">
            <a:avLst/>
          </a:prstGeom>
          <a:noFill/>
        </p:spPr>
        <p:txBody>
          <a:bodyPr wrap="square" anchor="t">
            <a:spAutoFit/>
          </a:bodyPr>
          <a:lstStyle/>
          <a:p>
            <a:pPr algn="ctr"/>
            <a:r>
              <a:rPr sz="1100" b="1" i="0">
                <a:solidFill>
                  <a:srgbClr val="D9E8F5"/>
                </a:solidFill>
                <a:latin typeface="Liter"/>
              </a:rPr>
              <a:t>A LIVER METASTASIS, MEASURED POINT BY POINT</a:t>
            </a:r>
          </a:p>
        </p:txBody>
      </p:sp>
      <p:sp>
        <p:nvSpPr>
          <p:cNvPr id="5" name="TextBox 4"/>
          <p:cNvSpPr txBox="1"/>
          <p:nvPr/>
        </p:nvSpPr>
        <p:spPr>
          <a:xfrm>
            <a:off x="1014984" y="1371600"/>
            <a:ext cx="8869680" cy="365760"/>
          </a:xfrm>
          <a:prstGeom prst="rect">
            <a:avLst/>
          </a:prstGeom>
          <a:noFill/>
        </p:spPr>
        <p:txBody>
          <a:bodyPr wrap="square" anchor="t">
            <a:spAutoFit/>
          </a:bodyPr>
          <a:lstStyle/>
          <a:p>
            <a:pPr algn="l"/>
            <a:r>
              <a:rPr sz="1500" b="1" i="0">
                <a:solidFill>
                  <a:srgbClr val="8D8D8D"/>
                </a:solidFill>
                <a:latin typeface="Liter"/>
              </a:rPr>
              <a:t>SPATIAL TRANSCRIPTOMICS RESEARCH</a:t>
            </a:r>
          </a:p>
        </p:txBody>
      </p:sp>
      <p:sp>
        <p:nvSpPr>
          <p:cNvPr id="6" name="TextBox 5"/>
          <p:cNvSpPr txBox="1"/>
          <p:nvPr/>
        </p:nvSpPr>
        <p:spPr>
          <a:xfrm>
            <a:off x="1014984" y="1920240"/>
            <a:ext cx="9509760" cy="2011680"/>
          </a:xfrm>
          <a:prstGeom prst="rect">
            <a:avLst/>
          </a:prstGeom>
          <a:noFill/>
        </p:spPr>
        <p:txBody>
          <a:bodyPr wrap="square" anchor="t">
            <a:spAutoFit/>
          </a:bodyPr>
          <a:lstStyle/>
          <a:p>
            <a:pPr algn="l">
              <a:lnSpc>
                <a:spcPct val="105000"/>
              </a:lnSpc>
            </a:pPr>
            <a:r>
              <a:rPr sz="4400" b="1" i="0">
                <a:solidFill>
                  <a:srgbClr val="2C5F8A"/>
                </a:solidFill>
                <a:latin typeface="Liter"/>
              </a:rPr>
              <a:t>Where a tumour spreads</a:t>
            </a:r>
          </a:p>
          <a:p>
            <a:pPr algn="l">
              <a:lnSpc>
                <a:spcPct val="105000"/>
              </a:lnSpc>
            </a:pPr>
            <a:r>
              <a:rPr sz="4400" b="1" i="0">
                <a:solidFill>
                  <a:srgbClr val="2C5F8A"/>
                </a:solidFill>
                <a:latin typeface="Liter"/>
              </a:rPr>
              <a:t>changes what it becomes</a:t>
            </a:r>
          </a:p>
        </p:txBody>
      </p:sp>
      <p:sp>
        <p:nvSpPr>
          <p:cNvPr id="7" name="TextBox 6"/>
          <p:cNvSpPr txBox="1"/>
          <p:nvPr/>
        </p:nvSpPr>
        <p:spPr>
          <a:xfrm>
            <a:off x="1014984" y="4343400"/>
            <a:ext cx="9326880" cy="1097280"/>
          </a:xfrm>
          <a:prstGeom prst="rect">
            <a:avLst/>
          </a:prstGeom>
          <a:noFill/>
        </p:spPr>
        <p:txBody>
          <a:bodyPr wrap="square" anchor="t">
            <a:spAutoFit/>
          </a:bodyPr>
          <a:lstStyle/>
          <a:p>
            <a:pPr algn="l">
              <a:lnSpc>
                <a:spcPct val="125000"/>
              </a:lnSpc>
            </a:pPr>
            <a:r>
              <a:rPr sz="2100" b="1" i="0">
                <a:solidFill>
                  <a:srgbClr val="E07B54"/>
                </a:solidFill>
                <a:latin typeface="Liter"/>
              </a:rPr>
              <a:t>Pancreatic cancer in the liver and in a lymph node</a:t>
            </a:r>
          </a:p>
          <a:p>
            <a:pPr algn="l">
              <a:lnSpc>
                <a:spcPct val="125000"/>
              </a:lnSpc>
            </a:pPr>
            <a:r>
              <a:rPr sz="2100" b="1" i="0">
                <a:solidFill>
                  <a:srgbClr val="E07B54"/>
                </a:solidFill>
                <a:latin typeface="Liter"/>
              </a:rPr>
              <a:t>are not the same disease state</a:t>
            </a:r>
          </a:p>
        </p:txBody>
      </p:sp>
      <p:sp>
        <p:nvSpPr>
          <p:cNvPr id="8" name="Rectangle 7"/>
          <p:cNvSpPr/>
          <p:nvPr/>
        </p:nvSpPr>
        <p:spPr>
          <a:xfrm>
            <a:off x="1033271" y="5532120"/>
            <a:ext cx="2194560" cy="3657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5806440"/>
            <a:ext cx="8869680" cy="1097280"/>
          </a:xfrm>
          <a:prstGeom prst="rect">
            <a:avLst/>
          </a:prstGeom>
          <a:noFill/>
        </p:spPr>
        <p:txBody>
          <a:bodyPr wrap="square" anchor="t">
            <a:spAutoFit/>
          </a:bodyPr>
          <a:lstStyle/>
          <a:p>
            <a:pPr algn="l">
              <a:lnSpc>
                <a:spcPct val="125000"/>
              </a:lnSpc>
            </a:pPr>
            <a:r>
              <a:rPr sz="1700" b="0" i="0">
                <a:solidFill>
                  <a:srgbClr val="8D8D8D"/>
                </a:solidFill>
                <a:latin typeface="Liter"/>
              </a:rPr>
              <a:t>Research Advisors:  Dr. Ashiq Masood and Dr. Mohsin Bilal</a:t>
            </a:r>
          </a:p>
          <a:p>
            <a:pPr algn="l">
              <a:lnSpc>
                <a:spcPct val="125000"/>
              </a:lnSpc>
            </a:pPr>
            <a:r>
              <a:rPr sz="1700" b="0" i="0">
                <a:solidFill>
                  <a:srgbClr val="8D8D8D"/>
                </a:solidFill>
                <a:latin typeface="Liter"/>
              </a:rPr>
              <a:t>Date:  14 August 2026</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14984" y="512064"/>
            <a:ext cx="9144000" cy="640080"/>
          </a:xfrm>
          <a:prstGeom prst="rect">
            <a:avLst/>
          </a:prstGeom>
          <a:noFill/>
        </p:spPr>
        <p:txBody>
          <a:bodyPr wrap="square" anchor="t">
            <a:spAutoFit/>
          </a:bodyPr>
          <a:lstStyle/>
          <a:p>
            <a:pPr algn="l"/>
            <a:r>
              <a:rPr sz="3000" b="1" i="0">
                <a:solidFill>
                  <a:srgbClr val="2C5F8A"/>
                </a:solidFill>
                <a:latin typeface="Liter"/>
              </a:rPr>
              <a:t>What this talk covers</a:t>
            </a:r>
          </a:p>
        </p:txBody>
      </p:sp>
      <p:sp>
        <p:nvSpPr>
          <p:cNvPr id="3" name="Rectangle 2"/>
          <p:cNvSpPr/>
          <p:nvPr/>
        </p:nvSpPr>
        <p:spPr>
          <a:xfrm>
            <a:off x="1014984" y="1216152"/>
            <a:ext cx="14228064" cy="1828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8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86000"/>
            <a:ext cx="512064" cy="512064"/>
          </a:xfrm>
          <a:prstGeom prst="rect">
            <a:avLst/>
          </a:prstGeom>
          <a:noFill/>
        </p:spPr>
        <p:txBody>
          <a:bodyPr wrap="square" anchor="ctr">
            <a:spAutoFit/>
          </a:bodyPr>
          <a:lstStyle/>
          <a:p>
            <a:pPr algn="ctr"/>
            <a:r>
              <a:rPr sz="2000" b="1" i="0">
                <a:solidFill>
                  <a:srgbClr val="FFFFFF"/>
                </a:solidFill>
                <a:latin typeface="Liter"/>
              </a:rPr>
              <a:t>1</a:t>
            </a:r>
          </a:p>
        </p:txBody>
      </p:sp>
      <p:sp>
        <p:nvSpPr>
          <p:cNvPr id="6" name="TextBox 5"/>
          <p:cNvSpPr txBox="1"/>
          <p:nvPr/>
        </p:nvSpPr>
        <p:spPr>
          <a:xfrm>
            <a:off x="914400" y="3017520"/>
            <a:ext cx="3246120" cy="822960"/>
          </a:xfrm>
          <a:prstGeom prst="rect">
            <a:avLst/>
          </a:prstGeom>
          <a:noFill/>
        </p:spPr>
        <p:txBody>
          <a:bodyPr wrap="square" anchor="t">
            <a:spAutoFit/>
          </a:bodyPr>
          <a:lstStyle/>
          <a:p>
            <a:pPr algn="l"/>
            <a:r>
              <a:rPr sz="1900" b="1" i="0">
                <a:solidFill>
                  <a:srgbClr val="2C5F8A"/>
                </a:solidFill>
                <a:latin typeface="Liter"/>
              </a:rPr>
              <a:t>The question</a:t>
            </a:r>
          </a:p>
        </p:txBody>
      </p:sp>
      <p:sp>
        <p:nvSpPr>
          <p:cNvPr id="7" name="TextBox 6"/>
          <p:cNvSpPr txBox="1"/>
          <p:nvPr/>
        </p:nvSpPr>
        <p:spPr>
          <a:xfrm>
            <a:off x="914400" y="3886200"/>
            <a:ext cx="3246120" cy="1280160"/>
          </a:xfrm>
          <a:prstGeom prst="rect">
            <a:avLst/>
          </a:prstGeom>
          <a:noFill/>
        </p:spPr>
        <p:txBody>
          <a:bodyPr wrap="square" anchor="t">
            <a:spAutoFit/>
          </a:bodyPr>
          <a:lstStyle/>
          <a:p>
            <a:pPr algn="l">
              <a:lnSpc>
                <a:spcPct val="120000"/>
              </a:lnSpc>
            </a:pPr>
            <a:r>
              <a:rPr sz="1500" b="0" i="0">
                <a:solidFill>
                  <a:srgbClr val="8D8D8D"/>
                </a:solidFill>
                <a:latin typeface="Liter"/>
              </a:rPr>
              <a:t>What we measure, and the patients it comes from</a:t>
            </a:r>
          </a:p>
        </p:txBody>
      </p:sp>
      <p:sp>
        <p:nvSpPr>
          <p:cNvPr id="8" name="Rectangle 7"/>
          <p:cNvSpPr/>
          <p:nvPr/>
        </p:nvSpPr>
        <p:spPr>
          <a:xfrm>
            <a:off x="4617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286000"/>
            <a:ext cx="512064" cy="512064"/>
          </a:xfrm>
          <a:prstGeom prst="rect">
            <a:avLst/>
          </a:prstGeom>
          <a:noFill/>
        </p:spPr>
        <p:txBody>
          <a:bodyPr wrap="square" anchor="ctr">
            <a:spAutoFit/>
          </a:bodyPr>
          <a:lstStyle/>
          <a:p>
            <a:pPr algn="ctr"/>
            <a:r>
              <a:rPr sz="2000" b="1" i="0">
                <a:solidFill>
                  <a:srgbClr val="FFFFFF"/>
                </a:solidFill>
                <a:latin typeface="Liter"/>
              </a:rPr>
              <a:t>2</a:t>
            </a:r>
          </a:p>
        </p:txBody>
      </p:sp>
      <p:sp>
        <p:nvSpPr>
          <p:cNvPr id="10" name="TextBox 9"/>
          <p:cNvSpPr txBox="1"/>
          <p:nvPr/>
        </p:nvSpPr>
        <p:spPr>
          <a:xfrm>
            <a:off x="4343400" y="3017520"/>
            <a:ext cx="3246120" cy="822960"/>
          </a:xfrm>
          <a:prstGeom prst="rect">
            <a:avLst/>
          </a:prstGeom>
          <a:noFill/>
        </p:spPr>
        <p:txBody>
          <a:bodyPr wrap="square" anchor="t">
            <a:spAutoFit/>
          </a:bodyPr>
          <a:lstStyle/>
          <a:p>
            <a:pPr algn="l"/>
            <a:r>
              <a:rPr sz="1900" b="1" i="0">
                <a:solidFill>
                  <a:srgbClr val="2C5F8A"/>
                </a:solidFill>
                <a:latin typeface="Liter"/>
              </a:rPr>
              <a:t>Liver against lymph node</a:t>
            </a:r>
          </a:p>
        </p:txBody>
      </p:sp>
      <p:sp>
        <p:nvSpPr>
          <p:cNvPr id="11" name="TextBox 10"/>
          <p:cNvSpPr txBox="1"/>
          <p:nvPr/>
        </p:nvSpPr>
        <p:spPr>
          <a:xfrm>
            <a:off x="4343400" y="3886200"/>
            <a:ext cx="3246120" cy="1280160"/>
          </a:xfrm>
          <a:prstGeom prst="rect">
            <a:avLst/>
          </a:prstGeom>
          <a:noFill/>
        </p:spPr>
        <p:txBody>
          <a:bodyPr wrap="square" anchor="t">
            <a:spAutoFit/>
          </a:bodyPr>
          <a:lstStyle/>
          <a:p>
            <a:pPr algn="l">
              <a:lnSpc>
                <a:spcPct val="120000"/>
              </a:lnSpc>
            </a:pPr>
            <a:r>
              <a:rPr sz="1500" b="0" i="0">
                <a:solidFill>
                  <a:srgbClr val="8D8D8D"/>
                </a:solidFill>
                <a:latin typeface="Liter"/>
              </a:rPr>
              <a:t>Are the two deposits doing the same thing?</a:t>
            </a:r>
          </a:p>
        </p:txBody>
      </p:sp>
      <p:sp>
        <p:nvSpPr>
          <p:cNvPr id="12" name="Rectangle 11"/>
          <p:cNvSpPr/>
          <p:nvPr/>
        </p:nvSpPr>
        <p:spPr>
          <a:xfrm>
            <a:off x="8046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286000"/>
            <a:ext cx="512064" cy="512064"/>
          </a:xfrm>
          <a:prstGeom prst="rect">
            <a:avLst/>
          </a:prstGeom>
          <a:noFill/>
        </p:spPr>
        <p:txBody>
          <a:bodyPr wrap="square" anchor="ctr">
            <a:spAutoFit/>
          </a:bodyPr>
          <a:lstStyle/>
          <a:p>
            <a:pPr algn="ctr"/>
            <a:r>
              <a:rPr sz="2000" b="1" i="0">
                <a:solidFill>
                  <a:srgbClr val="FFFFFF"/>
                </a:solidFill>
                <a:latin typeface="Liter"/>
              </a:rPr>
              <a:t>3</a:t>
            </a:r>
          </a:p>
        </p:txBody>
      </p:sp>
      <p:sp>
        <p:nvSpPr>
          <p:cNvPr id="14" name="TextBox 13"/>
          <p:cNvSpPr txBox="1"/>
          <p:nvPr/>
        </p:nvSpPr>
        <p:spPr>
          <a:xfrm>
            <a:off x="7772400" y="3017520"/>
            <a:ext cx="3246120" cy="822960"/>
          </a:xfrm>
          <a:prstGeom prst="rect">
            <a:avLst/>
          </a:prstGeom>
          <a:noFill/>
        </p:spPr>
        <p:txBody>
          <a:bodyPr wrap="square" anchor="t">
            <a:spAutoFit/>
          </a:bodyPr>
          <a:lstStyle/>
          <a:p>
            <a:pPr algn="l"/>
            <a:r>
              <a:rPr sz="1900" b="1" i="0">
                <a:solidFill>
                  <a:srgbClr val="2C5F8A"/>
                </a:solidFill>
                <a:latin typeface="Liter"/>
              </a:rPr>
              <a:t>A second, separate group</a:t>
            </a:r>
          </a:p>
        </p:txBody>
      </p:sp>
      <p:sp>
        <p:nvSpPr>
          <p:cNvPr id="15" name="TextBox 14"/>
          <p:cNvSpPr txBox="1"/>
          <p:nvPr/>
        </p:nvSpPr>
        <p:spPr>
          <a:xfrm>
            <a:off x="7772400" y="3886200"/>
            <a:ext cx="3246120" cy="1280160"/>
          </a:xfrm>
          <a:prstGeom prst="rect">
            <a:avLst/>
          </a:prstGeom>
          <a:noFill/>
        </p:spPr>
        <p:txBody>
          <a:bodyPr wrap="square" anchor="t">
            <a:spAutoFit/>
          </a:bodyPr>
          <a:lstStyle/>
          <a:p>
            <a:pPr algn="l">
              <a:lnSpc>
                <a:spcPct val="120000"/>
              </a:lnSpc>
            </a:pPr>
            <a:r>
              <a:rPr sz="1500" b="0" i="0">
                <a:solidFill>
                  <a:srgbClr val="8D8D8D"/>
                </a:solidFill>
                <a:latin typeface="Liter"/>
              </a:rPr>
              <a:t>Does the same pattern appear in other patients?</a:t>
            </a:r>
          </a:p>
        </p:txBody>
      </p:sp>
      <p:sp>
        <p:nvSpPr>
          <p:cNvPr id="16" name="Rectangle 15"/>
          <p:cNvSpPr/>
          <p:nvPr/>
        </p:nvSpPr>
        <p:spPr>
          <a:xfrm>
            <a:off x="11475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75720" y="2286000"/>
            <a:ext cx="512064" cy="512064"/>
          </a:xfrm>
          <a:prstGeom prst="rect">
            <a:avLst/>
          </a:prstGeom>
          <a:noFill/>
        </p:spPr>
        <p:txBody>
          <a:bodyPr wrap="square" anchor="ctr">
            <a:spAutoFit/>
          </a:bodyPr>
          <a:lstStyle/>
          <a:p>
            <a:pPr algn="ctr"/>
            <a:r>
              <a:rPr sz="2000" b="1" i="0">
                <a:solidFill>
                  <a:srgbClr val="FFFFFF"/>
                </a:solidFill>
                <a:latin typeface="Liter"/>
              </a:rPr>
              <a:t>4</a:t>
            </a:r>
          </a:p>
        </p:txBody>
      </p:sp>
      <p:sp>
        <p:nvSpPr>
          <p:cNvPr id="18" name="TextBox 17"/>
          <p:cNvSpPr txBox="1"/>
          <p:nvPr/>
        </p:nvSpPr>
        <p:spPr>
          <a:xfrm>
            <a:off x="11201400" y="3017520"/>
            <a:ext cx="3246120" cy="822960"/>
          </a:xfrm>
          <a:prstGeom prst="rect">
            <a:avLst/>
          </a:prstGeom>
          <a:noFill/>
        </p:spPr>
        <p:txBody>
          <a:bodyPr wrap="square" anchor="t">
            <a:spAutoFit/>
          </a:bodyPr>
          <a:lstStyle/>
          <a:p>
            <a:pPr algn="l"/>
            <a:r>
              <a:rPr sz="1900" b="1" i="0">
                <a:solidFill>
                  <a:srgbClr val="2C5F8A"/>
                </a:solidFill>
                <a:latin typeface="Liter"/>
              </a:rPr>
              <a:t>What it means</a:t>
            </a:r>
          </a:p>
        </p:txBody>
      </p:sp>
      <p:sp>
        <p:nvSpPr>
          <p:cNvPr id="19" name="TextBox 18"/>
          <p:cNvSpPr txBox="1"/>
          <p:nvPr/>
        </p:nvSpPr>
        <p:spPr>
          <a:xfrm>
            <a:off x="11201400" y="3886200"/>
            <a:ext cx="3246120" cy="1280160"/>
          </a:xfrm>
          <a:prstGeom prst="rect">
            <a:avLst/>
          </a:prstGeom>
          <a:noFill/>
        </p:spPr>
        <p:txBody>
          <a:bodyPr wrap="square" anchor="t">
            <a:spAutoFit/>
          </a:bodyPr>
          <a:lstStyle/>
          <a:p>
            <a:pPr algn="l">
              <a:lnSpc>
                <a:spcPct val="120000"/>
              </a:lnSpc>
            </a:pPr>
            <a:r>
              <a:rPr sz="1500" b="0" i="0">
                <a:solidFill>
                  <a:srgbClr val="8D8D8D"/>
                </a:solidFill>
                <a:latin typeface="Liter"/>
              </a:rPr>
              <a:t>For reading slides, and what we could not show</a:t>
            </a:r>
          </a:p>
        </p:txBody>
      </p:sp>
      <p:sp>
        <p:nvSpPr>
          <p:cNvPr id="20" name="Rectangle 19"/>
          <p:cNvSpPr/>
          <p:nvPr/>
        </p:nvSpPr>
        <p:spPr>
          <a:xfrm>
            <a:off x="1014984" y="5577840"/>
            <a:ext cx="14228064" cy="17373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5577840"/>
            <a:ext cx="13533120" cy="1737360"/>
          </a:xfrm>
          <a:prstGeom prst="rect">
            <a:avLst/>
          </a:prstGeom>
          <a:noFill/>
        </p:spPr>
        <p:txBody>
          <a:bodyPr wrap="square" anchor="ctr">
            <a:spAutoFit/>
          </a:bodyPr>
          <a:lstStyle/>
          <a:p>
            <a:pPr algn="l">
              <a:lnSpc>
                <a:spcPct val="130000"/>
              </a:lnSpc>
            </a:pPr>
            <a:r>
              <a:rPr sz="1900" b="1" i="0">
                <a:solidFill>
                  <a:srgbClr val="333333"/>
                </a:solidFill>
                <a:latin typeface="Liter"/>
              </a:rPr>
              <a:t>Short version:  when a pancreatic tumour spreads, only about half of what changes is the same wherever it lands.</a:t>
            </a:r>
          </a:p>
          <a:p>
            <a:pPr algn="l">
              <a:lnSpc>
                <a:spcPct val="130000"/>
              </a:lnSpc>
            </a:pPr>
            <a:r>
              <a:rPr sz="1900" b="1" i="0">
                <a:solidFill>
                  <a:srgbClr val="333333"/>
                </a:solidFill>
                <a:latin typeface="Liter"/>
              </a:rPr>
              <a:t>The other half is decided by the destination, and the part that differs is the immune content.</a:t>
            </a:r>
          </a:p>
        </p:txBody>
      </p:sp>
      <p:sp>
        <p:nvSpPr>
          <p:cNvPr id="22" name="Rectangle 21"/>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01</a:t>
            </a:r>
          </a:p>
        </p:txBody>
      </p:sp>
      <p:sp>
        <p:nvSpPr>
          <p:cNvPr id="4" name="TextBox 3"/>
          <p:cNvSpPr txBox="1"/>
          <p:nvPr/>
        </p:nvSpPr>
        <p:spPr>
          <a:xfrm>
            <a:off x="1014984" y="1417320"/>
            <a:ext cx="11887200" cy="457200"/>
          </a:xfrm>
          <a:prstGeom prst="rect">
            <a:avLst/>
          </a:prstGeom>
          <a:noFill/>
        </p:spPr>
        <p:txBody>
          <a:bodyPr wrap="square" anchor="t">
            <a:spAutoFit/>
          </a:bodyPr>
          <a:lstStyle/>
          <a:p>
            <a:pPr algn="l"/>
            <a:r>
              <a:rPr sz="1800" b="0" i="0">
                <a:solidFill>
                  <a:srgbClr val="D9E8F5"/>
                </a:solidFill>
                <a:latin typeface="Liter"/>
              </a:rPr>
              <a:t>What we measure and who it came from</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lnSpc>
                <a:spcPct val="105000"/>
              </a:lnSpc>
            </a:pPr>
            <a:r>
              <a:rPr sz="4200" b="1" i="0">
                <a:solidFill>
                  <a:srgbClr val="2C5F8A"/>
                </a:solidFill>
                <a:latin typeface="Liter"/>
              </a:rPr>
              <a:t>The question</a:t>
            </a:r>
          </a:p>
        </p:txBody>
      </p:sp>
      <p:sp>
        <p:nvSpPr>
          <p:cNvPr id="7" name="TextBox 6"/>
          <p:cNvSpPr txBox="1"/>
          <p:nvPr/>
        </p:nvSpPr>
        <p:spPr>
          <a:xfrm>
            <a:off x="1316736" y="5394960"/>
            <a:ext cx="13258800" cy="1097280"/>
          </a:xfrm>
          <a:prstGeom prst="rect">
            <a:avLst/>
          </a:prstGeom>
          <a:noFill/>
        </p:spPr>
        <p:txBody>
          <a:bodyPr wrap="square" anchor="t">
            <a:spAutoFit/>
          </a:bodyPr>
          <a:lstStyle/>
          <a:p>
            <a:pPr algn="l">
              <a:lnSpc>
                <a:spcPct val="125000"/>
              </a:lnSpc>
            </a:pPr>
            <a:r>
              <a:rPr sz="2000" b="0" i="0">
                <a:solidFill>
                  <a:srgbClr val="8D8D8D"/>
                </a:solidFill>
                <a:latin typeface="Liter"/>
              </a:rPr>
              <a:t>Spatial transcriptomics gives us a stained image and the gene readout at</a:t>
            </a:r>
          </a:p>
          <a:p>
            <a:pPr algn="l">
              <a:lnSpc>
                <a:spcPct val="125000"/>
              </a:lnSpc>
            </a:pPr>
            <a:r>
              <a:rPr sz="2000" b="0" i="0">
                <a:solidFill>
                  <a:srgbClr val="8D8D8D"/>
                </a:solidFill>
                <a:latin typeface="Liter"/>
              </a:rPr>
              <a:t>the same point in the same tissue.</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One slide, measured three ways at every point</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04</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1_what_we_measure.png"/>
          <p:cNvPicPr>
            <a:picLocks noChangeAspect="1"/>
          </p:cNvPicPr>
          <p:nvPr/>
        </p:nvPicPr>
        <p:blipFill>
          <a:blip r:embed="rId2"/>
          <a:stretch>
            <a:fillRect/>
          </a:stretch>
        </p:blipFill>
        <p:spPr>
          <a:xfrm>
            <a:off x="504305" y="960120"/>
            <a:ext cx="15267709" cy="6949440"/>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This is the only kind of data that keeps the microscope image and the molecular readout locked to the same physical location.</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Three separate groups of patients, not one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05</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952" y="1188720"/>
            <a:ext cx="4754880" cy="55778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3" y="1481328"/>
            <a:ext cx="13716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1481328"/>
            <a:ext cx="1371600" cy="457200"/>
          </a:xfrm>
          <a:prstGeom prst="rect">
            <a:avLst/>
          </a:prstGeom>
          <a:noFill/>
        </p:spPr>
        <p:txBody>
          <a:bodyPr wrap="square" anchor="ctr">
            <a:spAutoFit/>
          </a:bodyPr>
          <a:lstStyle/>
          <a:p>
            <a:pPr algn="ctr"/>
            <a:r>
              <a:rPr sz="1200" b="1" i="0">
                <a:solidFill>
                  <a:srgbClr val="FFFFFF"/>
                </a:solidFill>
                <a:latin typeface="Liter"/>
              </a:rPr>
              <a:t>GROUP 01</a:t>
            </a:r>
          </a:p>
        </p:txBody>
      </p:sp>
      <p:sp>
        <p:nvSpPr>
          <p:cNvPr id="11" name="TextBox 10"/>
          <p:cNvSpPr txBox="1"/>
          <p:nvPr/>
        </p:nvSpPr>
        <p:spPr>
          <a:xfrm>
            <a:off x="1014983" y="2148840"/>
            <a:ext cx="4297680" cy="640080"/>
          </a:xfrm>
          <a:prstGeom prst="rect">
            <a:avLst/>
          </a:prstGeom>
          <a:noFill/>
        </p:spPr>
        <p:txBody>
          <a:bodyPr wrap="square" anchor="t">
            <a:spAutoFit/>
          </a:bodyPr>
          <a:lstStyle/>
          <a:p>
            <a:pPr algn="l"/>
            <a:r>
              <a:rPr sz="2100" b="1" i="0">
                <a:solidFill>
                  <a:srgbClr val="2C5F8A"/>
                </a:solidFill>
                <a:latin typeface="Liter"/>
              </a:rPr>
              <a:t>The main group</a:t>
            </a:r>
          </a:p>
        </p:txBody>
      </p:sp>
      <p:sp>
        <p:nvSpPr>
          <p:cNvPr id="12" name="TextBox 11"/>
          <p:cNvSpPr txBox="1"/>
          <p:nvPr/>
        </p:nvSpPr>
        <p:spPr>
          <a:xfrm>
            <a:off x="1014983" y="2880360"/>
            <a:ext cx="4297680" cy="3657600"/>
          </a:xfrm>
          <a:prstGeom prst="rect">
            <a:avLst/>
          </a:prstGeom>
          <a:noFill/>
        </p:spPr>
        <p:txBody>
          <a:bodyPr wrap="square" anchor="t">
            <a:spAutoFit/>
          </a:bodyPr>
          <a:lstStyle/>
          <a:p>
            <a:pPr algn="l">
              <a:lnSpc>
                <a:spcPct val="125000"/>
              </a:lnSpc>
            </a:pPr>
            <a:r>
              <a:rPr sz="1450" b="0" i="0">
                <a:solidFill>
                  <a:srgbClr val="333333"/>
                </a:solidFill>
                <a:latin typeface="Liter"/>
              </a:rPr>
              <a:t>13 patients, 30 tissue sections</a:t>
            </a:r>
          </a:p>
          <a:p>
            <a:pPr algn="l">
              <a:lnSpc>
                <a:spcPct val="125000"/>
              </a:lnSpc>
            </a:pPr>
            <a:r>
              <a:rPr sz="1450" b="0" i="0">
                <a:solidFill>
                  <a:srgbClr val="333333"/>
                </a:solidFill>
                <a:latin typeface="Liter"/>
              </a:rPr>
              <a:t/>
            </a:r>
          </a:p>
          <a:p>
            <a:pPr algn="l">
              <a:lnSpc>
                <a:spcPct val="125000"/>
              </a:lnSpc>
            </a:pPr>
            <a:r>
              <a:rPr sz="1450" b="0" i="0">
                <a:solidFill>
                  <a:srgbClr val="333333"/>
                </a:solidFill>
                <a:latin typeface="Liter"/>
              </a:rPr>
              <a:t>Primary pancreatic tumour, liver deposits, lymph node deposits, and normal pancreas.</a:t>
            </a:r>
          </a:p>
          <a:p>
            <a:pPr algn="l">
              <a:lnSpc>
                <a:spcPct val="125000"/>
              </a:lnSpc>
            </a:pPr>
            <a:r>
              <a:rPr sz="1450" b="0" i="0">
                <a:solidFill>
                  <a:srgbClr val="333333"/>
                </a:solidFill>
                <a:latin typeface="Liter"/>
              </a:rPr>
              <a:t/>
            </a:r>
          </a:p>
          <a:p>
            <a:pPr algn="l">
              <a:lnSpc>
                <a:spcPct val="125000"/>
              </a:lnSpc>
            </a:pPr>
            <a:r>
              <a:rPr sz="1450" b="0" i="0">
                <a:solidFill>
                  <a:srgbClr val="333333"/>
                </a:solidFill>
                <a:latin typeface="Liter"/>
              </a:rPr>
              <a:t>Four patients gave us both a liver and a lymph node deposit, which is what makes the key comparison possible.</a:t>
            </a:r>
          </a:p>
        </p:txBody>
      </p:sp>
      <p:sp>
        <p:nvSpPr>
          <p:cNvPr id="13" name="Rectangle 12"/>
          <p:cNvSpPr/>
          <p:nvPr/>
        </p:nvSpPr>
        <p:spPr>
          <a:xfrm>
            <a:off x="5742432" y="1188720"/>
            <a:ext cx="4754880" cy="55778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42432" y="1188720"/>
            <a:ext cx="4754880" cy="73152"/>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98464" y="1481328"/>
            <a:ext cx="13716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98464" y="1481328"/>
            <a:ext cx="1371600" cy="457200"/>
          </a:xfrm>
          <a:prstGeom prst="rect">
            <a:avLst/>
          </a:prstGeom>
          <a:noFill/>
        </p:spPr>
        <p:txBody>
          <a:bodyPr wrap="square" anchor="ctr">
            <a:spAutoFit/>
          </a:bodyPr>
          <a:lstStyle/>
          <a:p>
            <a:pPr algn="ctr"/>
            <a:r>
              <a:rPr sz="1200" b="1" i="0">
                <a:solidFill>
                  <a:srgbClr val="FFFFFF"/>
                </a:solidFill>
                <a:latin typeface="Liter"/>
              </a:rPr>
              <a:t>GROUP 02</a:t>
            </a:r>
          </a:p>
        </p:txBody>
      </p:sp>
      <p:sp>
        <p:nvSpPr>
          <p:cNvPr id="17" name="TextBox 16"/>
          <p:cNvSpPr txBox="1"/>
          <p:nvPr/>
        </p:nvSpPr>
        <p:spPr>
          <a:xfrm>
            <a:off x="5998464" y="2148840"/>
            <a:ext cx="4297680" cy="640080"/>
          </a:xfrm>
          <a:prstGeom prst="rect">
            <a:avLst/>
          </a:prstGeom>
          <a:noFill/>
        </p:spPr>
        <p:txBody>
          <a:bodyPr wrap="square" anchor="t">
            <a:spAutoFit/>
          </a:bodyPr>
          <a:lstStyle/>
          <a:p>
            <a:pPr algn="l"/>
            <a:r>
              <a:rPr sz="2100" b="1" i="0">
                <a:solidFill>
                  <a:srgbClr val="E07B54"/>
                </a:solidFill>
                <a:latin typeface="Liter"/>
              </a:rPr>
              <a:t>The check group</a:t>
            </a:r>
          </a:p>
        </p:txBody>
      </p:sp>
      <p:sp>
        <p:nvSpPr>
          <p:cNvPr id="18" name="TextBox 17"/>
          <p:cNvSpPr txBox="1"/>
          <p:nvPr/>
        </p:nvSpPr>
        <p:spPr>
          <a:xfrm>
            <a:off x="5998464" y="2880360"/>
            <a:ext cx="4297680" cy="3657600"/>
          </a:xfrm>
          <a:prstGeom prst="rect">
            <a:avLst/>
          </a:prstGeom>
          <a:noFill/>
        </p:spPr>
        <p:txBody>
          <a:bodyPr wrap="square" anchor="t">
            <a:spAutoFit/>
          </a:bodyPr>
          <a:lstStyle/>
          <a:p>
            <a:pPr algn="l">
              <a:lnSpc>
                <a:spcPct val="125000"/>
              </a:lnSpc>
            </a:pPr>
            <a:r>
              <a:rPr sz="1450" b="0" i="0">
                <a:solidFill>
                  <a:srgbClr val="333333"/>
                </a:solidFill>
                <a:latin typeface="Liter"/>
              </a:rPr>
              <a:t>13 patients, 55 tissue sections</a:t>
            </a:r>
          </a:p>
          <a:p>
            <a:pPr algn="l">
              <a:lnSpc>
                <a:spcPct val="125000"/>
              </a:lnSpc>
            </a:pPr>
            <a:r>
              <a:rPr sz="1450" b="0" i="0">
                <a:solidFill>
                  <a:srgbClr val="333333"/>
                </a:solidFill>
                <a:latin typeface="Liter"/>
              </a:rPr>
              <a:t/>
            </a:r>
          </a:p>
          <a:p>
            <a:pPr algn="l">
              <a:lnSpc>
                <a:spcPct val="125000"/>
              </a:lnSpc>
            </a:pPr>
            <a:r>
              <a:rPr sz="1450" b="0" i="0">
                <a:solidFill>
                  <a:srgbClr val="333333"/>
                </a:solidFill>
                <a:latin typeface="Liter"/>
              </a:rPr>
              <a:t>A published cohort from another centre. None of these patients had chemotherapy before sampling.</a:t>
            </a:r>
          </a:p>
          <a:p>
            <a:pPr algn="l">
              <a:lnSpc>
                <a:spcPct val="125000"/>
              </a:lnSpc>
            </a:pPr>
            <a:r>
              <a:rPr sz="1450" b="0" i="0">
                <a:solidFill>
                  <a:srgbClr val="333333"/>
                </a:solidFill>
                <a:latin typeface="Liter"/>
              </a:rPr>
              <a:t/>
            </a:r>
          </a:p>
          <a:p>
            <a:pPr algn="l">
              <a:lnSpc>
                <a:spcPct val="125000"/>
              </a:lnSpc>
            </a:pPr>
            <a:r>
              <a:rPr sz="1450" b="0" i="0">
                <a:solidFill>
                  <a:srgbClr val="333333"/>
                </a:solidFill>
                <a:latin typeface="Liter"/>
              </a:rPr>
              <a:t>Deposits in liver, lung and peritoneum, so three destinations instead of two.</a:t>
            </a:r>
          </a:p>
        </p:txBody>
      </p:sp>
      <p:sp>
        <p:nvSpPr>
          <p:cNvPr id="19" name="Rectangle 18"/>
          <p:cNvSpPr/>
          <p:nvPr/>
        </p:nvSpPr>
        <p:spPr>
          <a:xfrm>
            <a:off x="10725912" y="1188720"/>
            <a:ext cx="4754880" cy="55778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25912" y="1188720"/>
            <a:ext cx="4754880" cy="7315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81944" y="1481328"/>
            <a:ext cx="1371600" cy="4572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81944" y="1481328"/>
            <a:ext cx="1371600" cy="457200"/>
          </a:xfrm>
          <a:prstGeom prst="rect">
            <a:avLst/>
          </a:prstGeom>
          <a:noFill/>
        </p:spPr>
        <p:txBody>
          <a:bodyPr wrap="square" anchor="ctr">
            <a:spAutoFit/>
          </a:bodyPr>
          <a:lstStyle/>
          <a:p>
            <a:pPr algn="ctr"/>
            <a:r>
              <a:rPr sz="1200" b="1" i="0">
                <a:solidFill>
                  <a:srgbClr val="FFFFFF"/>
                </a:solidFill>
                <a:latin typeface="Liter"/>
              </a:rPr>
              <a:t>GROUP 03</a:t>
            </a:r>
          </a:p>
        </p:txBody>
      </p:sp>
      <p:sp>
        <p:nvSpPr>
          <p:cNvPr id="23" name="TextBox 22"/>
          <p:cNvSpPr txBox="1"/>
          <p:nvPr/>
        </p:nvSpPr>
        <p:spPr>
          <a:xfrm>
            <a:off x="10981944" y="2148840"/>
            <a:ext cx="4297680" cy="640080"/>
          </a:xfrm>
          <a:prstGeom prst="rect">
            <a:avLst/>
          </a:prstGeom>
          <a:noFill/>
        </p:spPr>
        <p:txBody>
          <a:bodyPr wrap="square" anchor="t">
            <a:spAutoFit/>
          </a:bodyPr>
          <a:lstStyle/>
          <a:p>
            <a:pPr algn="l"/>
            <a:r>
              <a:rPr sz="2100" b="1" i="0">
                <a:solidFill>
                  <a:srgbClr val="1BAF7A"/>
                </a:solidFill>
                <a:latin typeface="Liter"/>
              </a:rPr>
              <a:t>The wider test</a:t>
            </a:r>
          </a:p>
        </p:txBody>
      </p:sp>
      <p:sp>
        <p:nvSpPr>
          <p:cNvPr id="24" name="TextBox 23"/>
          <p:cNvSpPr txBox="1"/>
          <p:nvPr/>
        </p:nvSpPr>
        <p:spPr>
          <a:xfrm>
            <a:off x="10981944" y="2880360"/>
            <a:ext cx="4297680" cy="3657600"/>
          </a:xfrm>
          <a:prstGeom prst="rect">
            <a:avLst/>
          </a:prstGeom>
          <a:noFill/>
        </p:spPr>
        <p:txBody>
          <a:bodyPr wrap="square" anchor="t">
            <a:spAutoFit/>
          </a:bodyPr>
          <a:lstStyle/>
          <a:p>
            <a:pPr algn="l">
              <a:lnSpc>
                <a:spcPct val="125000"/>
              </a:lnSpc>
            </a:pPr>
            <a:r>
              <a:rPr sz="1450" b="0" i="0">
                <a:solidFill>
                  <a:srgbClr val="333333"/>
                </a:solidFill>
                <a:latin typeface="Liter"/>
              </a:rPr>
              <a:t>156 tissue sections, 7 organs</a:t>
            </a:r>
          </a:p>
          <a:p>
            <a:pPr algn="l">
              <a:lnSpc>
                <a:spcPct val="125000"/>
              </a:lnSpc>
            </a:pPr>
            <a:r>
              <a:rPr sz="1450" b="0" i="0">
                <a:solidFill>
                  <a:srgbClr val="333333"/>
                </a:solidFill>
                <a:latin typeface="Liter"/>
              </a:rPr>
              <a:t/>
            </a:r>
          </a:p>
          <a:p>
            <a:pPr algn="l">
              <a:lnSpc>
                <a:spcPct val="125000"/>
              </a:lnSpc>
            </a:pPr>
            <a:r>
              <a:rPr sz="1450" b="0" i="0">
                <a:solidFill>
                  <a:srgbClr val="333333"/>
                </a:solidFill>
                <a:latin typeface="Liter"/>
              </a:rPr>
              <a:t>A large public collection covering bowel, prostate, kidney, brain, breast, lymph node and pancreas.</a:t>
            </a:r>
          </a:p>
          <a:p>
            <a:pPr algn="l">
              <a:lnSpc>
                <a:spcPct val="125000"/>
              </a:lnSpc>
            </a:pPr>
            <a:r>
              <a:rPr sz="1450" b="0" i="0">
                <a:solidFill>
                  <a:srgbClr val="333333"/>
                </a:solidFill>
                <a:latin typeface="Liter"/>
              </a:rPr>
              <a:t/>
            </a:r>
          </a:p>
          <a:p>
            <a:pPr algn="l">
              <a:lnSpc>
                <a:spcPct val="125000"/>
              </a:lnSpc>
            </a:pPr>
            <a:r>
              <a:rPr sz="1450" b="0" i="0">
                <a:solidFill>
                  <a:srgbClr val="333333"/>
                </a:solidFill>
                <a:latin typeface="Liter"/>
              </a:rPr>
              <a:t>Used to test whether the idea holds outside pancreatic cancer at all.</a:t>
            </a:r>
          </a:p>
        </p:txBody>
      </p:sp>
      <p:sp>
        <p:nvSpPr>
          <p:cNvPr id="25" name="Rectangle 24"/>
          <p:cNvSpPr/>
          <p:nvPr/>
        </p:nvSpPr>
        <p:spPr>
          <a:xfrm>
            <a:off x="758952" y="7086600"/>
            <a:ext cx="14721840" cy="114300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7086600"/>
            <a:ext cx="14081760" cy="1143000"/>
          </a:xfrm>
          <a:prstGeom prst="rect">
            <a:avLst/>
          </a:prstGeom>
          <a:noFill/>
        </p:spPr>
        <p:txBody>
          <a:bodyPr wrap="square" anchor="ctr">
            <a:spAutoFit/>
          </a:bodyPr>
          <a:lstStyle/>
          <a:p>
            <a:pPr algn="l"/>
            <a:r>
              <a:rPr sz="1800" b="1" i="0">
                <a:solidFill>
                  <a:srgbClr val="333333"/>
                </a:solidFill>
                <a:latin typeface="Liter"/>
              </a:rPr>
              <a:t>The second and third groups were never touched while the first was being analysed.  They are a check, not extra training data.</a:t>
            </a:r>
          </a:p>
        </p:txBody>
      </p:sp>
      <p:sp>
        <p:nvSpPr>
          <p:cNvPr id="27" name="Rectangle 2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02</a:t>
            </a:r>
          </a:p>
        </p:txBody>
      </p:sp>
      <p:sp>
        <p:nvSpPr>
          <p:cNvPr id="4" name="TextBox 3"/>
          <p:cNvSpPr txBox="1"/>
          <p:nvPr/>
        </p:nvSpPr>
        <p:spPr>
          <a:xfrm>
            <a:off x="1014984" y="1417320"/>
            <a:ext cx="11887200" cy="457200"/>
          </a:xfrm>
          <a:prstGeom prst="rect">
            <a:avLst/>
          </a:prstGeom>
          <a:noFill/>
        </p:spPr>
        <p:txBody>
          <a:bodyPr wrap="square" anchor="t">
            <a:spAutoFit/>
          </a:bodyPr>
          <a:lstStyle/>
          <a:p>
            <a:pPr algn="l"/>
            <a:r>
              <a:rPr sz="1800" b="0" i="0">
                <a:solidFill>
                  <a:srgbClr val="D9E8F5"/>
                </a:solidFill>
                <a:latin typeface="Liter"/>
              </a:rPr>
              <a:t>The main comparison</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lnSpc>
                <a:spcPct val="105000"/>
              </a:lnSpc>
            </a:pPr>
            <a:r>
              <a:rPr sz="4200" b="1" i="0">
                <a:solidFill>
                  <a:srgbClr val="2C5F8A"/>
                </a:solidFill>
                <a:latin typeface="Liter"/>
              </a:rPr>
              <a:t>Is a liver deposit the same</a:t>
            </a:r>
          </a:p>
          <a:p>
            <a:pPr algn="l">
              <a:lnSpc>
                <a:spcPct val="105000"/>
              </a:lnSpc>
            </a:pPr>
            <a:r>
              <a:rPr sz="4200" b="1" i="0">
                <a:solidFill>
                  <a:srgbClr val="2C5F8A"/>
                </a:solidFill>
                <a:latin typeface="Liter"/>
              </a:rPr>
              <a:t>as a lymph node deposit?</a:t>
            </a:r>
          </a:p>
        </p:txBody>
      </p:sp>
      <p:sp>
        <p:nvSpPr>
          <p:cNvPr id="7" name="TextBox 6"/>
          <p:cNvSpPr txBox="1"/>
          <p:nvPr/>
        </p:nvSpPr>
        <p:spPr>
          <a:xfrm>
            <a:off x="1316736" y="5394960"/>
            <a:ext cx="13258800" cy="1097280"/>
          </a:xfrm>
          <a:prstGeom prst="rect">
            <a:avLst/>
          </a:prstGeom>
          <a:noFill/>
        </p:spPr>
        <p:txBody>
          <a:bodyPr wrap="square" anchor="t">
            <a:spAutoFit/>
          </a:bodyPr>
          <a:lstStyle/>
          <a:p>
            <a:pPr algn="l">
              <a:lnSpc>
                <a:spcPct val="125000"/>
              </a:lnSpc>
            </a:pPr>
            <a:r>
              <a:rPr sz="2000" b="0" i="0">
                <a:solidFill>
                  <a:srgbClr val="8D8D8D"/>
                </a:solidFill>
                <a:latin typeface="Liter"/>
              </a:rPr>
              <a:t>Four patients gave us tumour from both sites, so the comparison happens</a:t>
            </a:r>
          </a:p>
          <a:p>
            <a:pPr algn="l">
              <a:lnSpc>
                <a:spcPct val="125000"/>
              </a:lnSpc>
            </a:pPr>
            <a:r>
              <a:rPr sz="2000" b="0" i="0">
                <a:solidFill>
                  <a:srgbClr val="8D8D8D"/>
                </a:solidFill>
                <a:latin typeface="Liter"/>
              </a:rPr>
              <a:t>inside one person and patient differences cancel out.</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Only about half of what changes is shared between the two destinations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07</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2_half_shared.png"/>
          <p:cNvPicPr>
            <a:picLocks noChangeAspect="1"/>
          </p:cNvPicPr>
          <p:nvPr/>
        </p:nvPicPr>
        <p:blipFill>
          <a:blip r:embed="rId2"/>
          <a:stretch>
            <a:fillRect/>
          </a:stretch>
        </p:blipFill>
        <p:spPr>
          <a:xfrm>
            <a:off x="320040" y="1199755"/>
            <a:ext cx="15636240" cy="6470168"/>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Measured across 42 features of cell content and tissue programme, in the patients who gave tissue from both sites.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The difference between the two sites is immune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08</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2b_bcells.png"/>
          <p:cNvPicPr>
            <a:picLocks noChangeAspect="1"/>
          </p:cNvPicPr>
          <p:nvPr/>
        </p:nvPicPr>
        <p:blipFill>
          <a:blip r:embed="rId2"/>
          <a:stretch>
            <a:fillRect/>
          </a:stretch>
        </p:blipFill>
        <p:spPr>
          <a:xfrm>
            <a:off x="320040" y="1114816"/>
            <a:ext cx="15636240" cy="6640047"/>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With only four paired patients no p value can reach significance, so what carries the weight is that the direction never reverses.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Could this just be normal lymph node tissue contaminating the sample?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09</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2c_purity.png"/>
          <p:cNvPicPr>
            <a:picLocks noChangeAspect="1"/>
          </p:cNvPicPr>
          <p:nvPr/>
        </p:nvPicPr>
        <p:blipFill>
          <a:blip r:embed="rId2"/>
          <a:stretch>
            <a:fillRect/>
          </a:stretch>
        </p:blipFill>
        <p:spPr>
          <a:xfrm>
            <a:off x="320040" y="1221913"/>
            <a:ext cx="15636240" cy="6425852"/>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This is the single control that decides whether the previous slide means anything.  The effect behaves like biology, not like contamination.</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03</a:t>
            </a:r>
          </a:p>
        </p:txBody>
      </p:sp>
      <p:sp>
        <p:nvSpPr>
          <p:cNvPr id="4" name="TextBox 3"/>
          <p:cNvSpPr txBox="1"/>
          <p:nvPr/>
        </p:nvSpPr>
        <p:spPr>
          <a:xfrm>
            <a:off x="1014984" y="1417320"/>
            <a:ext cx="11887200" cy="457200"/>
          </a:xfrm>
          <a:prstGeom prst="rect">
            <a:avLst/>
          </a:prstGeom>
          <a:noFill/>
        </p:spPr>
        <p:txBody>
          <a:bodyPr wrap="square" anchor="t">
            <a:spAutoFit/>
          </a:bodyPr>
          <a:lstStyle/>
          <a:p>
            <a:pPr algn="l"/>
            <a:r>
              <a:rPr sz="1800" b="0" i="0">
                <a:solidFill>
                  <a:srgbClr val="D9E8F5"/>
                </a:solidFill>
                <a:latin typeface="Liter"/>
              </a:rPr>
              <a:t>An independent check</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lnSpc>
                <a:spcPct val="105000"/>
              </a:lnSpc>
            </a:pPr>
            <a:r>
              <a:rPr sz="4200" b="1" i="0">
                <a:solidFill>
                  <a:srgbClr val="2C5F8A"/>
                </a:solidFill>
                <a:latin typeface="Liter"/>
              </a:rPr>
              <a:t>Does it happen in other patients?</a:t>
            </a:r>
          </a:p>
        </p:txBody>
      </p:sp>
      <p:sp>
        <p:nvSpPr>
          <p:cNvPr id="7" name="TextBox 6"/>
          <p:cNvSpPr txBox="1"/>
          <p:nvPr/>
        </p:nvSpPr>
        <p:spPr>
          <a:xfrm>
            <a:off x="1316736" y="5394960"/>
            <a:ext cx="13258800" cy="1097280"/>
          </a:xfrm>
          <a:prstGeom prst="rect">
            <a:avLst/>
          </a:prstGeom>
          <a:noFill/>
        </p:spPr>
        <p:txBody>
          <a:bodyPr wrap="square" anchor="t">
            <a:spAutoFit/>
          </a:bodyPr>
          <a:lstStyle/>
          <a:p>
            <a:pPr algn="l">
              <a:lnSpc>
                <a:spcPct val="125000"/>
              </a:lnSpc>
            </a:pPr>
            <a:r>
              <a:rPr sz="2000" b="0" i="0">
                <a:solidFill>
                  <a:srgbClr val="8D8D8D"/>
                </a:solidFill>
                <a:latin typeface="Liter"/>
              </a:rPr>
              <a:t>A separate published cohort, from another centre, with no chemotherapy</a:t>
            </a:r>
          </a:p>
          <a:p>
            <a:pPr algn="l">
              <a:lnSpc>
                <a:spcPct val="125000"/>
              </a:lnSpc>
            </a:pPr>
            <a:r>
              <a:rPr sz="2000" b="0" i="0">
                <a:solidFill>
                  <a:srgbClr val="8D8D8D"/>
                </a:solidFill>
                <a:latin typeface="Liter"/>
              </a:rPr>
              <a:t>before sampling, and three metastatic sites instead of two.</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In a separate group of patients, liver deposits are immune poor and lung deposits immune rich</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11</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3_immune_by_site.png"/>
          <p:cNvPicPr>
            <a:picLocks noChangeAspect="1"/>
          </p:cNvPicPr>
          <p:nvPr/>
        </p:nvPicPr>
        <p:blipFill>
          <a:blip r:embed="rId2"/>
          <a:stretch>
            <a:fillRect/>
          </a:stretch>
        </p:blipFill>
        <p:spPr>
          <a:xfrm>
            <a:off x="428625" y="960120"/>
            <a:ext cx="15419070" cy="6949440"/>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A different centre, different patients, and no chemotherapy before sampling.  The same pattern appears without us going looking for it.</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A sanity check on the same measurement</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12</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3b_sanity_check.png"/>
          <p:cNvPicPr>
            <a:picLocks noChangeAspect="1"/>
          </p:cNvPicPr>
          <p:nvPr/>
        </p:nvPicPr>
        <p:blipFill>
          <a:blip r:embed="rId2"/>
          <a:stretch>
            <a:fillRect/>
          </a:stretch>
        </p:blipFill>
        <p:spPr>
          <a:xfrm>
            <a:off x="320040" y="1935604"/>
            <a:ext cx="15636240" cy="4998470"/>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One control did fail: mesothelin cannot mark peritoneal lining here, because pancreatic tumour cells express it themselves.  We report that as a failure.</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04</a:t>
            </a:r>
          </a:p>
        </p:txBody>
      </p:sp>
      <p:sp>
        <p:nvSpPr>
          <p:cNvPr id="4" name="TextBox 3"/>
          <p:cNvSpPr txBox="1"/>
          <p:nvPr/>
        </p:nvSpPr>
        <p:spPr>
          <a:xfrm>
            <a:off x="1014984" y="1417320"/>
            <a:ext cx="11887200" cy="457200"/>
          </a:xfrm>
          <a:prstGeom prst="rect">
            <a:avLst/>
          </a:prstGeom>
          <a:noFill/>
        </p:spPr>
        <p:txBody>
          <a:bodyPr wrap="square" anchor="t">
            <a:spAutoFit/>
          </a:bodyPr>
          <a:lstStyle/>
          <a:p>
            <a:pPr algn="l"/>
            <a:r>
              <a:rPr sz="1800" b="0" i="0">
                <a:solidFill>
                  <a:srgbClr val="D9E8F5"/>
                </a:solidFill>
                <a:latin typeface="Liter"/>
              </a:rPr>
              <a:t>Consequences</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lnSpc>
                <a:spcPct val="105000"/>
              </a:lnSpc>
            </a:pPr>
            <a:r>
              <a:rPr sz="4200" b="1" i="0">
                <a:solidFill>
                  <a:srgbClr val="2C5F8A"/>
                </a:solidFill>
                <a:latin typeface="Liter"/>
              </a:rPr>
              <a:t>What this means for reading slides</a:t>
            </a:r>
          </a:p>
        </p:txBody>
      </p:sp>
      <p:sp>
        <p:nvSpPr>
          <p:cNvPr id="7" name="TextBox 6"/>
          <p:cNvSpPr txBox="1"/>
          <p:nvPr/>
        </p:nvSpPr>
        <p:spPr>
          <a:xfrm>
            <a:off x="1316736" y="5394960"/>
            <a:ext cx="13258800" cy="1097280"/>
          </a:xfrm>
          <a:prstGeom prst="rect">
            <a:avLst/>
          </a:prstGeom>
          <a:noFill/>
        </p:spPr>
        <p:txBody>
          <a:bodyPr wrap="square" anchor="t">
            <a:spAutoFit/>
          </a:bodyPr>
          <a:lstStyle/>
          <a:p>
            <a:pPr algn="l">
              <a:lnSpc>
                <a:spcPct val="125000"/>
              </a:lnSpc>
            </a:pPr>
            <a:r>
              <a:rPr sz="2000" b="0" i="0">
                <a:solidFill>
                  <a:srgbClr val="8D8D8D"/>
                </a:solidFill>
                <a:latin typeface="Liter"/>
              </a:rPr>
              <a:t>If tissue context governs gene expression, a model trained on one organ</a:t>
            </a:r>
          </a:p>
          <a:p>
            <a:pPr algn="l">
              <a:lnSpc>
                <a:spcPct val="125000"/>
              </a:lnSpc>
            </a:pPr>
            <a:r>
              <a:rPr sz="2000" b="0" i="0">
                <a:solidFill>
                  <a:srgbClr val="8D8D8D"/>
                </a:solidFill>
                <a:latin typeface="Liter"/>
              </a:rPr>
              <a:t>should fail on another. We tested that directly.</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A model that reads genes from a picture does not carry across organs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14</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4_cross_organ.png"/>
          <p:cNvPicPr>
            <a:picLocks noChangeAspect="1"/>
          </p:cNvPicPr>
          <p:nvPr/>
        </p:nvPicPr>
        <p:blipFill>
          <a:blip r:embed="rId2"/>
          <a:stretch>
            <a:fillRect/>
          </a:stretch>
        </p:blipFill>
        <p:spPr>
          <a:xfrm>
            <a:off x="537210" y="960120"/>
            <a:ext cx="15201900" cy="6949440"/>
          </a:xfrm>
          <a:prstGeom prst="rect">
            <a:avLst/>
          </a:prstGeom>
        </p:spPr>
      </p:pic>
      <p:sp>
        <p:nvSpPr>
          <p:cNvPr id="8" name="Rectangle 7"/>
          <p:cNvSpPr/>
          <p:nvPr/>
        </p:nvSpPr>
        <p:spPr>
          <a:xfrm>
            <a:off x="0" y="8357616"/>
            <a:ext cx="16256020" cy="603504"/>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57616"/>
            <a:ext cx="15179040" cy="603504"/>
          </a:xfrm>
          <a:prstGeom prst="rect">
            <a:avLst/>
          </a:prstGeom>
          <a:noFill/>
        </p:spPr>
        <p:txBody>
          <a:bodyPr wrap="square" anchor="ctr">
            <a:spAutoFit/>
          </a:bodyPr>
          <a:lstStyle/>
          <a:p>
            <a:pPr algn="l"/>
            <a:r>
              <a:rPr sz="1600" b="1" i="0">
                <a:solidFill>
                  <a:srgbClr val="333333"/>
                </a:solidFill>
                <a:latin typeface="Liter"/>
              </a:rPr>
              <a:t>This was predicted from the two earlier results and then tested, in six cancers that are not pancreatic.  It is the strongest of the three arguments.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What we could not show</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15</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234440"/>
            <a:ext cx="54864" cy="14173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234440"/>
            <a:ext cx="14081760" cy="502920"/>
          </a:xfrm>
          <a:prstGeom prst="rect">
            <a:avLst/>
          </a:prstGeom>
          <a:noFill/>
        </p:spPr>
        <p:txBody>
          <a:bodyPr wrap="square" anchor="t">
            <a:spAutoFit/>
          </a:bodyPr>
          <a:lstStyle/>
          <a:p>
            <a:pPr algn="l"/>
            <a:r>
              <a:rPr sz="2000" b="1" i="0">
                <a:solidFill>
                  <a:srgbClr val="2C5F8A"/>
                </a:solidFill>
                <a:latin typeface="Liter"/>
              </a:rPr>
              <a:t>The B cell finding rests on one group of patients</a:t>
            </a:r>
          </a:p>
        </p:txBody>
      </p:sp>
      <p:sp>
        <p:nvSpPr>
          <p:cNvPr id="9" name="TextBox 8"/>
          <p:cNvSpPr txBox="1"/>
          <p:nvPr/>
        </p:nvSpPr>
        <p:spPr>
          <a:xfrm>
            <a:off x="1097280" y="1801368"/>
            <a:ext cx="14081760" cy="914400"/>
          </a:xfrm>
          <a:prstGeom prst="rect">
            <a:avLst/>
          </a:prstGeom>
          <a:noFill/>
        </p:spPr>
        <p:txBody>
          <a:bodyPr wrap="square" anchor="t">
            <a:spAutoFit/>
          </a:bodyPr>
          <a:lstStyle/>
          <a:p>
            <a:pPr algn="l">
              <a:lnSpc>
                <a:spcPct val="120000"/>
              </a:lnSpc>
            </a:pPr>
            <a:r>
              <a:rPr sz="1550" b="0" i="0">
                <a:solidFill>
                  <a:srgbClr val="333333"/>
                </a:solidFill>
                <a:latin typeface="Liter"/>
              </a:rPr>
              <a:t>The second group had no lymph node samples, so this specific result is untested elsewhere. It is not contradicted, it is simply not yet checked.</a:t>
            </a:r>
          </a:p>
        </p:txBody>
      </p:sp>
      <p:sp>
        <p:nvSpPr>
          <p:cNvPr id="10" name="Rectangle 9"/>
          <p:cNvSpPr/>
          <p:nvPr/>
        </p:nvSpPr>
        <p:spPr>
          <a:xfrm>
            <a:off x="822960" y="2926080"/>
            <a:ext cx="54864" cy="14173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926080"/>
            <a:ext cx="14081760" cy="502920"/>
          </a:xfrm>
          <a:prstGeom prst="rect">
            <a:avLst/>
          </a:prstGeom>
          <a:noFill/>
        </p:spPr>
        <p:txBody>
          <a:bodyPr wrap="square" anchor="t">
            <a:spAutoFit/>
          </a:bodyPr>
          <a:lstStyle/>
          <a:p>
            <a:pPr algn="l"/>
            <a:r>
              <a:rPr sz="2000" b="1" i="0">
                <a:solidFill>
                  <a:srgbClr val="2C5F8A"/>
                </a:solidFill>
                <a:latin typeface="Liter"/>
              </a:rPr>
              <a:t>Four patients is four patients</a:t>
            </a:r>
          </a:p>
        </p:txBody>
      </p:sp>
      <p:sp>
        <p:nvSpPr>
          <p:cNvPr id="12" name="TextBox 11"/>
          <p:cNvSpPr txBox="1"/>
          <p:nvPr/>
        </p:nvSpPr>
        <p:spPr>
          <a:xfrm>
            <a:off x="1097280" y="3493008"/>
            <a:ext cx="14081760" cy="914400"/>
          </a:xfrm>
          <a:prstGeom prst="rect">
            <a:avLst/>
          </a:prstGeom>
          <a:noFill/>
        </p:spPr>
        <p:txBody>
          <a:bodyPr wrap="square" anchor="t">
            <a:spAutoFit/>
          </a:bodyPr>
          <a:lstStyle/>
          <a:p>
            <a:pPr algn="l">
              <a:lnSpc>
                <a:spcPct val="120000"/>
              </a:lnSpc>
            </a:pPr>
            <a:r>
              <a:rPr sz="1550" b="0" i="0">
                <a:solidFill>
                  <a:srgbClr val="333333"/>
                </a:solidFill>
                <a:latin typeface="Liter"/>
              </a:rPr>
              <a:t>The paired comparison uses the four people who gave tissue from both sites. The direction agreed in all four, which is why we trust it, but four is still four.</a:t>
            </a:r>
          </a:p>
        </p:txBody>
      </p:sp>
      <p:sp>
        <p:nvSpPr>
          <p:cNvPr id="13" name="Rectangle 12"/>
          <p:cNvSpPr/>
          <p:nvPr/>
        </p:nvSpPr>
        <p:spPr>
          <a:xfrm>
            <a:off x="822960" y="4617720"/>
            <a:ext cx="54864" cy="14173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617720"/>
            <a:ext cx="14081760" cy="502920"/>
          </a:xfrm>
          <a:prstGeom prst="rect">
            <a:avLst/>
          </a:prstGeom>
          <a:noFill/>
        </p:spPr>
        <p:txBody>
          <a:bodyPr wrap="square" anchor="t">
            <a:spAutoFit/>
          </a:bodyPr>
          <a:lstStyle/>
          <a:p>
            <a:pPr algn="l"/>
            <a:r>
              <a:rPr sz="2000" b="1" i="0">
                <a:solidFill>
                  <a:srgbClr val="2C5F8A"/>
                </a:solidFill>
                <a:latin typeface="Liter"/>
              </a:rPr>
              <a:t>We cannot link any of this to how patients did</a:t>
            </a:r>
          </a:p>
        </p:txBody>
      </p:sp>
      <p:sp>
        <p:nvSpPr>
          <p:cNvPr id="15" name="TextBox 14"/>
          <p:cNvSpPr txBox="1"/>
          <p:nvPr/>
        </p:nvSpPr>
        <p:spPr>
          <a:xfrm>
            <a:off x="1097280" y="5184648"/>
            <a:ext cx="14081760" cy="914400"/>
          </a:xfrm>
          <a:prstGeom prst="rect">
            <a:avLst/>
          </a:prstGeom>
          <a:noFill/>
        </p:spPr>
        <p:txBody>
          <a:bodyPr wrap="square" anchor="t">
            <a:spAutoFit/>
          </a:bodyPr>
          <a:lstStyle/>
          <a:p>
            <a:pPr algn="l">
              <a:lnSpc>
                <a:spcPct val="120000"/>
              </a:lnSpc>
            </a:pPr>
            <a:r>
              <a:rPr sz="1550" b="0" i="0">
                <a:solidFill>
                  <a:srgbClr val="333333"/>
                </a:solidFill>
                <a:latin typeface="Liter"/>
              </a:rPr>
              <a:t>Clinical details were available for six of the thirteen patients, all at the same stage, with no survival information. Nothing here is connected to outcome.</a:t>
            </a:r>
          </a:p>
        </p:txBody>
      </p:sp>
      <p:sp>
        <p:nvSpPr>
          <p:cNvPr id="16" name="Rectangle 15"/>
          <p:cNvSpPr/>
          <p:nvPr/>
        </p:nvSpPr>
        <p:spPr>
          <a:xfrm>
            <a:off x="822960" y="6309360"/>
            <a:ext cx="54864" cy="14173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6309360"/>
            <a:ext cx="14081760" cy="502920"/>
          </a:xfrm>
          <a:prstGeom prst="rect">
            <a:avLst/>
          </a:prstGeom>
          <a:noFill/>
        </p:spPr>
        <p:txBody>
          <a:bodyPr wrap="square" anchor="t">
            <a:spAutoFit/>
          </a:bodyPr>
          <a:lstStyle/>
          <a:p>
            <a:pPr algn="l"/>
            <a:r>
              <a:rPr sz="2000" b="1" i="0">
                <a:solidFill>
                  <a:srgbClr val="2C5F8A"/>
                </a:solidFill>
                <a:latin typeface="Liter"/>
              </a:rPr>
              <a:t>A measuring point is not a single cell</a:t>
            </a:r>
          </a:p>
        </p:txBody>
      </p:sp>
      <p:sp>
        <p:nvSpPr>
          <p:cNvPr id="18" name="TextBox 17"/>
          <p:cNvSpPr txBox="1"/>
          <p:nvPr/>
        </p:nvSpPr>
        <p:spPr>
          <a:xfrm>
            <a:off x="1097280" y="6876288"/>
            <a:ext cx="14081760" cy="914400"/>
          </a:xfrm>
          <a:prstGeom prst="rect">
            <a:avLst/>
          </a:prstGeom>
          <a:noFill/>
        </p:spPr>
        <p:txBody>
          <a:bodyPr wrap="square" anchor="t">
            <a:spAutoFit/>
          </a:bodyPr>
          <a:lstStyle/>
          <a:p>
            <a:pPr algn="l">
              <a:lnSpc>
                <a:spcPct val="120000"/>
              </a:lnSpc>
            </a:pPr>
            <a:r>
              <a:rPr sz="1550" b="0" i="0">
                <a:solidFill>
                  <a:srgbClr val="333333"/>
                </a:solidFill>
                <a:latin typeface="Liter"/>
              </a:rPr>
              <a:t>Each point is 55 microns and holds up to ten cells. We restricted to tumour rich points and repeated everything at stricter thresholds, but we cannot separate a tumour cell from the cell touching it.</a:t>
            </a:r>
          </a:p>
        </p:txBody>
      </p:sp>
      <p:sp>
        <p:nvSpPr>
          <p:cNvPr id="19" name="Rectangle 18"/>
          <p:cNvSpPr/>
          <p:nvPr/>
        </p:nvSpPr>
        <p:spPr>
          <a:xfrm>
            <a:off x="822960" y="8001000"/>
            <a:ext cx="14630400" cy="77724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8001000"/>
            <a:ext cx="14081760" cy="777240"/>
          </a:xfrm>
          <a:prstGeom prst="rect">
            <a:avLst/>
          </a:prstGeom>
          <a:noFill/>
        </p:spPr>
        <p:txBody>
          <a:bodyPr wrap="square" anchor="ctr">
            <a:spAutoFit/>
          </a:bodyPr>
          <a:lstStyle/>
          <a:p>
            <a:pPr algn="l"/>
            <a:r>
              <a:rPr sz="1800" b="1" i="0">
                <a:solidFill>
                  <a:srgbClr val="333333"/>
                </a:solidFill>
                <a:latin typeface="Liter"/>
              </a:rPr>
              <a:t>None of these undo the main result.  They mark where it stops.</a:t>
            </a:r>
          </a:p>
        </p:txBody>
      </p:sp>
      <p:sp>
        <p:nvSpPr>
          <p:cNvPr id="21" name="Rectangle 2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What this means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16</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952" y="1188720"/>
            <a:ext cx="4754880" cy="539496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3" y="1600200"/>
            <a:ext cx="4297680" cy="1188720"/>
          </a:xfrm>
          <a:prstGeom prst="rect">
            <a:avLst/>
          </a:prstGeom>
          <a:noFill/>
        </p:spPr>
        <p:txBody>
          <a:bodyPr wrap="square" anchor="t">
            <a:spAutoFit/>
          </a:bodyPr>
          <a:lstStyle/>
          <a:p>
            <a:pPr algn="l">
              <a:lnSpc>
                <a:spcPct val="115000"/>
              </a:lnSpc>
            </a:pPr>
            <a:r>
              <a:rPr sz="2000" b="1" i="0">
                <a:solidFill>
                  <a:srgbClr val="2C5F8A"/>
                </a:solidFill>
                <a:latin typeface="Liter"/>
              </a:rPr>
              <a:t>For how we think about spread</a:t>
            </a:r>
          </a:p>
        </p:txBody>
      </p:sp>
      <p:sp>
        <p:nvSpPr>
          <p:cNvPr id="10" name="TextBox 9"/>
          <p:cNvSpPr txBox="1"/>
          <p:nvPr/>
        </p:nvSpPr>
        <p:spPr>
          <a:xfrm>
            <a:off x="1014983" y="2971800"/>
            <a:ext cx="4297680" cy="3291840"/>
          </a:xfrm>
          <a:prstGeom prst="rect">
            <a:avLst/>
          </a:prstGeom>
          <a:noFill/>
        </p:spPr>
        <p:txBody>
          <a:bodyPr wrap="square" anchor="t">
            <a:spAutoFit/>
          </a:bodyPr>
          <a:lstStyle/>
          <a:p>
            <a:pPr algn="l">
              <a:lnSpc>
                <a:spcPct val="130000"/>
              </a:lnSpc>
            </a:pPr>
            <a:r>
              <a:rPr sz="1550" b="0" i="0">
                <a:solidFill>
                  <a:srgbClr val="333333"/>
                </a:solidFill>
                <a:latin typeface="Liter"/>
              </a:rPr>
              <a:t>A metastasis is not one disease state. The organ it lands in shapes roughly half of what the tumour becomes there. Grouping all metastases together, which is what most studies do, averages over a real difference.</a:t>
            </a:r>
          </a:p>
        </p:txBody>
      </p:sp>
      <p:sp>
        <p:nvSpPr>
          <p:cNvPr id="11" name="Rectangle 10"/>
          <p:cNvSpPr/>
          <p:nvPr/>
        </p:nvSpPr>
        <p:spPr>
          <a:xfrm>
            <a:off x="5742432" y="1188720"/>
            <a:ext cx="4754880" cy="539496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42432" y="1188720"/>
            <a:ext cx="4754880" cy="73152"/>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98464" y="1600200"/>
            <a:ext cx="4297680" cy="1188720"/>
          </a:xfrm>
          <a:prstGeom prst="rect">
            <a:avLst/>
          </a:prstGeom>
          <a:noFill/>
        </p:spPr>
        <p:txBody>
          <a:bodyPr wrap="square" anchor="t">
            <a:spAutoFit/>
          </a:bodyPr>
          <a:lstStyle/>
          <a:p>
            <a:pPr algn="l">
              <a:lnSpc>
                <a:spcPct val="115000"/>
              </a:lnSpc>
            </a:pPr>
            <a:r>
              <a:rPr sz="2000" b="1" i="0">
                <a:solidFill>
                  <a:srgbClr val="E07B54"/>
                </a:solidFill>
                <a:latin typeface="Liter"/>
              </a:rPr>
              <a:t>For immunotherapy thinking</a:t>
            </a:r>
          </a:p>
        </p:txBody>
      </p:sp>
      <p:sp>
        <p:nvSpPr>
          <p:cNvPr id="14" name="TextBox 13"/>
          <p:cNvSpPr txBox="1"/>
          <p:nvPr/>
        </p:nvSpPr>
        <p:spPr>
          <a:xfrm>
            <a:off x="5998464" y="2971800"/>
            <a:ext cx="4297680" cy="3291840"/>
          </a:xfrm>
          <a:prstGeom prst="rect">
            <a:avLst/>
          </a:prstGeom>
          <a:noFill/>
        </p:spPr>
        <p:txBody>
          <a:bodyPr wrap="square" anchor="t">
            <a:spAutoFit/>
          </a:bodyPr>
          <a:lstStyle/>
          <a:p>
            <a:pPr algn="l">
              <a:lnSpc>
                <a:spcPct val="130000"/>
              </a:lnSpc>
            </a:pPr>
            <a:r>
              <a:rPr sz="1550" b="0" i="0">
                <a:solidFill>
                  <a:srgbClr val="333333"/>
                </a:solidFill>
                <a:latin typeface="Liter"/>
              </a:rPr>
              <a:t>Liver deposits arrived immune poor and lung deposits immune rich, in patients who had had no chemotherapy. If that holds, the immune environment of a deposit is set substantially by where it is, not only by the tumour that produced it.</a:t>
            </a:r>
          </a:p>
        </p:txBody>
      </p:sp>
      <p:sp>
        <p:nvSpPr>
          <p:cNvPr id="15" name="Rectangle 14"/>
          <p:cNvSpPr/>
          <p:nvPr/>
        </p:nvSpPr>
        <p:spPr>
          <a:xfrm>
            <a:off x="10725912" y="1188720"/>
            <a:ext cx="4754880" cy="539496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25912" y="1188720"/>
            <a:ext cx="4754880" cy="7315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81944" y="1600200"/>
            <a:ext cx="4297680" cy="1188720"/>
          </a:xfrm>
          <a:prstGeom prst="rect">
            <a:avLst/>
          </a:prstGeom>
          <a:noFill/>
        </p:spPr>
        <p:txBody>
          <a:bodyPr wrap="square" anchor="t">
            <a:spAutoFit/>
          </a:bodyPr>
          <a:lstStyle/>
          <a:p>
            <a:pPr algn="l">
              <a:lnSpc>
                <a:spcPct val="115000"/>
              </a:lnSpc>
            </a:pPr>
            <a:r>
              <a:rPr sz="2000" b="1" i="0">
                <a:solidFill>
                  <a:srgbClr val="1BAF7A"/>
                </a:solidFill>
                <a:latin typeface="Liter"/>
              </a:rPr>
              <a:t>For AI on pathology slides</a:t>
            </a:r>
          </a:p>
        </p:txBody>
      </p:sp>
      <p:sp>
        <p:nvSpPr>
          <p:cNvPr id="18" name="TextBox 17"/>
          <p:cNvSpPr txBox="1"/>
          <p:nvPr/>
        </p:nvSpPr>
        <p:spPr>
          <a:xfrm>
            <a:off x="10981944" y="2971800"/>
            <a:ext cx="4297680" cy="3291840"/>
          </a:xfrm>
          <a:prstGeom prst="rect">
            <a:avLst/>
          </a:prstGeom>
          <a:noFill/>
        </p:spPr>
        <p:txBody>
          <a:bodyPr wrap="square" anchor="t">
            <a:spAutoFit/>
          </a:bodyPr>
          <a:lstStyle/>
          <a:p>
            <a:pPr algn="l">
              <a:lnSpc>
                <a:spcPct val="130000"/>
              </a:lnSpc>
            </a:pPr>
            <a:r>
              <a:rPr sz="1550" b="0" i="0">
                <a:solidFill>
                  <a:srgbClr val="333333"/>
                </a:solidFill>
                <a:latin typeface="Liter"/>
              </a:rPr>
              <a:t>A model trained to read tissue in one organ lost more than a third of its accuracy in another organ, even after allowing for a change of laboratory. A single accuracy figure across pooled organs will flatter such a model.</a:t>
            </a:r>
          </a:p>
        </p:txBody>
      </p:sp>
      <p:sp>
        <p:nvSpPr>
          <p:cNvPr id="19" name="Rectangle 18"/>
          <p:cNvSpPr/>
          <p:nvPr/>
        </p:nvSpPr>
        <p:spPr>
          <a:xfrm>
            <a:off x="758952" y="6903720"/>
            <a:ext cx="14721840" cy="137160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6903720"/>
            <a:ext cx="14081760" cy="1371600"/>
          </a:xfrm>
          <a:prstGeom prst="rect">
            <a:avLst/>
          </a:prstGeom>
          <a:noFill/>
        </p:spPr>
        <p:txBody>
          <a:bodyPr wrap="square" anchor="ctr">
            <a:spAutoFit/>
          </a:bodyPr>
          <a:lstStyle/>
          <a:p>
            <a:pPr algn="l">
              <a:lnSpc>
                <a:spcPct val="130000"/>
              </a:lnSpc>
            </a:pPr>
            <a:r>
              <a:rPr sz="1800" b="1" i="0">
                <a:solidFill>
                  <a:srgbClr val="333333"/>
                </a:solidFill>
                <a:latin typeface="Liter"/>
              </a:rPr>
              <a:t>The practical consequence for this project:  predicting where a tumour will spread is not one prediction problem.</a:t>
            </a:r>
          </a:p>
          <a:p>
            <a:pPr algn="l">
              <a:lnSpc>
                <a:spcPct val="130000"/>
              </a:lnSpc>
            </a:pPr>
            <a:r>
              <a:rPr sz="1800" b="1" i="0">
                <a:solidFill>
                  <a:srgbClr val="333333"/>
                </a:solidFill>
                <a:latin typeface="Liter"/>
              </a:rPr>
              <a:t>It has to be asked separately for each destination.</a:t>
            </a:r>
          </a:p>
        </p:txBody>
      </p:sp>
      <p:sp>
        <p:nvSpPr>
          <p:cNvPr id="21" name="Rectangle 2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990320" cy="758952"/>
          </a:xfrm>
          <a:prstGeom prst="rect">
            <a:avLst/>
          </a:prstGeom>
          <a:noFill/>
        </p:spPr>
        <p:txBody>
          <a:bodyPr wrap="square" anchor="ctr">
            <a:spAutoFit/>
          </a:bodyPr>
          <a:lstStyle/>
          <a:p>
            <a:pPr algn="l"/>
            <a:r>
              <a:rPr sz="2300" b="1" i="0">
                <a:solidFill>
                  <a:srgbClr val="FFFFFF"/>
                </a:solidFill>
                <a:latin typeface="Liter"/>
              </a:rPr>
              <a:t>Where your input would help most</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17</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952" y="1188720"/>
            <a:ext cx="4754880" cy="521208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3" y="1481328"/>
            <a:ext cx="914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1481328"/>
            <a:ext cx="914400" cy="457200"/>
          </a:xfrm>
          <a:prstGeom prst="rect">
            <a:avLst/>
          </a:prstGeom>
          <a:noFill/>
        </p:spPr>
        <p:txBody>
          <a:bodyPr wrap="square" anchor="ctr">
            <a:spAutoFit/>
          </a:bodyPr>
          <a:lstStyle/>
          <a:p>
            <a:pPr algn="ctr"/>
            <a:r>
              <a:rPr sz="1200" b="1" i="0">
                <a:solidFill>
                  <a:srgbClr val="FFFFFF"/>
                </a:solidFill>
                <a:latin typeface="Liter"/>
              </a:rPr>
              <a:t>ASK 01</a:t>
            </a:r>
          </a:p>
        </p:txBody>
      </p:sp>
      <p:sp>
        <p:nvSpPr>
          <p:cNvPr id="11" name="TextBox 10"/>
          <p:cNvSpPr txBox="1"/>
          <p:nvPr/>
        </p:nvSpPr>
        <p:spPr>
          <a:xfrm>
            <a:off x="1014983" y="2194560"/>
            <a:ext cx="4297680" cy="1097280"/>
          </a:xfrm>
          <a:prstGeom prst="rect">
            <a:avLst/>
          </a:prstGeom>
          <a:noFill/>
        </p:spPr>
        <p:txBody>
          <a:bodyPr wrap="square" anchor="t">
            <a:spAutoFit/>
          </a:bodyPr>
          <a:lstStyle/>
          <a:p>
            <a:pPr algn="l">
              <a:lnSpc>
                <a:spcPct val="115000"/>
              </a:lnSpc>
            </a:pPr>
            <a:r>
              <a:rPr sz="2000" b="1" i="0">
                <a:solidFill>
                  <a:srgbClr val="2C5F8A"/>
                </a:solidFill>
                <a:latin typeface="Liter"/>
              </a:rPr>
              <a:t>Confirm the B cells on tissue</a:t>
            </a:r>
          </a:p>
        </p:txBody>
      </p:sp>
      <p:sp>
        <p:nvSpPr>
          <p:cNvPr id="12" name="TextBox 11"/>
          <p:cNvSpPr txBox="1"/>
          <p:nvPr/>
        </p:nvSpPr>
        <p:spPr>
          <a:xfrm>
            <a:off x="1014983" y="3063240"/>
            <a:ext cx="4297680" cy="2926080"/>
          </a:xfrm>
          <a:prstGeom prst="rect">
            <a:avLst/>
          </a:prstGeom>
          <a:noFill/>
        </p:spPr>
        <p:txBody>
          <a:bodyPr wrap="square" anchor="t">
            <a:spAutoFit/>
          </a:bodyPr>
          <a:lstStyle/>
          <a:p>
            <a:pPr algn="l">
              <a:lnSpc>
                <a:spcPct val="130000"/>
              </a:lnSpc>
            </a:pPr>
            <a:r>
              <a:rPr sz="1550" b="0" i="0">
                <a:solidFill>
                  <a:srgbClr val="333333"/>
                </a:solidFill>
                <a:latin typeface="Liter"/>
              </a:rPr>
              <a:t>The clearest difference between liver and nodal deposits was B cell content. A stain on a handful of matched deposits would confirm or kill it quickly, and does not need any sequencing.</a:t>
            </a:r>
          </a:p>
        </p:txBody>
      </p:sp>
      <p:sp>
        <p:nvSpPr>
          <p:cNvPr id="13" name="Rectangle 12"/>
          <p:cNvSpPr/>
          <p:nvPr/>
        </p:nvSpPr>
        <p:spPr>
          <a:xfrm>
            <a:off x="5742432" y="1188720"/>
            <a:ext cx="4754880" cy="521208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42432" y="1188720"/>
            <a:ext cx="4754880" cy="73152"/>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98464" y="1481328"/>
            <a:ext cx="9144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98464" y="1481328"/>
            <a:ext cx="914400" cy="457200"/>
          </a:xfrm>
          <a:prstGeom prst="rect">
            <a:avLst/>
          </a:prstGeom>
          <a:noFill/>
        </p:spPr>
        <p:txBody>
          <a:bodyPr wrap="square" anchor="ctr">
            <a:spAutoFit/>
          </a:bodyPr>
          <a:lstStyle/>
          <a:p>
            <a:pPr algn="ctr"/>
            <a:r>
              <a:rPr sz="1200" b="1" i="0">
                <a:solidFill>
                  <a:srgbClr val="FFFFFF"/>
                </a:solidFill>
                <a:latin typeface="Liter"/>
              </a:rPr>
              <a:t>ASK 02</a:t>
            </a:r>
          </a:p>
        </p:txBody>
      </p:sp>
      <p:sp>
        <p:nvSpPr>
          <p:cNvPr id="17" name="TextBox 16"/>
          <p:cNvSpPr txBox="1"/>
          <p:nvPr/>
        </p:nvSpPr>
        <p:spPr>
          <a:xfrm>
            <a:off x="5998464" y="2194560"/>
            <a:ext cx="4297680" cy="1097280"/>
          </a:xfrm>
          <a:prstGeom prst="rect">
            <a:avLst/>
          </a:prstGeom>
          <a:noFill/>
        </p:spPr>
        <p:txBody>
          <a:bodyPr wrap="square" anchor="t">
            <a:spAutoFit/>
          </a:bodyPr>
          <a:lstStyle/>
          <a:p>
            <a:pPr algn="l">
              <a:lnSpc>
                <a:spcPct val="115000"/>
              </a:lnSpc>
            </a:pPr>
            <a:r>
              <a:rPr sz="2000" b="1" i="0">
                <a:solidFill>
                  <a:srgbClr val="E07B54"/>
                </a:solidFill>
                <a:latin typeface="Liter"/>
              </a:rPr>
              <a:t>More patients with two sites</a:t>
            </a:r>
          </a:p>
        </p:txBody>
      </p:sp>
      <p:sp>
        <p:nvSpPr>
          <p:cNvPr id="18" name="TextBox 17"/>
          <p:cNvSpPr txBox="1"/>
          <p:nvPr/>
        </p:nvSpPr>
        <p:spPr>
          <a:xfrm>
            <a:off x="5998464" y="3063240"/>
            <a:ext cx="4297680" cy="2926080"/>
          </a:xfrm>
          <a:prstGeom prst="rect">
            <a:avLst/>
          </a:prstGeom>
          <a:noFill/>
        </p:spPr>
        <p:txBody>
          <a:bodyPr wrap="square" anchor="t">
            <a:spAutoFit/>
          </a:bodyPr>
          <a:lstStyle/>
          <a:p>
            <a:pPr algn="l">
              <a:lnSpc>
                <a:spcPct val="130000"/>
              </a:lnSpc>
            </a:pPr>
            <a:r>
              <a:rPr sz="1550" b="0" i="0">
                <a:solidFill>
                  <a:srgbClr val="333333"/>
                </a:solidFill>
                <a:latin typeface="Liter"/>
              </a:rPr>
              <a:t>Everything paired rests on four people who gave tissue from two different sites. Even three or four more such patients would change how strongly this can be stated.</a:t>
            </a:r>
          </a:p>
        </p:txBody>
      </p:sp>
      <p:sp>
        <p:nvSpPr>
          <p:cNvPr id="19" name="Rectangle 18"/>
          <p:cNvSpPr/>
          <p:nvPr/>
        </p:nvSpPr>
        <p:spPr>
          <a:xfrm>
            <a:off x="10725912" y="1188720"/>
            <a:ext cx="4754880" cy="521208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25912" y="1188720"/>
            <a:ext cx="4754880" cy="7315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81944" y="1481328"/>
            <a:ext cx="914400" cy="4572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81944" y="1481328"/>
            <a:ext cx="914400" cy="457200"/>
          </a:xfrm>
          <a:prstGeom prst="rect">
            <a:avLst/>
          </a:prstGeom>
          <a:noFill/>
        </p:spPr>
        <p:txBody>
          <a:bodyPr wrap="square" anchor="ctr">
            <a:spAutoFit/>
          </a:bodyPr>
          <a:lstStyle/>
          <a:p>
            <a:pPr algn="ctr"/>
            <a:r>
              <a:rPr sz="1200" b="1" i="0">
                <a:solidFill>
                  <a:srgbClr val="FFFFFF"/>
                </a:solidFill>
                <a:latin typeface="Liter"/>
              </a:rPr>
              <a:t>ASK 03</a:t>
            </a:r>
          </a:p>
        </p:txBody>
      </p:sp>
      <p:sp>
        <p:nvSpPr>
          <p:cNvPr id="23" name="TextBox 22"/>
          <p:cNvSpPr txBox="1"/>
          <p:nvPr/>
        </p:nvSpPr>
        <p:spPr>
          <a:xfrm>
            <a:off x="10981944" y="2194560"/>
            <a:ext cx="4297680" cy="1097280"/>
          </a:xfrm>
          <a:prstGeom prst="rect">
            <a:avLst/>
          </a:prstGeom>
          <a:noFill/>
        </p:spPr>
        <p:txBody>
          <a:bodyPr wrap="square" anchor="t">
            <a:spAutoFit/>
          </a:bodyPr>
          <a:lstStyle/>
          <a:p>
            <a:pPr algn="l">
              <a:lnSpc>
                <a:spcPct val="115000"/>
              </a:lnSpc>
            </a:pPr>
            <a:r>
              <a:rPr sz="2000" b="1" i="0">
                <a:solidFill>
                  <a:srgbClr val="1BAF7A"/>
                </a:solidFill>
                <a:latin typeface="Liter"/>
              </a:rPr>
              <a:t>Outcome data if it exists</a:t>
            </a:r>
          </a:p>
        </p:txBody>
      </p:sp>
      <p:sp>
        <p:nvSpPr>
          <p:cNvPr id="24" name="TextBox 23"/>
          <p:cNvSpPr txBox="1"/>
          <p:nvPr/>
        </p:nvSpPr>
        <p:spPr>
          <a:xfrm>
            <a:off x="10981944" y="3063240"/>
            <a:ext cx="4297680" cy="2926080"/>
          </a:xfrm>
          <a:prstGeom prst="rect">
            <a:avLst/>
          </a:prstGeom>
          <a:noFill/>
        </p:spPr>
        <p:txBody>
          <a:bodyPr wrap="square" anchor="t">
            <a:spAutoFit/>
          </a:bodyPr>
          <a:lstStyle/>
          <a:p>
            <a:pPr algn="l">
              <a:lnSpc>
                <a:spcPct val="130000"/>
              </a:lnSpc>
            </a:pPr>
            <a:r>
              <a:rPr sz="1550" b="0" i="0">
                <a:solidFill>
                  <a:srgbClr val="333333"/>
                </a:solidFill>
                <a:latin typeface="Liter"/>
              </a:rPr>
              <a:t>We have no survival or treatment response for these cases. Without it we cannot ask whether the site specific part of the program matters clinically.</a:t>
            </a:r>
          </a:p>
        </p:txBody>
      </p:sp>
      <p:sp>
        <p:nvSpPr>
          <p:cNvPr id="25" name="Rectangle 24"/>
          <p:cNvSpPr/>
          <p:nvPr/>
        </p:nvSpPr>
        <p:spPr>
          <a:xfrm>
            <a:off x="758952" y="6720840"/>
            <a:ext cx="14721840" cy="146304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6720840"/>
            <a:ext cx="14081760" cy="1463040"/>
          </a:xfrm>
          <a:prstGeom prst="rect">
            <a:avLst/>
          </a:prstGeom>
          <a:noFill/>
        </p:spPr>
        <p:txBody>
          <a:bodyPr wrap="square" anchor="ctr">
            <a:spAutoFit/>
          </a:bodyPr>
          <a:lstStyle/>
          <a:p>
            <a:pPr algn="l"/>
            <a:r>
              <a:rPr sz="1800" b="1" i="0">
                <a:solidFill>
                  <a:srgbClr val="333333"/>
                </a:solidFill>
                <a:latin typeface="Liter"/>
              </a:rPr>
              <a:t>The first one is cheap and would settle the most important open question.  It needs a pathologist's eye, not more computation.</a:t>
            </a:r>
          </a:p>
        </p:txBody>
      </p:sp>
      <p:sp>
        <p:nvSpPr>
          <p:cNvPr id="27" name="Rectangle 2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743200"/>
            <a:ext cx="13716000" cy="1097280"/>
          </a:xfrm>
          <a:prstGeom prst="rect">
            <a:avLst/>
          </a:prstGeom>
          <a:noFill/>
        </p:spPr>
        <p:txBody>
          <a:bodyPr wrap="square" anchor="t">
            <a:spAutoFit/>
          </a:bodyPr>
          <a:lstStyle/>
          <a:p>
            <a:pPr algn="l"/>
            <a:r>
              <a:rPr sz="4800" b="1" i="0">
                <a:solidFill>
                  <a:srgbClr val="FFFFFF"/>
                </a:solidFill>
                <a:latin typeface="Liter"/>
              </a:rPr>
              <a:t>Thank you</a:t>
            </a:r>
          </a:p>
        </p:txBody>
      </p:sp>
      <p:sp>
        <p:nvSpPr>
          <p:cNvPr id="4" name="Rectangle 3"/>
          <p:cNvSpPr/>
          <p:nvPr/>
        </p:nvSpPr>
        <p:spPr>
          <a:xfrm>
            <a:off x="1417320" y="4023360"/>
            <a:ext cx="237744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480560"/>
            <a:ext cx="13898880" cy="2743200"/>
          </a:xfrm>
          <a:prstGeom prst="rect">
            <a:avLst/>
          </a:prstGeom>
          <a:noFill/>
        </p:spPr>
        <p:txBody>
          <a:bodyPr wrap="square" anchor="t">
            <a:spAutoFit/>
          </a:bodyPr>
          <a:lstStyle/>
          <a:p>
            <a:pPr algn="l">
              <a:lnSpc>
                <a:spcPct val="135000"/>
              </a:lnSpc>
            </a:pPr>
            <a:r>
              <a:rPr sz="1900" b="0" i="0">
                <a:solidFill>
                  <a:srgbClr val="D9E8F5"/>
                </a:solidFill>
                <a:latin typeface="Liter"/>
              </a:rPr>
              <a:t>Where a pancreatic tumour spreads changes what it becomes.</a:t>
            </a:r>
          </a:p>
          <a:p>
            <a:pPr algn="l">
              <a:lnSpc>
                <a:spcPct val="135000"/>
              </a:lnSpc>
            </a:pPr>
            <a:r>
              <a:rPr sz="1900" b="0" i="0">
                <a:solidFill>
                  <a:srgbClr val="D9E8F5"/>
                </a:solidFill>
                <a:latin typeface="Liter"/>
              </a:rPr>
              <a:t>Liver and lymph node deposits share only about half of their departure from the primary tumour,</a:t>
            </a:r>
          </a:p>
          <a:p>
            <a:pPr algn="l">
              <a:lnSpc>
                <a:spcPct val="135000"/>
              </a:lnSpc>
            </a:pPr>
            <a:r>
              <a:rPr sz="1900" b="0" i="0">
                <a:solidFill>
                  <a:srgbClr val="D9E8F5"/>
                </a:solidFill>
                <a:latin typeface="Liter"/>
              </a:rPr>
              <a:t>and the part that differs is immune.  The pattern held in a second, independent group of patients.</a:t>
            </a:r>
          </a:p>
          <a:p>
            <a:pPr algn="l">
              <a:lnSpc>
                <a:spcPct val="135000"/>
              </a:lnSpc>
            </a:pPr>
            <a:r>
              <a:rPr sz="1900" b="0" i="0">
                <a:solidFill>
                  <a:srgbClr val="D9E8F5"/>
                </a:solidFill>
                <a:latin typeface="Liter"/>
              </a:rPr>
              <a:t/>
            </a:r>
          </a:p>
          <a:p>
            <a:pPr algn="l">
              <a:lnSpc>
                <a:spcPct val="135000"/>
              </a:lnSpc>
            </a:pPr>
            <a:r>
              <a:rPr sz="1900" b="0" i="0">
                <a:solidFill>
                  <a:srgbClr val="D9E8F5"/>
                </a:solidFill>
                <a:latin typeface="Liter"/>
              </a:rPr>
              <a:t>The question I would most like your view on:  are B cells visibly higher in nodal deposits than in liver deposits?</a:t>
            </a:r>
          </a:p>
        </p:txBody>
      </p:sp>
      <p:sp>
        <p:nvSpPr>
          <p:cNvPr id="6" name="TextBox 5"/>
          <p:cNvSpPr txBox="1"/>
          <p:nvPr/>
        </p:nvSpPr>
        <p:spPr>
          <a:xfrm>
            <a:off x="1371600" y="7955279"/>
            <a:ext cx="10972800" cy="457200"/>
          </a:xfrm>
          <a:prstGeom prst="rect">
            <a:avLst/>
          </a:prstGeom>
          <a:noFill/>
        </p:spPr>
        <p:txBody>
          <a:bodyPr wrap="square" anchor="t">
            <a:spAutoFit/>
          </a:bodyPr>
          <a:lstStyle/>
          <a:p>
            <a:pPr algn="l"/>
            <a:r>
              <a:rPr sz="1500" b="0" i="0">
                <a:solidFill>
                  <a:srgbClr val="D9E8F5"/>
                </a:solidFill>
                <a:latin typeface="Liter"/>
              </a:rPr>
              <a:t>Spatial Transcriptomics Research   |   14 August 2026</a:t>
            </a:r>
          </a:p>
        </p:txBody>
      </p:sp>
      <p:sp>
        <p:nvSpPr>
          <p:cNvPr id="7" name="Rectangle 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