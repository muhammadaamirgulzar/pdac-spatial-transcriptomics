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84" r:id="rId6"/>
    <p:sldId id="285" r:id="rId7"/>
  </p:sldIdLst>
  <p:sldSz cx="16256000" cy="9144000"/>
  <p:notesSz cx="9144000" cy="16256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4575" autoAdjust="0"/>
  </p:normalViewPr>
  <p:slideViewPr>
    <p:cSldViewPr snapToGrid="0" snapToObjects="1">
      <p:cViewPr varScale="1">
        <p:scale>
          <a:sx n="52" d="100"/>
          <a:sy n="52" d="100"/>
        </p:scale>
        <p:origin x="118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94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0" y="0"/>
            <a:ext cx="5588000" cy="9144000"/>
          </a:xfrm>
          <a:prstGeom prst="rect">
            <a:avLst/>
          </a:prstGeom>
          <a:solidFill>
            <a:srgbClr val="1E4A6E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https://kimi-img.moonshot.cn/pub/slides/okc/mcmlvl73we3sg/mnt/agents/output/st_presentation/images/1_File_Pancreas_adenocarcinoma_4_Case.pn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10668000" y="0"/>
            <a:ext cx="5588000" cy="914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000" y="1016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kern="0" spc="1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TRANSCRIPTOMICS RESEARCH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16000" y="1524000"/>
            <a:ext cx="914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4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Transcriptomics &amp; Multimodal Metastatic Biomarker Discovery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16000" y="4174564"/>
            <a:ext cx="914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kern="0" spc="100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Report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16000" y="4826000"/>
            <a:ext cx="2286000" cy="0"/>
          </a:xfrm>
          <a:prstGeom prst="straightConnector1">
            <a:avLst/>
          </a:prstGeom>
          <a:noFill/>
          <a:ln w="31750">
            <a:solidFill>
              <a:srgbClr val="E07B5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1016000" y="5207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Advisors: Dr. Ashiq Masood &amp; Dr. </a:t>
            </a:r>
            <a:r>
              <a:rPr lang="en-US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Mohsin Bilal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Date: 25</a:t>
            </a:r>
            <a:r>
              <a:rPr lang="en-US" sz="1800" baseline="30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</a:t>
            </a: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June 2026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26700" y="82677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PDAC LIVER METASTASIS PREDICTION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219200"/>
            <a:ext cx="142240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1625600" y="2159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PK" sz="2000"/>
          </a:p>
        </p:txBody>
      </p:sp>
      <p:sp>
        <p:nvSpPr>
          <p:cNvPr id="5" name="Text 3"/>
          <p:cNvSpPr/>
          <p:nvPr/>
        </p:nvSpPr>
        <p:spPr>
          <a:xfrm>
            <a:off x="1625600" y="2159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33600" y="2400300"/>
            <a:ext cx="19304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PK" sz="2000"/>
          </a:p>
        </p:txBody>
      </p:sp>
      <p:sp>
        <p:nvSpPr>
          <p:cNvPr id="7" name="Shape 5"/>
          <p:cNvSpPr/>
          <p:nvPr/>
        </p:nvSpPr>
        <p:spPr>
          <a:xfrm>
            <a:off x="4572000" y="2159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PK" sz="2000"/>
          </a:p>
        </p:txBody>
      </p:sp>
      <p:sp>
        <p:nvSpPr>
          <p:cNvPr id="8" name="Text 6"/>
          <p:cNvSpPr/>
          <p:nvPr/>
        </p:nvSpPr>
        <p:spPr>
          <a:xfrm>
            <a:off x="4572000" y="2159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80000" y="2400300"/>
            <a:ext cx="19304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PK" sz="2000"/>
          </a:p>
        </p:txBody>
      </p:sp>
      <p:sp>
        <p:nvSpPr>
          <p:cNvPr id="10" name="Shape 8"/>
          <p:cNvSpPr/>
          <p:nvPr/>
        </p:nvSpPr>
        <p:spPr>
          <a:xfrm>
            <a:off x="7518400" y="2159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PK" sz="2000"/>
          </a:p>
        </p:txBody>
      </p:sp>
      <p:sp>
        <p:nvSpPr>
          <p:cNvPr id="11" name="Text 9"/>
          <p:cNvSpPr/>
          <p:nvPr/>
        </p:nvSpPr>
        <p:spPr>
          <a:xfrm>
            <a:off x="7518400" y="2159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26400" y="2400300"/>
            <a:ext cx="19304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PK" sz="2000"/>
          </a:p>
        </p:txBody>
      </p:sp>
      <p:sp>
        <p:nvSpPr>
          <p:cNvPr id="13" name="Shape 11"/>
          <p:cNvSpPr/>
          <p:nvPr/>
        </p:nvSpPr>
        <p:spPr>
          <a:xfrm>
            <a:off x="10464800" y="2159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PK" sz="2000"/>
          </a:p>
        </p:txBody>
      </p:sp>
      <p:sp>
        <p:nvSpPr>
          <p:cNvPr id="14" name="Text 12"/>
          <p:cNvSpPr/>
          <p:nvPr/>
        </p:nvSpPr>
        <p:spPr>
          <a:xfrm>
            <a:off x="10464800" y="2159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972800" y="2400300"/>
            <a:ext cx="1930400" cy="0"/>
          </a:xfrm>
          <a:prstGeom prst="straightConnector1">
            <a:avLst/>
          </a:prstGeom>
          <a:noFill/>
          <a:ln w="25400">
            <a:solidFill>
              <a:srgbClr val="2C5F8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PK" sz="2000"/>
          </a:p>
        </p:txBody>
      </p:sp>
      <p:sp>
        <p:nvSpPr>
          <p:cNvPr id="16" name="Shape 14"/>
          <p:cNvSpPr/>
          <p:nvPr/>
        </p:nvSpPr>
        <p:spPr>
          <a:xfrm>
            <a:off x="13411200" y="2159000"/>
            <a:ext cx="508000" cy="5080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PK" sz="2000"/>
          </a:p>
        </p:txBody>
      </p:sp>
      <p:sp>
        <p:nvSpPr>
          <p:cNvPr id="17" name="Text 15"/>
          <p:cNvSpPr/>
          <p:nvPr/>
        </p:nvSpPr>
        <p:spPr>
          <a:xfrm>
            <a:off x="13411200" y="2159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5500" y="28956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&amp; Objectives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9000" y="33274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problem, research goals, framework overview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62400" y="2895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&amp; Cohort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62400" y="3327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mapping, QC findings, data inventory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8800" y="2895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A: Tri-Modal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8800" y="3327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CLIP-style architecture, retrieval results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55200" y="2895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B: Metastatic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855200" y="3327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modules, direction scoring, GAT smoothing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0" y="2895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&amp; Next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0" y="33274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Heatmap results, open questions, action items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5999" y="4940299"/>
            <a:ext cx="14461565" cy="1527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progress report covers the </a:t>
            </a: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tri-modal deep learning framework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predicting liver-specific metastasis in PDAC. We present Phase A (contrastive learning) and Phase B (metastatic signature detection) results, clinical validation heatmaps, and open questions requiring discussion.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7432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kern="0" spc="4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 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6000" y="1397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Motivation &amp; Research Framework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16000" y="3429000"/>
            <a:ext cx="50800" cy="15240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320800" y="3403600"/>
            <a:ext cx="1371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4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Background &amp; Objectives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20800" y="5334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clinical bottleneck in PDAC management and our computational approach to address it  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This section establishes the clinical problem and defines the research objectives driving the framework design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7722" y="23336"/>
                </a:moveTo>
                <a:lnTo>
                  <a:pt x="177800" y="38100"/>
                </a:lnTo>
                <a:cubicBezTo>
                  <a:pt x="161925" y="61912"/>
                  <a:pt x="135255" y="76200"/>
                  <a:pt x="106601" y="76200"/>
                </a:cubicBezTo>
                <a:lnTo>
                  <a:pt x="53975" y="76200"/>
                </a:lnTo>
                <a:cubicBezTo>
                  <a:pt x="24209" y="76200"/>
                  <a:pt x="79" y="100330"/>
                  <a:pt x="79" y="130096"/>
                </a:cubicBezTo>
                <a:cubicBezTo>
                  <a:pt x="79" y="144383"/>
                  <a:pt x="5794" y="158036"/>
                  <a:pt x="15875" y="168116"/>
                </a:cubicBezTo>
                <a:lnTo>
                  <a:pt x="37306" y="189548"/>
                </a:lnTo>
                <a:cubicBezTo>
                  <a:pt x="46037" y="198279"/>
                  <a:pt x="50959" y="210106"/>
                  <a:pt x="50959" y="222488"/>
                </a:cubicBezTo>
                <a:cubicBezTo>
                  <a:pt x="50959" y="235029"/>
                  <a:pt x="45879" y="247015"/>
                  <a:pt x="36909" y="255826"/>
                </a:cubicBezTo>
                <a:lnTo>
                  <a:pt x="26511" y="265986"/>
                </a:lnTo>
                <a:cubicBezTo>
                  <a:pt x="17701" y="274558"/>
                  <a:pt x="12779" y="286385"/>
                  <a:pt x="12779" y="298688"/>
                </a:cubicBezTo>
                <a:cubicBezTo>
                  <a:pt x="12779" y="327898"/>
                  <a:pt x="39846" y="349647"/>
                  <a:pt x="68421" y="343297"/>
                </a:cubicBezTo>
                <a:lnTo>
                  <a:pt x="117872" y="332343"/>
                </a:lnTo>
                <a:cubicBezTo>
                  <a:pt x="123984" y="330994"/>
                  <a:pt x="130334" y="330279"/>
                  <a:pt x="136604" y="330279"/>
                </a:cubicBezTo>
                <a:cubicBezTo>
                  <a:pt x="162639" y="330279"/>
                  <a:pt x="187563" y="341868"/>
                  <a:pt x="204232" y="361871"/>
                </a:cubicBezTo>
                <a:lnTo>
                  <a:pt x="228441" y="390922"/>
                </a:lnTo>
                <a:cubicBezTo>
                  <a:pt x="236696" y="400764"/>
                  <a:pt x="248841" y="406479"/>
                  <a:pt x="261699" y="406479"/>
                </a:cubicBezTo>
                <a:cubicBezTo>
                  <a:pt x="285591" y="406479"/>
                  <a:pt x="304959" y="387112"/>
                  <a:pt x="304959" y="363220"/>
                </a:cubicBezTo>
                <a:lnTo>
                  <a:pt x="304959" y="322580"/>
                </a:lnTo>
                <a:cubicBezTo>
                  <a:pt x="304959" y="289719"/>
                  <a:pt x="325120" y="260271"/>
                  <a:pt x="355759" y="248364"/>
                </a:cubicBezTo>
                <a:lnTo>
                  <a:pt x="373380" y="241538"/>
                </a:lnTo>
                <a:cubicBezTo>
                  <a:pt x="393383" y="233759"/>
                  <a:pt x="406559" y="214471"/>
                  <a:pt x="406559" y="193040"/>
                </a:cubicBezTo>
                <a:cubicBezTo>
                  <a:pt x="406559" y="172085"/>
                  <a:pt x="393938" y="153114"/>
                  <a:pt x="374571" y="145018"/>
                </a:cubicBezTo>
                <a:lnTo>
                  <a:pt x="340519" y="130810"/>
                </a:lnTo>
                <a:cubicBezTo>
                  <a:pt x="314166" y="119777"/>
                  <a:pt x="294799" y="96679"/>
                  <a:pt x="288528" y="68818"/>
                </a:cubicBezTo>
                <a:lnTo>
                  <a:pt x="282258" y="40878"/>
                </a:lnTo>
                <a:cubicBezTo>
                  <a:pt x="276860" y="16986"/>
                  <a:pt x="255667" y="0"/>
                  <a:pt x="231219" y="0"/>
                </a:cubicBezTo>
                <a:cubicBezTo>
                  <a:pt x="213757" y="0"/>
                  <a:pt x="197406" y="8731"/>
                  <a:pt x="187722" y="23336"/>
                </a:cubicBezTo>
                <a:close/>
                <a:moveTo>
                  <a:pt x="127000" y="152400"/>
                </a:moveTo>
                <a:cubicBezTo>
                  <a:pt x="141019" y="152400"/>
                  <a:pt x="152400" y="163781"/>
                  <a:pt x="152400" y="177800"/>
                </a:cubicBezTo>
                <a:cubicBezTo>
                  <a:pt x="152400" y="191819"/>
                  <a:pt x="141019" y="203200"/>
                  <a:pt x="127000" y="203200"/>
                </a:cubicBezTo>
                <a:cubicBezTo>
                  <a:pt x="112981" y="203200"/>
                  <a:pt x="101600" y="191819"/>
                  <a:pt x="101600" y="177800"/>
                </a:cubicBezTo>
                <a:cubicBezTo>
                  <a:pt x="101600" y="163781"/>
                  <a:pt x="112981" y="152400"/>
                  <a:pt x="127000" y="152400"/>
                </a:cubicBezTo>
                <a:close/>
                <a:moveTo>
                  <a:pt x="203200" y="152400"/>
                </a:moveTo>
                <a:cubicBezTo>
                  <a:pt x="203200" y="138381"/>
                  <a:pt x="214581" y="127000"/>
                  <a:pt x="228600" y="127000"/>
                </a:cubicBezTo>
                <a:cubicBezTo>
                  <a:pt x="242619" y="127000"/>
                  <a:pt x="254000" y="138381"/>
                  <a:pt x="254000" y="152400"/>
                </a:cubicBezTo>
                <a:cubicBezTo>
                  <a:pt x="254000" y="166419"/>
                  <a:pt x="242619" y="177800"/>
                  <a:pt x="228600" y="177800"/>
                </a:cubicBezTo>
                <a:cubicBezTo>
                  <a:pt x="214581" y="177800"/>
                  <a:pt x="203200" y="166419"/>
                  <a:pt x="203200" y="152400"/>
                </a:cubicBezTo>
                <a:close/>
                <a:moveTo>
                  <a:pt x="228600" y="228600"/>
                </a:moveTo>
                <a:cubicBezTo>
                  <a:pt x="242619" y="228600"/>
                  <a:pt x="254000" y="239981"/>
                  <a:pt x="254000" y="254000"/>
                </a:cubicBezTo>
                <a:cubicBezTo>
                  <a:pt x="254000" y="268019"/>
                  <a:pt x="242619" y="279400"/>
                  <a:pt x="228600" y="279400"/>
                </a:cubicBezTo>
                <a:cubicBezTo>
                  <a:pt x="214581" y="279400"/>
                  <a:pt x="203200" y="268019"/>
                  <a:pt x="203200" y="254000"/>
                </a:cubicBezTo>
                <a:cubicBezTo>
                  <a:pt x="203200" y="239981"/>
                  <a:pt x="214581" y="228600"/>
                  <a:pt x="228600" y="2286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Problem &amp; Research Motivation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016000"/>
            <a:ext cx="7620000" cy="5207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127000" dist="25400" dir="5400000" algn="bl" rotWithShape="0">
              <a:srgbClr val="2C5F8A">
                <a:alpha val="9412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889000" y="1021976"/>
            <a:ext cx="7365998" cy="762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066800" y="1270000"/>
            <a:ext cx="6451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Clinical Bottleneck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66799" y="1761565"/>
            <a:ext cx="7188199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PDAC's aggressive metastatic tropism to the liver is the primary barrier to effective clinical management. Current approaches face critical limitations: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transcriptomics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provides exceptional sub-cellular maps but is costly and tissue-destructive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infrastructure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prevents routine hospital deployment of ST technologies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H&amp;E slides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widely available but underutilized for predictive biomarker discovery</a:t>
            </a:r>
            <a:endParaRPr lang="en-US" sz="18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605BB77-337A-63DC-1946-1D7E89671B4C}"/>
              </a:ext>
            </a:extLst>
          </p:cNvPr>
          <p:cNvGrpSpPr/>
          <p:nvPr/>
        </p:nvGrpSpPr>
        <p:grpSpPr>
          <a:xfrm>
            <a:off x="8788400" y="1016000"/>
            <a:ext cx="7213600" cy="3810000"/>
            <a:chOff x="8280400" y="1016000"/>
            <a:chExt cx="7213600" cy="3810000"/>
          </a:xfrm>
        </p:grpSpPr>
        <p:sp>
          <p:nvSpPr>
            <p:cNvPr id="10" name="Shape 8"/>
            <p:cNvSpPr/>
            <p:nvPr/>
          </p:nvSpPr>
          <p:spPr>
            <a:xfrm>
              <a:off x="8280400" y="1016000"/>
              <a:ext cx="7213600" cy="3810000"/>
            </a:xfrm>
            <a:prstGeom prst="roundRect">
              <a:avLst>
                <a:gd name="adj" fmla="val 8000"/>
              </a:avLst>
            </a:prstGeom>
            <a:solidFill>
              <a:srgbClr val="D9E8F5"/>
            </a:solidFill>
            <a:ln/>
            <a:effectLst>
              <a:outerShdw blurRad="127000" dist="25400" dir="5400000" algn="bl" rotWithShape="0">
                <a:srgbClr val="2C5F8A">
                  <a:alpha val="9412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Shape 9"/>
            <p:cNvSpPr/>
            <p:nvPr/>
          </p:nvSpPr>
          <p:spPr>
            <a:xfrm>
              <a:off x="8280400" y="1016000"/>
              <a:ext cx="7213600" cy="101600"/>
            </a:xfrm>
            <a:prstGeom prst="rect">
              <a:avLst/>
            </a:prstGeom>
            <a:solidFill>
              <a:srgbClr val="2C5F8A"/>
            </a:solidFill>
            <a:ln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Text 10"/>
            <p:cNvSpPr/>
            <p:nvPr/>
          </p:nvSpPr>
          <p:spPr>
            <a:xfrm>
              <a:off x="8585200" y="1270000"/>
              <a:ext cx="6604000" cy="457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l">
                <a:lnSpc>
                  <a:spcPct val="120000"/>
                </a:lnSpc>
              </a:pPr>
              <a:r>
                <a:rPr lang="en-US" sz="2200" b="1" dirty="0">
                  <a:solidFill>
                    <a:srgbClr val="2C5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Our Approach</a:t>
              </a:r>
              <a:endParaRPr lang="en-US" sz="2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585200" y="1828800"/>
              <a:ext cx="6604000" cy="279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ct val="160000"/>
                </a:lnSpc>
              </a:pPr>
              <a:r>
                <a:rPr lang="en-US" sz="1800" dirty="0">
                  <a:solidFill>
                    <a:srgbClr val="33333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A </a:t>
              </a:r>
              <a:r>
                <a:rPr lang="en-US" sz="1800" b="1" dirty="0">
                  <a:solidFill>
                    <a:srgbClr val="33333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non-destructive multi-modal distillation framework</a:t>
              </a:r>
              <a:r>
                <a:rPr lang="en-US" sz="1800" dirty="0">
                  <a:solidFill>
                    <a:srgbClr val="33333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that:</a:t>
              </a:r>
              <a:endParaRPr lang="en-US" sz="1800" dirty="0"/>
            </a:p>
            <a:p>
              <a:pPr algn="l">
                <a:lnSpc>
                  <a:spcPct val="160000"/>
                </a:lnSpc>
                <a:spcBef>
                  <a:spcPts val="800"/>
                </a:spcBef>
              </a:pPr>
              <a:r>
                <a:rPr lang="en-US" sz="1800" dirty="0">
                  <a:solidFill>
                    <a:srgbClr val="33333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● Trains on </a:t>
              </a:r>
              <a:r>
                <a:rPr lang="en-US" sz="1800" b="1" dirty="0">
                  <a:solidFill>
                    <a:srgbClr val="33333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ST + scRNA-seq + H&amp;E</a:t>
              </a:r>
              <a:r>
                <a:rPr lang="en-US" sz="1800" dirty="0">
                  <a:solidFill>
                    <a:srgbClr val="33333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during development</a:t>
              </a:r>
              <a:endParaRPr lang="en-US" sz="1800" dirty="0"/>
            </a:p>
            <a:p>
              <a:pPr algn="l">
                <a:lnSpc>
                  <a:spcPct val="160000"/>
                </a:lnSpc>
                <a:spcBef>
                  <a:spcPts val="800"/>
                </a:spcBef>
              </a:pPr>
              <a:r>
                <a:rPr lang="en-US" sz="1800" dirty="0">
                  <a:solidFill>
                    <a:srgbClr val="33333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● Learns to map </a:t>
              </a:r>
              <a:r>
                <a:rPr lang="en-US" sz="1800" b="1" dirty="0">
                  <a:solidFill>
                    <a:srgbClr val="33333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morphology to molecular state</a:t>
              </a:r>
              <a:endParaRPr lang="en-US" sz="1800" dirty="0"/>
            </a:p>
            <a:p>
              <a:pPr algn="l">
                <a:lnSpc>
                  <a:spcPct val="160000"/>
                </a:lnSpc>
                <a:spcBef>
                  <a:spcPts val="800"/>
                </a:spcBef>
              </a:pPr>
              <a:r>
                <a:rPr lang="en-US" sz="1800" dirty="0">
                  <a:solidFill>
                    <a:srgbClr val="33333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● Deploys on </a:t>
              </a:r>
              <a:r>
                <a:rPr lang="en-US" sz="1800" b="1" dirty="0">
                  <a:solidFill>
                    <a:srgbClr val="33333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standard H&amp;E only</a:t>
              </a:r>
              <a:r>
                <a:rPr lang="en-US" sz="1800" dirty="0">
                  <a:solidFill>
                    <a:srgbClr val="33333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at inference - no sequencing needed</a:t>
              </a:r>
              <a:endParaRPr lang="en-US" sz="180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762000" y="6350000"/>
            <a:ext cx="1473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1016000" y="6451600"/>
            <a:ext cx="3302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Visium Slides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016000" y="72136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Across 13 patients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6604000"/>
            <a:ext cx="0" cy="889000"/>
          </a:xfrm>
          <a:prstGeom prst="straightConnector1">
            <a:avLst/>
          </a:prstGeom>
          <a:noFill/>
          <a:ln w="12700">
            <a:solidFill>
              <a:srgbClr val="DADA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826000" y="6451600"/>
            <a:ext cx="3302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20,395</a:t>
            </a: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Spots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826000" y="72136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tissue spots analyzed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82000" y="6604000"/>
            <a:ext cx="0" cy="889000"/>
          </a:xfrm>
          <a:prstGeom prst="straightConnector1">
            <a:avLst/>
          </a:prstGeom>
          <a:noFill/>
          <a:ln w="12700">
            <a:solidFill>
              <a:srgbClr val="DADA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8636000" y="6451600"/>
            <a:ext cx="3302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17,893</a:t>
            </a: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Genes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636000" y="72136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 expression panel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192000" y="6604000"/>
            <a:ext cx="0" cy="889000"/>
          </a:xfrm>
          <a:prstGeom prst="straightConnector1">
            <a:avLst/>
          </a:prstGeom>
          <a:noFill/>
          <a:ln w="12700">
            <a:solidFill>
              <a:srgbClr val="DADAD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12446000" y="6451600"/>
            <a:ext cx="279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r>
              <a:rPr lang="en-US" sz="20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Cell Types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2446000" y="72136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RCTD deconvolution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2000" y="79248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1066800" y="8026400"/>
            <a:ext cx="14122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Hypothesis:</a:t>
            </a:r>
            <a:r>
              <a:rPr lang="en-US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Structural microenvironmental signatures in H&amp;E slides like cellular density variations, invasive front architectures, ECM remodeling corridors contain predictive information about liver metastatic propensity decodable through multi-modal deep learning.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6204" y="28813"/>
                </a:moveTo>
                <a:cubicBezTo>
                  <a:pt x="114856" y="34846"/>
                  <a:pt x="116919" y="46752"/>
                  <a:pt x="110887" y="55324"/>
                </a:cubicBezTo>
                <a:lnTo>
                  <a:pt x="66437" y="118824"/>
                </a:lnTo>
                <a:cubicBezTo>
                  <a:pt x="63183" y="123428"/>
                  <a:pt x="58103" y="126365"/>
                  <a:pt x="52467" y="126841"/>
                </a:cubicBezTo>
                <a:cubicBezTo>
                  <a:pt x="46831" y="127317"/>
                  <a:pt x="41275" y="125413"/>
                  <a:pt x="37306" y="121444"/>
                </a:cubicBezTo>
                <a:lnTo>
                  <a:pt x="5556" y="89694"/>
                </a:lnTo>
                <a:cubicBezTo>
                  <a:pt x="-1826" y="82233"/>
                  <a:pt x="-1826" y="70168"/>
                  <a:pt x="5556" y="62706"/>
                </a:cubicBezTo>
                <a:cubicBezTo>
                  <a:pt x="12938" y="55245"/>
                  <a:pt x="25083" y="55324"/>
                  <a:pt x="32544" y="62706"/>
                </a:cubicBezTo>
                <a:lnTo>
                  <a:pt x="48260" y="78423"/>
                </a:lnTo>
                <a:lnTo>
                  <a:pt x="79693" y="33496"/>
                </a:lnTo>
                <a:cubicBezTo>
                  <a:pt x="85725" y="24844"/>
                  <a:pt x="97631" y="22781"/>
                  <a:pt x="106204" y="28813"/>
                </a:cubicBezTo>
                <a:close/>
                <a:moveTo>
                  <a:pt x="106204" y="155813"/>
                </a:moveTo>
                <a:cubicBezTo>
                  <a:pt x="114856" y="161846"/>
                  <a:pt x="116919" y="173752"/>
                  <a:pt x="110887" y="182324"/>
                </a:cubicBezTo>
                <a:lnTo>
                  <a:pt x="66437" y="245824"/>
                </a:lnTo>
                <a:cubicBezTo>
                  <a:pt x="63183" y="250428"/>
                  <a:pt x="58103" y="253365"/>
                  <a:pt x="52467" y="253841"/>
                </a:cubicBezTo>
                <a:cubicBezTo>
                  <a:pt x="46831" y="254318"/>
                  <a:pt x="41275" y="252413"/>
                  <a:pt x="37306" y="248444"/>
                </a:cubicBezTo>
                <a:lnTo>
                  <a:pt x="5556" y="216694"/>
                </a:lnTo>
                <a:cubicBezTo>
                  <a:pt x="-1905" y="209233"/>
                  <a:pt x="-1905" y="197168"/>
                  <a:pt x="5556" y="189786"/>
                </a:cubicBezTo>
                <a:cubicBezTo>
                  <a:pt x="13017" y="182404"/>
                  <a:pt x="25083" y="182324"/>
                  <a:pt x="32464" y="189786"/>
                </a:cubicBezTo>
                <a:lnTo>
                  <a:pt x="48181" y="205502"/>
                </a:lnTo>
                <a:lnTo>
                  <a:pt x="79613" y="160576"/>
                </a:lnTo>
                <a:cubicBezTo>
                  <a:pt x="85646" y="151924"/>
                  <a:pt x="97552" y="149860"/>
                  <a:pt x="106124" y="155892"/>
                </a:cubicBezTo>
                <a:close/>
                <a:moveTo>
                  <a:pt x="177800" y="76200"/>
                </a:moveTo>
                <a:cubicBezTo>
                  <a:pt x="177800" y="62151"/>
                  <a:pt x="189151" y="50800"/>
                  <a:pt x="203200" y="50800"/>
                </a:cubicBezTo>
                <a:lnTo>
                  <a:pt x="381000" y="50800"/>
                </a:lnTo>
                <a:cubicBezTo>
                  <a:pt x="395049" y="50800"/>
                  <a:pt x="406400" y="62151"/>
                  <a:pt x="406400" y="76200"/>
                </a:cubicBezTo>
                <a:cubicBezTo>
                  <a:pt x="406400" y="90249"/>
                  <a:pt x="395049" y="101600"/>
                  <a:pt x="381000" y="101600"/>
                </a:cubicBezTo>
                <a:lnTo>
                  <a:pt x="203200" y="101600"/>
                </a:lnTo>
                <a:cubicBezTo>
                  <a:pt x="189151" y="101600"/>
                  <a:pt x="177800" y="90249"/>
                  <a:pt x="177800" y="76200"/>
                </a:cubicBezTo>
                <a:close/>
                <a:moveTo>
                  <a:pt x="177800" y="203200"/>
                </a:moveTo>
                <a:cubicBezTo>
                  <a:pt x="177800" y="189151"/>
                  <a:pt x="189151" y="177800"/>
                  <a:pt x="203200" y="177800"/>
                </a:cubicBezTo>
                <a:lnTo>
                  <a:pt x="381000" y="177800"/>
                </a:lnTo>
                <a:cubicBezTo>
                  <a:pt x="395049" y="177800"/>
                  <a:pt x="406400" y="189151"/>
                  <a:pt x="406400" y="203200"/>
                </a:cubicBezTo>
                <a:cubicBezTo>
                  <a:pt x="406400" y="217249"/>
                  <a:pt x="395049" y="228600"/>
                  <a:pt x="381000" y="228600"/>
                </a:cubicBezTo>
                <a:lnTo>
                  <a:pt x="203200" y="228600"/>
                </a:lnTo>
                <a:cubicBezTo>
                  <a:pt x="189151" y="228600"/>
                  <a:pt x="177800" y="217249"/>
                  <a:pt x="177800" y="203200"/>
                </a:cubicBezTo>
                <a:close/>
                <a:moveTo>
                  <a:pt x="127000" y="330200"/>
                </a:moveTo>
                <a:cubicBezTo>
                  <a:pt x="127000" y="316151"/>
                  <a:pt x="138351" y="304800"/>
                  <a:pt x="152400" y="304800"/>
                </a:cubicBez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52400" y="355600"/>
                </a:lnTo>
                <a:cubicBezTo>
                  <a:pt x="138351" y="355600"/>
                  <a:pt x="127000" y="344249"/>
                  <a:pt x="127000" y="330200"/>
                </a:cubicBezTo>
                <a:close/>
                <a:moveTo>
                  <a:pt x="50800" y="298450"/>
                </a:moveTo>
                <a:cubicBezTo>
                  <a:pt x="68323" y="298450"/>
                  <a:pt x="82550" y="312677"/>
                  <a:pt x="82550" y="330200"/>
                </a:cubicBezTo>
                <a:cubicBezTo>
                  <a:pt x="82550" y="347723"/>
                  <a:pt x="68323" y="361950"/>
                  <a:pt x="50800" y="361950"/>
                </a:cubicBezTo>
                <a:cubicBezTo>
                  <a:pt x="33277" y="361950"/>
                  <a:pt x="19050" y="347723"/>
                  <a:pt x="19050" y="330200"/>
                </a:cubicBezTo>
                <a:cubicBezTo>
                  <a:pt x="19050" y="312677"/>
                  <a:pt x="33277" y="298450"/>
                  <a:pt x="50800" y="298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Action Items &amp; Timeline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066800"/>
            <a:ext cx="4699000" cy="558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762000" y="1066800"/>
            <a:ext cx="4699000" cy="635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016000" y="1320800"/>
            <a:ext cx="1778000" cy="355600"/>
          </a:xfrm>
          <a:prstGeom prst="roundRect">
            <a:avLst>
              <a:gd name="adj" fmla="val 16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016000" y="13208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6000" y="18542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Refactoring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2336800"/>
            <a:ext cx="4191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Implement non-bottleneck Pc architecture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Current: 15→128→64→256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15→64→128→256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Update to log-transformed temperatures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self.log_tau instead of inline clamping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Re-run Phase A training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Validate no regression in retrieval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Timeline: 1-2 weeks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5800" y="1066800"/>
            <a:ext cx="4699000" cy="558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765800" y="1066800"/>
            <a:ext cx="4699000" cy="635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6019800" y="1320800"/>
            <a:ext cx="1778000" cy="355600"/>
          </a:xfrm>
          <a:prstGeom prst="roundRect">
            <a:avLst>
              <a:gd name="adj" fmla="val 16000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019800" y="13208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19800" y="18542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Verification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19800" y="2336800"/>
            <a:ext cx="4191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Confirm data </a:t>
            </a:r>
            <a:r>
              <a:rPr lang="en-US" sz="16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filteration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Confirm 0% mito is expected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Inspect raw counts for CDKN2A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all spots + synonyms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Document filtering pipeline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reproducibility and methods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Timeline: Ongoing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69600" y="1066800"/>
            <a:ext cx="4724400" cy="558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10769600" y="1066800"/>
            <a:ext cx="4724400" cy="635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11023600" y="1320800"/>
            <a:ext cx="1778000" cy="355600"/>
          </a:xfrm>
          <a:prstGeom prst="roundRect">
            <a:avLst>
              <a:gd name="adj" fmla="val 16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11023600" y="13208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023600" y="1854200"/>
            <a:ext cx="4216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Cohort Acquisition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023600" y="2336800"/>
            <a:ext cx="42164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Request 16 missing WSI images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Patients 2, 6, 8, 9, 10, 12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Ensure 40x BIGTIFF format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Pyramidal, tiled, JPEG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Update patient tracking matrix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200"/>
              </a:spcBef>
            </a:pPr>
            <a:r>
              <a:rPr lang="en-US" sz="15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Resolve inconsistencies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Timeline: TBD (needs approval)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908800"/>
            <a:ext cx="14732000" cy="762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1066800" y="6908800"/>
            <a:ext cx="13843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three streams can proceed in parallel.</a:t>
            </a: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Stream 1 is internal and can start immediately. Streams 2 and 3 need external coordination and your guidance.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PK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6DF5663-120A-1B4D-C321-964C7FFF55CD}"/>
              </a:ext>
            </a:extLst>
          </p:cNvPr>
          <p:cNvGrpSpPr/>
          <p:nvPr/>
        </p:nvGrpSpPr>
        <p:grpSpPr>
          <a:xfrm>
            <a:off x="3048000" y="3334774"/>
            <a:ext cx="10160000" cy="1524000"/>
            <a:chOff x="3048000" y="1270000"/>
            <a:chExt cx="10160000" cy="1524000"/>
          </a:xfrm>
        </p:grpSpPr>
        <p:sp>
          <p:nvSpPr>
            <p:cNvPr id="3" name="Text 1"/>
            <p:cNvSpPr/>
            <p:nvPr/>
          </p:nvSpPr>
          <p:spPr>
            <a:xfrm>
              <a:off x="3048000" y="1270000"/>
              <a:ext cx="10160000" cy="762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4000" b="1" dirty="0">
                  <a:solidFill>
                    <a:srgbClr val="2C5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Thank You</a:t>
              </a:r>
              <a:endParaRPr lang="en-US" sz="4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048000" y="2159000"/>
              <a:ext cx="10160000" cy="508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2200" dirty="0">
                  <a:solidFill>
                    <a:srgbClr val="8D8D8D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Discussion &amp; Questions</a:t>
              </a:r>
              <a:endParaRPr lang="en-US" sz="22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5588000" y="2794000"/>
              <a:ext cx="5080000" cy="0"/>
            </a:xfrm>
            <a:prstGeom prst="straightConnector1">
              <a:avLst/>
            </a:prstGeom>
            <a:noFill/>
            <a:ln w="25400">
              <a:solidFill>
                <a:srgbClr val="E07B54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9" name="Text 17"/>
          <p:cNvSpPr/>
          <p:nvPr/>
        </p:nvSpPr>
        <p:spPr>
          <a:xfrm>
            <a:off x="3048000" y="736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Transcriptomics Research | June 2026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536</Words>
  <Application>Microsoft Office PowerPoint</Application>
  <PresentationFormat>Custom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Liter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Transcriptomics &amp; Multimodal Metastatic Biomarker Discovery — Progress Report</dc:title>
  <dc:subject>Spatial Transcriptomics &amp; Multimodal Metastatic Biomarker Discovery — Progress Report</dc:subject>
  <dc:creator>Kimi</dc:creator>
  <cp:lastModifiedBy>muhammad  aamir</cp:lastModifiedBy>
  <cp:revision>27</cp:revision>
  <dcterms:created xsi:type="dcterms:W3CDTF">2026-06-25T05:38:37Z</dcterms:created>
  <dcterms:modified xsi:type="dcterms:W3CDTF">2026-06-29T02:55:35Z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{"Label":"Spatial Transcriptomics &amp; Multimodal Metastatic Biomarker Discovery — Progress Report","ContentProducer":"001191110108MACG2KBH8F10000","ProduceID":"19efd344-08b2-81f3-8000-0000e223ea61","ReservedCode1":"","ContentPropagator":"001191110108MACG2KBH8F20000","PropagateID":"19efd2fa-ce72-806e-8000-097759ba5a18","ReservedCode2":""}</vt:lpwstr>
  </property>
</Properties>
</file>